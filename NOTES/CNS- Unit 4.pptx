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8" r:id="rId3"/>
    <p:sldId id="269" r:id="rId4"/>
    <p:sldId id="270" r:id="rId5"/>
    <p:sldId id="271" r:id="rId6"/>
    <p:sldId id="257" r:id="rId7"/>
    <p:sldId id="258" r:id="rId8"/>
    <p:sldId id="259" r:id="rId9"/>
    <p:sldId id="260" r:id="rId10"/>
    <p:sldId id="261" r:id="rId11"/>
    <p:sldId id="262" r:id="rId12"/>
    <p:sldId id="263" r:id="rId13"/>
    <p:sldId id="264" r:id="rId14"/>
    <p:sldId id="265" r:id="rId15"/>
    <p:sldId id="266" r:id="rId16"/>
    <p:sldId id="267"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324" r:id="rId34"/>
    <p:sldId id="325"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4" r:id="rId51"/>
    <p:sldId id="303" r:id="rId52"/>
    <p:sldId id="305" r:id="rId53"/>
    <p:sldId id="306" r:id="rId54"/>
    <p:sldId id="309" r:id="rId55"/>
    <p:sldId id="311" r:id="rId56"/>
    <p:sldId id="312" r:id="rId57"/>
    <p:sldId id="310" r:id="rId58"/>
    <p:sldId id="313" r:id="rId59"/>
    <p:sldId id="314" r:id="rId60"/>
    <p:sldId id="315" r:id="rId61"/>
    <p:sldId id="316" r:id="rId62"/>
    <p:sldId id="317" r:id="rId63"/>
    <p:sldId id="318" r:id="rId64"/>
    <p:sldId id="319" r:id="rId65"/>
    <p:sldId id="320" r:id="rId66"/>
    <p:sldId id="321" r:id="rId67"/>
    <p:sldId id="322" r:id="rId68"/>
    <p:sldId id="323" r:id="rId69"/>
    <p:sldId id="326" r:id="rId70"/>
    <p:sldId id="327" r:id="rId71"/>
    <p:sldId id="328" r:id="rId72"/>
    <p:sldId id="329" r:id="rId73"/>
    <p:sldId id="330" r:id="rId74"/>
    <p:sldId id="331" r:id="rId75"/>
    <p:sldId id="332" r:id="rId76"/>
    <p:sldId id="334" r:id="rId77"/>
    <p:sldId id="333" r:id="rId78"/>
    <p:sldId id="335" r:id="rId79"/>
    <p:sldId id="336" r:id="rId80"/>
    <p:sldId id="337" r:id="rId81"/>
    <p:sldId id="338" r:id="rId82"/>
    <p:sldId id="339" r:id="rId83"/>
    <p:sldId id="340" r:id="rId84"/>
    <p:sldId id="341" r:id="rId85"/>
    <p:sldId id="346" r:id="rId86"/>
    <p:sldId id="342" r:id="rId87"/>
    <p:sldId id="343" r:id="rId88"/>
    <p:sldId id="344" r:id="rId89"/>
    <p:sldId id="345" r:id="rId9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3" d="100"/>
          <a:sy n="73" d="100"/>
        </p:scale>
        <p:origin x="61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E988D1AD-BC9F-4895-B4EA-7C1D5164C4A8}" type="datetimeFigureOut">
              <a:rPr lang="en-US" smtClean="0"/>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772202-C800-4FFD-85EC-346CC4F50A41}" type="slidenum">
              <a:rPr lang="en-US" smtClean="0"/>
              <a:t>‹#›</a:t>
            </a:fld>
            <a:endParaRPr lang="en-US"/>
          </a:p>
        </p:txBody>
      </p:sp>
    </p:spTree>
    <p:extLst>
      <p:ext uri="{BB962C8B-B14F-4D97-AF65-F5344CB8AC3E}">
        <p14:creationId xmlns:p14="http://schemas.microsoft.com/office/powerpoint/2010/main" val="21444658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988D1AD-BC9F-4895-B4EA-7C1D5164C4A8}" type="datetimeFigureOut">
              <a:rPr lang="en-US" smtClean="0"/>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772202-C800-4FFD-85EC-346CC4F50A41}" type="slidenum">
              <a:rPr lang="en-US" smtClean="0"/>
              <a:t>‹#›</a:t>
            </a:fld>
            <a:endParaRPr lang="en-US"/>
          </a:p>
        </p:txBody>
      </p:sp>
    </p:spTree>
    <p:extLst>
      <p:ext uri="{BB962C8B-B14F-4D97-AF65-F5344CB8AC3E}">
        <p14:creationId xmlns:p14="http://schemas.microsoft.com/office/powerpoint/2010/main" val="17159749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E988D1AD-BC9F-4895-B4EA-7C1D5164C4A8}" type="datetimeFigureOut">
              <a:rPr lang="en-US" smtClean="0"/>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772202-C800-4FFD-85EC-346CC4F50A41}" type="slidenum">
              <a:rPr lang="en-US" smtClean="0"/>
              <a:t>‹#›</a:t>
            </a:fld>
            <a:endParaRPr lang="en-US"/>
          </a:p>
        </p:txBody>
      </p:sp>
    </p:spTree>
    <p:extLst>
      <p:ext uri="{BB962C8B-B14F-4D97-AF65-F5344CB8AC3E}">
        <p14:creationId xmlns:p14="http://schemas.microsoft.com/office/powerpoint/2010/main" val="34481268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988D1AD-BC9F-4895-B4EA-7C1D5164C4A8}" type="datetimeFigureOut">
              <a:rPr lang="en-US" smtClean="0"/>
              <a:t>9/22/2025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772202-C800-4FFD-85EC-346CC4F50A41}" type="slidenum">
              <a:rPr lang="en-US" smtClean="0"/>
              <a:t>‹#›</a:t>
            </a:fld>
            <a:endParaRPr lang="en-US"/>
          </a:p>
        </p:txBody>
      </p:sp>
    </p:spTree>
    <p:extLst>
      <p:ext uri="{BB962C8B-B14F-4D97-AF65-F5344CB8AC3E}">
        <p14:creationId xmlns:p14="http://schemas.microsoft.com/office/powerpoint/2010/main" val="38225821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E988D1AD-BC9F-4895-B4EA-7C1D5164C4A8}" type="datetimeFigureOut">
              <a:rPr lang="en-US" smtClean="0"/>
              <a:t>9/22/2025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772202-C800-4FFD-85EC-346CC4F50A41}" type="slidenum">
              <a:rPr lang="en-US" smtClean="0"/>
              <a:t>‹#›</a:t>
            </a:fld>
            <a:endParaRPr lang="en-US"/>
          </a:p>
        </p:txBody>
      </p:sp>
    </p:spTree>
    <p:extLst>
      <p:ext uri="{BB962C8B-B14F-4D97-AF65-F5344CB8AC3E}">
        <p14:creationId xmlns:p14="http://schemas.microsoft.com/office/powerpoint/2010/main" val="1190556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988D1AD-BC9F-4895-B4EA-7C1D5164C4A8}" type="datetimeFigureOut">
              <a:rPr lang="en-US" smtClean="0"/>
              <a:t>9/22/2025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772202-C800-4FFD-85EC-346CC4F50A41}" type="slidenum">
              <a:rPr lang="en-US" smtClean="0"/>
              <a:t>‹#›</a:t>
            </a:fld>
            <a:endParaRPr lang="en-US"/>
          </a:p>
        </p:txBody>
      </p:sp>
    </p:spTree>
    <p:extLst>
      <p:ext uri="{BB962C8B-B14F-4D97-AF65-F5344CB8AC3E}">
        <p14:creationId xmlns:p14="http://schemas.microsoft.com/office/powerpoint/2010/main" val="14810224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88D1AD-BC9F-4895-B4EA-7C1D5164C4A8}" type="datetimeFigureOut">
              <a:rPr lang="en-US" smtClean="0"/>
              <a:t>9/22/2025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772202-C800-4FFD-85EC-346CC4F50A41}" type="slidenum">
              <a:rPr lang="en-US" smtClean="0"/>
              <a:t>‹#›</a:t>
            </a:fld>
            <a:endParaRPr lang="en-US"/>
          </a:p>
        </p:txBody>
      </p:sp>
    </p:spTree>
    <p:extLst>
      <p:ext uri="{BB962C8B-B14F-4D97-AF65-F5344CB8AC3E}">
        <p14:creationId xmlns:p14="http://schemas.microsoft.com/office/powerpoint/2010/main" val="891867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E988D1AD-BC9F-4895-B4EA-7C1D5164C4A8}" type="datetimeFigureOut">
              <a:rPr lang="en-US" smtClean="0"/>
              <a:t>9/22/2025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772202-C800-4FFD-85EC-346CC4F50A41}" type="slidenum">
              <a:rPr lang="en-US" smtClean="0"/>
              <a:t>‹#›</a:t>
            </a:fld>
            <a:endParaRPr lang="en-US"/>
          </a:p>
        </p:txBody>
      </p:sp>
    </p:spTree>
    <p:extLst>
      <p:ext uri="{BB962C8B-B14F-4D97-AF65-F5344CB8AC3E}">
        <p14:creationId xmlns:p14="http://schemas.microsoft.com/office/powerpoint/2010/main" val="27003822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E988D1AD-BC9F-4895-B4EA-7C1D5164C4A8}" type="datetimeFigureOut">
              <a:rPr lang="en-US" smtClean="0"/>
              <a:t>9/22/2025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772202-C800-4FFD-85EC-346CC4F50A41}" type="slidenum">
              <a:rPr lang="en-US" smtClean="0"/>
              <a:t>‹#›</a:t>
            </a:fld>
            <a:endParaRPr lang="en-US"/>
          </a:p>
        </p:txBody>
      </p:sp>
    </p:spTree>
    <p:extLst>
      <p:ext uri="{BB962C8B-B14F-4D97-AF65-F5344CB8AC3E}">
        <p14:creationId xmlns:p14="http://schemas.microsoft.com/office/powerpoint/2010/main" val="38080439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988D1AD-BC9F-4895-B4EA-7C1D5164C4A8}" type="datetimeFigureOut">
              <a:rPr lang="en-US" smtClean="0"/>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772202-C800-4FFD-85EC-346CC4F50A41}" type="slidenum">
              <a:rPr lang="en-US" smtClean="0"/>
              <a:t>‹#›</a:t>
            </a:fld>
            <a:endParaRPr lang="en-US"/>
          </a:p>
        </p:txBody>
      </p:sp>
    </p:spTree>
    <p:extLst>
      <p:ext uri="{BB962C8B-B14F-4D97-AF65-F5344CB8AC3E}">
        <p14:creationId xmlns:p14="http://schemas.microsoft.com/office/powerpoint/2010/main" val="27673307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988D1AD-BC9F-4895-B4EA-7C1D5164C4A8}" type="datetimeFigureOut">
              <a:rPr lang="en-US" smtClean="0"/>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772202-C800-4FFD-85EC-346CC4F50A41}" type="slidenum">
              <a:rPr lang="en-US" smtClean="0"/>
              <a:t>‹#›</a:t>
            </a:fld>
            <a:endParaRPr lang="en-US"/>
          </a:p>
        </p:txBody>
      </p:sp>
    </p:spTree>
    <p:extLst>
      <p:ext uri="{BB962C8B-B14F-4D97-AF65-F5344CB8AC3E}">
        <p14:creationId xmlns:p14="http://schemas.microsoft.com/office/powerpoint/2010/main" val="38216820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88D1AD-BC9F-4895-B4EA-7C1D5164C4A8}" type="datetimeFigureOut">
              <a:rPr lang="en-US" smtClean="0"/>
              <a:t>9/22/2025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772202-C800-4FFD-85EC-346CC4F50A41}" type="slidenum">
              <a:rPr lang="en-US" smtClean="0"/>
              <a:t>‹#›</a:t>
            </a:fld>
            <a:endParaRPr lang="en-US"/>
          </a:p>
        </p:txBody>
      </p:sp>
    </p:spTree>
    <p:extLst>
      <p:ext uri="{BB962C8B-B14F-4D97-AF65-F5344CB8AC3E}">
        <p14:creationId xmlns:p14="http://schemas.microsoft.com/office/powerpoint/2010/main" val="8301008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www.geeksforgeeks.org/computer-networks/what-is-transmission-control-protocol-tcp/"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www.geeksforgeeks.org/computer-networks/user-datagram-protocol-udp/"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https://www.geeksforgeeks.org/computer-networks/sctp-full-form/"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s://www.google.com/search?safe=active&amp;sca_esv=fed2f1198a559411&amp;q=sequence+numbering&amp;sa=X&amp;ved=2ahUKEwiGz9yGu-GPAxV5RmcHHcckKqYQxccNegQIIBAC&amp;mstk=AUtExfC4-OLAvpY1fbljIPcELHGvz6-KxUrO9RqXrBJwWQZ_ca75X8XrXDK0wWYkDbJ-Hw_EP9EZRaDenvKBPAE582uDNbJLwyHJUCFE2Q8ie6tcE61kLw-Ga4aMDAdhImIC7cE&amp;csui=3" TargetMode="External"/><Relationship Id="rId2" Type="http://schemas.openxmlformats.org/officeDocument/2006/relationships/hyperlink" Target="https://www.google.com/search?safe=active&amp;sca_esv=fed2f1198a559411&amp;q=timestamping&amp;sa=X&amp;ved=2ahUKEwiGz9yGu-GPAxV5RmcHHcckKqYQxccNegQIIBAB&amp;mstk=AUtExfC4-OLAvpY1fbljIPcELHGvz6-KxUrO9RqXrBJwWQZ_ca75X8XrXDK0wWYkDbJ-Hw_EP9EZRaDenvKBPAE582uDNbJLwyHJUCFE2Q8ie6tcE61kLw-Ga4aMDAdhImIC7cE&amp;csui=3" TargetMode="External"/><Relationship Id="rId1" Type="http://schemas.openxmlformats.org/officeDocument/2006/relationships/slideLayout" Target="../slideLayouts/slideLayout2.xml"/><Relationship Id="rId5" Type="http://schemas.openxmlformats.org/officeDocument/2006/relationships/hyperlink" Target="https://www.google.com/search?safe=active&amp;sca_esv=fed2f1198a559411&amp;q=RTCP&amp;sa=X&amp;ved=2ahUKEwiGz9yGu-GPAxV5RmcHHcckKqYQxccNegQIIBAE&amp;mstk=AUtExfC4-OLAvpY1fbljIPcELHGvz6-KxUrO9RqXrBJwWQZ_ca75X8XrXDK0wWYkDbJ-Hw_EP9EZRaDenvKBPAE582uDNbJLwyHJUCFE2Q8ie6tcE61kLw-Ga4aMDAdhImIC7cE&amp;csui=3" TargetMode="External"/><Relationship Id="rId4" Type="http://schemas.openxmlformats.org/officeDocument/2006/relationships/hyperlink" Target="https://www.google.com/search?safe=active&amp;sca_esv=fed2f1198a559411&amp;q=UDP&amp;sa=X&amp;ved=2ahUKEwiGz9yGu-GPAxV5RmcHHcckKqYQxccNegQIIBAD&amp;mstk=AUtExfC4-OLAvpY1fbljIPcELHGvz6-KxUrO9RqXrBJwWQZ_ca75X8XrXDK0wWYkDbJ-Hw_EP9EZRaDenvKBPAE582uDNbJLwyHJUCFE2Q8ie6tcE61kLw-Ga4aMDAdhImIC7cE&amp;csui=3"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hyperlink" Target="https://www.google.com/search?safe=active&amp;sca_esv=39b9ebc457fec9be&amp;cs=0&amp;q=Additive+Increase+Multiplicative+Decrease+(AIMD)&amp;sa=X&amp;ved=2ahUKEwiyyPGq--OPAxVlRmwGHaEeMS4QxccNegQIBBAB&amp;mstk=AUtExfAElGX2oVjf0IWrbf1clkODhPzmtdkVrw7nDUGhg4M6N52JQS1U5YJ4Ob8QPaR9zm8TErS_hMuxMjzI7kjNy8XpknN7ng3O8L1rZgfcJxy4eIzaH6n_rBmFJccGbxAvTrE&amp;csui=3" TargetMode="Externa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hyperlink" Target="https://www.google.com/search?safe=active&amp;sca_esv=39b9ebc457fec9be&amp;cs=0&amp;q=Closed-Loop+Control&amp;sa=X&amp;ved=2ahUKEwiyyPGq--OPAxVlRmwGHaEeMS4QxccNegQILhAB&amp;mstk=AUtExfAElGX2oVjf0IWrbf1clkODhPzmtdkVrw7nDUGhg4M6N52JQS1U5YJ4Ob8QPaR9zm8TErS_hMuxMjzI7kjNy8XpknN7ng3O8L1rZgfcJxy4eIzaH6n_rBmFJccGbxAvTrE&amp;csui=3" TargetMode="External"/><Relationship Id="rId7" Type="http://schemas.openxmlformats.org/officeDocument/2006/relationships/hyperlink" Target="https://www.google.com/search?safe=active&amp;sca_esv=39b9ebc457fec9be&amp;cs=0&amp;q=Token+Bucket&amp;sa=X&amp;ved=2ahUKEwiyyPGq--OPAxVlRmwGHaEeMS4QxccNegQIKxAD&amp;mstk=AUtExfAElGX2oVjf0IWrbf1clkODhPzmtdkVrw7nDUGhg4M6N52JQS1U5YJ4Ob8QPaR9zm8TErS_hMuxMjzI7kjNy8XpknN7ng3O8L1rZgfcJxy4eIzaH6n_rBmFJccGbxAvTrE&amp;csui=3" TargetMode="External"/><Relationship Id="rId2" Type="http://schemas.openxmlformats.org/officeDocument/2006/relationships/hyperlink" Target="https://www.google.com/search?safe=active&amp;sca_esv=39b9ebc457fec9be&amp;cs=0&amp;q=Open-Loop+Control&amp;sa=X&amp;ved=2ahUKEwiyyPGq--OPAxVlRmwGHaEeMS4QxccNegQIFhAB&amp;mstk=AUtExfAElGX2oVjf0IWrbf1clkODhPzmtdkVrw7nDUGhg4M6N52JQS1U5YJ4Ob8QPaR9zm8TErS_hMuxMjzI7kjNy8XpknN7ng3O8L1rZgfcJxy4eIzaH6n_rBmFJccGbxAvTrE&amp;csui=3" TargetMode="External"/><Relationship Id="rId1" Type="http://schemas.openxmlformats.org/officeDocument/2006/relationships/slideLayout" Target="../slideLayouts/slideLayout2.xml"/><Relationship Id="rId6" Type="http://schemas.openxmlformats.org/officeDocument/2006/relationships/hyperlink" Target="https://www.google.com/search?safe=active&amp;sca_esv=39b9ebc457fec9be&amp;cs=0&amp;q=Leaky+Bucket&amp;sa=X&amp;ved=2ahUKEwiyyPGq--OPAxVlRmwGHaEeMS4QxccNegQIKxAC&amp;mstk=AUtExfAElGX2oVjf0IWrbf1clkODhPzmtdkVrw7nDUGhg4M6N52JQS1U5YJ4Ob8QPaR9zm8TErS_hMuxMjzI7kjNy8XpknN7ng3O8L1rZgfcJxy4eIzaH6n_rBmFJccGbxAvTrE&amp;csui=3" TargetMode="External"/><Relationship Id="rId5" Type="http://schemas.openxmlformats.org/officeDocument/2006/relationships/hyperlink" Target="https://www.google.com/search?safe=active&amp;sca_esv=39b9ebc457fec9be&amp;cs=0&amp;q=Traffic+Shaping&amp;sa=X&amp;ved=2ahUKEwiyyPGq--OPAxVlRmwGHaEeMS4QxccNegQIKxAB&amp;mstk=AUtExfAElGX2oVjf0IWrbf1clkODhPzmtdkVrw7nDUGhg4M6N52JQS1U5YJ4Ob8QPaR9zm8TErS_hMuxMjzI7kjNy8XpknN7ng3O8L1rZgfcJxy4eIzaH6n_rBmFJccGbxAvTrE&amp;csui=3" TargetMode="External"/><Relationship Id="rId4" Type="http://schemas.openxmlformats.org/officeDocument/2006/relationships/hyperlink" Target="https://www.google.com/search?safe=active&amp;sca_esv=39b9ebc457fec9be&amp;cs=0&amp;q=timeout&amp;sa=X&amp;ved=2ahUKEwiyyPGq--OPAxVlRmwGHaEeMS4QxccNegQIKhAB&amp;mstk=AUtExfAElGX2oVjf0IWrbf1clkODhPzmtdkVrw7nDUGhg4M6N52JQS1U5YJ4Ob8QPaR9zm8TErS_hMuxMjzI7kjNy8XpknN7ng3O8L1rZgfcJxy4eIzaH6n_rBmFJccGbxAvTrE&amp;csui=3" TargetMode="External"/></Relationships>
</file>

<file path=ppt/slides/_rels/slide54.xml.rels><?xml version="1.0" encoding="UTF-8" standalone="yes"?>
<Relationships xmlns="http://schemas.openxmlformats.org/package/2006/relationships"><Relationship Id="rId3" Type="http://schemas.openxmlformats.org/officeDocument/2006/relationships/hyperlink" Target="https://www.geeksforgeeks.org/computer-networks/congestion-control-in-computer-networks/" TargetMode="External"/><Relationship Id="rId2" Type="http://schemas.openxmlformats.org/officeDocument/2006/relationships/hyperlink" Target="https://www.geeksforgeeks.org/computer-networks/delays-in-computer-network/" TargetMode="Externa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hyperlink" Target="https://www.geeksforgeeks.org/computer-science-fundamentals/what-is-bandwidth-definition-working-importance-uses/" TargetMode="Externa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hyperlink" Target="https://www.geeksforgeeks.org/computer-networks/tcp-ip-model/" TargetMode="Externa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hyperlink" Target="https://www.geeksforgeeks.org/computer-science-fundamentals/what-is-bandwidth-definition-working-importance-uses/" TargetMode="Externa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hyperlink" Target="https://www.geeksforgeeks.org/computer-networks/token-bucket-algorithm/" TargetMode="External"/><Relationship Id="rId2" Type="http://schemas.openxmlformats.org/officeDocument/2006/relationships/hyperlink" Target="https://www.geeksforgeeks.org/computer-networks/leaky-bucket-algorithm/" TargetMode="Externa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hyperlink" Target="https://www.geeksforgeeks.org/computer-networks/difference-between-bandwidth-and-throughput/" TargetMode="Externa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hyperlink" Target="https://www.geeksforgeeks.org/operating-systems/resource-allocation/" TargetMode="Externa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hyperlink" Target="https://www.google.com/search?safe=active&amp;sca_esv=3cba3ff7c6207a53&amp;cs=0&amp;q=bandwidth+allocation&amp;sa=X&amp;ved=2ahUKEwjc9eueguyPAxUpS3ADHarsJYgQxccNegQIBxAB&amp;mstk=AUtExfBvYhTI4JVQ8tfx1XnER8gxUAxij0iIFUqu7jEYVsAAD0Vp0nNtzeETZ4Q8B9_oNd9cutPbPmBVOL3GIfmtOkbGTv4iE8SSvHviANeusWql_M-_FNr9VZnkrwEu-QFrt3k&amp;csui=3" TargetMode="External"/><Relationship Id="rId2" Type="http://schemas.openxmlformats.org/officeDocument/2006/relationships/hyperlink" Target="https://www.google.com/search?safe=active&amp;sca_esv=3cba3ff7c6207a53&amp;cs=0&amp;q=virtual+queuing&amp;sa=X&amp;ved=2ahUKEwjc9eueguyPAxUpS3ADHarsJYgQxccNegQICBAB&amp;mstk=AUtExfBvYhTI4JVQ8tfx1XnER8gxUAxij0iIFUqu7jEYVsAAD0Vp0nNtzeETZ4Q8B9_oNd9cutPbPmBVOL3GIfmtOkbGTv4iE8SSvHviANeusWql_M-_FNr9VZnkrwEu-QFrt3k&amp;csui=3" TargetMode="External"/><Relationship Id="rId1" Type="http://schemas.openxmlformats.org/officeDocument/2006/relationships/slideLayout" Target="../slideLayouts/slideLayout2.xml"/><Relationship Id="rId4" Type="http://schemas.openxmlformats.org/officeDocument/2006/relationships/hyperlink" Target="https://www.google.com/search?safe=active&amp;sca_esv=3cba3ff7c6207a53&amp;cs=0&amp;q=admission+control&amp;sa=X&amp;ved=2ahUKEwjc9eueguyPAxUpS3ADHarsJYgQxccNegQIBhAB&amp;mstk=AUtExfBvYhTI4JVQ8tfx1XnER8gxUAxij0iIFUqu7jEYVsAAD0Vp0nNtzeETZ4Q8B9_oNd9cutPbPmBVOL3GIfmtOkbGTv4iE8SSvHviANeusWql_M-_FNr9VZnkrwEu-QFrt3k&amp;csui=3" TargetMode="Externa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hyperlink" Target="https://www.google.com/search?safe=active&amp;sca_esv=3cba3ff7c6207a53&amp;cs=0&amp;q=Traffic+Shaping&amp;sa=X&amp;ved=2ahUKEwjc9eueguyPAxUpS3ADHarsJYgQxccNegQIOxAB&amp;mstk=AUtExfBvYhTI4JVQ8tfx1XnER8gxUAxij0iIFUqu7jEYVsAAD0Vp0nNtzeETZ4Q8B9_oNd9cutPbPmBVOL3GIfmtOkbGTv4iE8SSvHviANeusWql_M-_FNr9VZnkrwEu-QFrt3k&amp;csui=3" TargetMode="External"/><Relationship Id="rId2" Type="http://schemas.openxmlformats.org/officeDocument/2006/relationships/hyperlink" Target="https://www.google.com/search?safe=active&amp;sca_esv=3cba3ff7c6207a53&amp;cs=0&amp;q=Packet+Marking&amp;sa=X&amp;ved=2ahUKEwjc9eueguyPAxUpS3ADHarsJYgQxccNegQIOhAB&amp;mstk=AUtExfBvYhTI4JVQ8tfx1XnER8gxUAxij0iIFUqu7jEYVsAAD0Vp0nNtzeETZ4Q8B9_oNd9cutPbPmBVOL3GIfmtOkbGTv4iE8SSvHviANeusWql_M-_FNr9VZnkrwEu-QFrt3k&amp;csui=3" TargetMode="Externa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hyperlink" Target="https://www.google.com/search?safe=active&amp;sca_esv=3cba3ff7c6207a53&amp;cs=0&amp;q=Resource+Reservation&amp;sa=X&amp;ved=2ahUKEwjc9eueguyPAxUpS3ADHarsJYgQxccNegQIPRAB&amp;mstk=AUtExfBvYhTI4JVQ8tfx1XnER8gxUAxij0iIFUqu7jEYVsAAD0Vp0nNtzeETZ4Q8B9_oNd9cutPbPmBVOL3GIfmtOkbGTv4iE8SSvHviANeusWql_M-_FNr9VZnkrwEu-QFrt3k&amp;csui=3" TargetMode="External"/><Relationship Id="rId2" Type="http://schemas.openxmlformats.org/officeDocument/2006/relationships/hyperlink" Target="https://www.google.com/search?safe=active&amp;sca_esv=3cba3ff7c6207a53&amp;cs=0&amp;q=Bandwidth+Allocation&amp;sa=X&amp;ved=2ahUKEwjc9eueguyPAxUpS3ADHarsJYgQxccNegQIPxAB&amp;mstk=AUtExfBvYhTI4JVQ8tfx1XnER8gxUAxij0iIFUqu7jEYVsAAD0Vp0nNtzeETZ4Q8B9_oNd9cutPbPmBVOL3GIfmtOkbGTv4iE8SSvHviANeusWql_M-_FNr9VZnkrwEu-QFrt3k&amp;csui=3" TargetMode="External"/><Relationship Id="rId1" Type="http://schemas.openxmlformats.org/officeDocument/2006/relationships/slideLayout" Target="../slideLayouts/slideLayout2.xml"/><Relationship Id="rId4" Type="http://schemas.openxmlformats.org/officeDocument/2006/relationships/hyperlink" Target="https://www.google.com/search?safe=active&amp;sca_esv=3cba3ff7c6207a53&amp;cs=0&amp;q=Admission+Control&amp;sa=X&amp;ved=2ahUKEwjc9eueguyPAxUpS3ADHarsJYgQxccNegQIPhAB&amp;mstk=AUtExfBvYhTI4JVQ8tfx1XnER8gxUAxij0iIFUqu7jEYVsAAD0Vp0nNtzeETZ4Q8B9_oNd9cutPbPmBVOL3GIfmtOkbGTv4iE8SSvHviANeusWql_M-_FNr9VZnkrwEu-QFrt3k&amp;csui=3" TargetMode="Externa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hyperlink" Target="https://www.google.com/search?safe=active&amp;sca_esv=3cba3ff7c6207a53&amp;q=client-server&amp;sa=X&amp;ved=2ahUKEwiegpz2ieyPAxVHUGcHHQu2AxUQxccNegQIHRAB&amp;mstk=AUtExfB_ycYPRcy6uf5H3t7al4o7zM1xuKAm-9A80DzrTsB7GNQRw_n6Kh9JxzKPL-fuDgOE2L83hJeUwIMQM73ZAOkfZAv-UPqGFwUyXhG1N00-g4OlurEjE3qxrKyxY5MiLAg&amp;csui=3" TargetMode="Externa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hyperlink" Target="https://www.geeksforgeeks.org/operating-systems/inter-process-communication-ipc/" TargetMode="Externa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smtClean="0"/>
              <a:t>Transport Layer</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39331890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49721"/>
          </a:xfrm>
        </p:spPr>
        <p:txBody>
          <a:bodyPr/>
          <a:lstStyle/>
          <a:p>
            <a:r>
              <a:rPr lang="en-GB" dirty="0" smtClean="0"/>
              <a:t>Introduction</a:t>
            </a:r>
            <a:endParaRPr lang="en-US" dirty="0"/>
          </a:p>
        </p:txBody>
      </p:sp>
      <p:sp>
        <p:nvSpPr>
          <p:cNvPr id="3" name="Content Placeholder 2"/>
          <p:cNvSpPr>
            <a:spLocks noGrp="1"/>
          </p:cNvSpPr>
          <p:nvPr>
            <p:ph idx="1"/>
          </p:nvPr>
        </p:nvSpPr>
        <p:spPr>
          <a:xfrm>
            <a:off x="838200" y="1214846"/>
            <a:ext cx="10515600" cy="4962117"/>
          </a:xfrm>
        </p:spPr>
        <p:txBody>
          <a:bodyPr/>
          <a:lstStyle/>
          <a:p>
            <a:r>
              <a:rPr lang="en-GB" dirty="0"/>
              <a:t>The transport layer is the fourth layer in the OSI model and the second layer in the TCP/IP model. </a:t>
            </a:r>
            <a:endParaRPr lang="en-GB" dirty="0" smtClean="0"/>
          </a:p>
          <a:p>
            <a:r>
              <a:rPr lang="en-GB" dirty="0" smtClean="0"/>
              <a:t>The </a:t>
            </a:r>
            <a:r>
              <a:rPr lang="en-GB" dirty="0"/>
              <a:t>transport layer provides with end to end connection between the source and the destination and reliable delivery of the services. </a:t>
            </a:r>
            <a:endParaRPr lang="en-GB" dirty="0" smtClean="0"/>
          </a:p>
          <a:p>
            <a:r>
              <a:rPr lang="en-GB" dirty="0" smtClean="0"/>
              <a:t>Therefore </a:t>
            </a:r>
            <a:r>
              <a:rPr lang="en-GB" dirty="0"/>
              <a:t>transport layer is known as the end-to-end layer. </a:t>
            </a:r>
            <a:endParaRPr lang="en-GB" dirty="0" smtClean="0"/>
          </a:p>
          <a:p>
            <a:r>
              <a:rPr lang="en-GB" dirty="0" smtClean="0"/>
              <a:t>The </a:t>
            </a:r>
            <a:r>
              <a:rPr lang="en-GB" dirty="0"/>
              <a:t>transport layer takes the services from its upward layer which is the application layer and provides it to the network layer. </a:t>
            </a:r>
            <a:endParaRPr lang="en-GB" dirty="0" smtClean="0"/>
          </a:p>
          <a:p>
            <a:r>
              <a:rPr lang="en-GB" dirty="0" smtClean="0"/>
              <a:t>Segment </a:t>
            </a:r>
            <a:r>
              <a:rPr lang="en-GB" dirty="0"/>
              <a:t>is the unit of data encapsulation at the transport layer.</a:t>
            </a:r>
            <a:endParaRPr lang="en-US" dirty="0"/>
          </a:p>
        </p:txBody>
      </p:sp>
    </p:spTree>
    <p:extLst>
      <p:ext uri="{BB962C8B-B14F-4D97-AF65-F5344CB8AC3E}">
        <p14:creationId xmlns:p14="http://schemas.microsoft.com/office/powerpoint/2010/main" val="404999655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385887" y="559594"/>
            <a:ext cx="9420225" cy="5410200"/>
          </a:xfrm>
          <a:prstGeom prst="rect">
            <a:avLst/>
          </a:prstGeom>
        </p:spPr>
      </p:pic>
    </p:spTree>
    <p:extLst>
      <p:ext uri="{BB962C8B-B14F-4D97-AF65-F5344CB8AC3E}">
        <p14:creationId xmlns:p14="http://schemas.microsoft.com/office/powerpoint/2010/main" val="428236427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36658"/>
          </a:xfrm>
        </p:spPr>
        <p:txBody>
          <a:bodyPr/>
          <a:lstStyle/>
          <a:p>
            <a:r>
              <a:rPr lang="en-GB" dirty="0" smtClean="0"/>
              <a:t>Cont..</a:t>
            </a:r>
            <a:endParaRPr lang="en-US" dirty="0"/>
          </a:p>
        </p:txBody>
      </p:sp>
      <p:sp>
        <p:nvSpPr>
          <p:cNvPr id="3" name="Content Placeholder 2"/>
          <p:cNvSpPr>
            <a:spLocks noGrp="1"/>
          </p:cNvSpPr>
          <p:nvPr>
            <p:ph idx="1"/>
          </p:nvPr>
        </p:nvSpPr>
        <p:spPr>
          <a:xfrm>
            <a:off x="838200" y="1201784"/>
            <a:ext cx="10515600" cy="4975179"/>
          </a:xfrm>
        </p:spPr>
        <p:txBody>
          <a:bodyPr/>
          <a:lstStyle/>
          <a:p>
            <a:pPr fontAlgn="base"/>
            <a:r>
              <a:rPr lang="en-GB" b="1" dirty="0" smtClean="0"/>
              <a:t>Functions/Elements </a:t>
            </a:r>
            <a:r>
              <a:rPr lang="en-GB" b="1" dirty="0"/>
              <a:t>of Transport Layer</a:t>
            </a:r>
          </a:p>
          <a:p>
            <a:pPr fontAlgn="base"/>
            <a:r>
              <a:rPr lang="en-GB" dirty="0"/>
              <a:t>The process to process delivery</a:t>
            </a:r>
          </a:p>
          <a:p>
            <a:pPr fontAlgn="base"/>
            <a:r>
              <a:rPr lang="en-GB" dirty="0"/>
              <a:t>End-to-end connection between devices</a:t>
            </a:r>
          </a:p>
          <a:p>
            <a:pPr fontAlgn="base"/>
            <a:r>
              <a:rPr lang="en-GB" dirty="0"/>
              <a:t>Multiplexing and </a:t>
            </a:r>
            <a:r>
              <a:rPr lang="en-GB" dirty="0" err="1"/>
              <a:t>Demultiplexing</a:t>
            </a:r>
            <a:endParaRPr lang="en-GB" dirty="0"/>
          </a:p>
          <a:p>
            <a:pPr fontAlgn="base"/>
            <a:r>
              <a:rPr lang="en-GB" dirty="0"/>
              <a:t>Data integrity and error Correction</a:t>
            </a:r>
          </a:p>
          <a:p>
            <a:pPr fontAlgn="base"/>
            <a:r>
              <a:rPr lang="en-GB" dirty="0"/>
              <a:t>Congestion Control</a:t>
            </a:r>
          </a:p>
          <a:p>
            <a:pPr fontAlgn="base"/>
            <a:r>
              <a:rPr lang="en-GB" dirty="0"/>
              <a:t>Flow Control</a:t>
            </a:r>
          </a:p>
          <a:p>
            <a:endParaRPr lang="en-US" dirty="0"/>
          </a:p>
        </p:txBody>
      </p:sp>
    </p:spTree>
    <p:extLst>
      <p:ext uri="{BB962C8B-B14F-4D97-AF65-F5344CB8AC3E}">
        <p14:creationId xmlns:p14="http://schemas.microsoft.com/office/powerpoint/2010/main" val="149682692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35132"/>
            <a:ext cx="10515600" cy="600892"/>
          </a:xfrm>
        </p:spPr>
        <p:txBody>
          <a:bodyPr>
            <a:normAutofit fontScale="90000"/>
          </a:bodyPr>
          <a:lstStyle/>
          <a:p>
            <a:r>
              <a:rPr lang="en-GB" dirty="0" smtClean="0"/>
              <a:t>Cont..</a:t>
            </a:r>
            <a:endParaRPr lang="en-US" dirty="0"/>
          </a:p>
        </p:txBody>
      </p:sp>
      <p:sp>
        <p:nvSpPr>
          <p:cNvPr id="3" name="Content Placeholder 2"/>
          <p:cNvSpPr>
            <a:spLocks noGrp="1"/>
          </p:cNvSpPr>
          <p:nvPr>
            <p:ph idx="1"/>
          </p:nvPr>
        </p:nvSpPr>
        <p:spPr>
          <a:xfrm>
            <a:off x="838200" y="836024"/>
            <a:ext cx="10515600" cy="5799907"/>
          </a:xfrm>
        </p:spPr>
        <p:txBody>
          <a:bodyPr>
            <a:normAutofit/>
          </a:bodyPr>
          <a:lstStyle/>
          <a:p>
            <a:r>
              <a:rPr lang="en-GB" b="1" dirty="0"/>
              <a:t>Characteristics of Transport Layer Protocol</a:t>
            </a:r>
          </a:p>
          <a:p>
            <a:pPr fontAlgn="base"/>
            <a:r>
              <a:rPr lang="en-GB" dirty="0"/>
              <a:t>The two protocols that make up the transport layer are TCP and UDP.</a:t>
            </a:r>
          </a:p>
          <a:p>
            <a:pPr fontAlgn="base"/>
            <a:r>
              <a:rPr lang="en-GB" dirty="0"/>
              <a:t>A datagram is sent by the IP protocol at the network layer from a source host to a destination host.</a:t>
            </a:r>
          </a:p>
          <a:p>
            <a:pPr fontAlgn="base"/>
            <a:r>
              <a:rPr lang="en-GB" dirty="0"/>
              <a:t>These days, an operating system can support environments with multiple users and processes; a programme under execution is referred to as a process.</a:t>
            </a:r>
          </a:p>
          <a:p>
            <a:pPr fontAlgn="base"/>
            <a:r>
              <a:rPr lang="en-GB" dirty="0"/>
              <a:t>A source process is transmitting a process to a destination process when a host sends a message to another host. Certain connections to certain ports, referred to as protocol ports, are defined by the transport layer protocols.</a:t>
            </a:r>
          </a:p>
          <a:p>
            <a:pPr fontAlgn="base"/>
            <a:r>
              <a:rPr lang="en-GB" dirty="0"/>
              <a:t>A positive integer address, consisting of 16 bits, defines each port.</a:t>
            </a:r>
          </a:p>
          <a:p>
            <a:endParaRPr lang="en-US" dirty="0"/>
          </a:p>
        </p:txBody>
      </p:sp>
    </p:spTree>
    <p:extLst>
      <p:ext uri="{BB962C8B-B14F-4D97-AF65-F5344CB8AC3E}">
        <p14:creationId xmlns:p14="http://schemas.microsoft.com/office/powerpoint/2010/main" val="411773864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92966"/>
          </a:xfrm>
        </p:spPr>
        <p:txBody>
          <a:bodyPr>
            <a:normAutofit fontScale="90000"/>
          </a:bodyPr>
          <a:lstStyle/>
          <a:p>
            <a:r>
              <a:rPr lang="en-GB" dirty="0" smtClean="0"/>
              <a:t>Elements of Transport Layer Protocol</a:t>
            </a:r>
            <a:endParaRPr lang="en-US" dirty="0"/>
          </a:p>
        </p:txBody>
      </p:sp>
      <p:sp>
        <p:nvSpPr>
          <p:cNvPr id="3" name="Content Placeholder 2"/>
          <p:cNvSpPr>
            <a:spLocks noGrp="1"/>
          </p:cNvSpPr>
          <p:nvPr>
            <p:ph idx="1"/>
          </p:nvPr>
        </p:nvSpPr>
        <p:spPr>
          <a:xfrm>
            <a:off x="838200" y="1058092"/>
            <a:ext cx="10515600" cy="5118871"/>
          </a:xfrm>
        </p:spPr>
        <p:txBody>
          <a:bodyPr/>
          <a:lstStyle/>
          <a:p>
            <a:r>
              <a:rPr lang="en-GB" dirty="0"/>
              <a:t>Elements of transport protocols encompass several crucial aspects that ensure efficient and reliable communication between devices over a network</a:t>
            </a:r>
            <a:r>
              <a:rPr lang="en-GB" dirty="0" smtClean="0"/>
              <a:t>.</a:t>
            </a:r>
          </a:p>
          <a:p>
            <a:r>
              <a:rPr lang="en-GB" dirty="0" smtClean="0"/>
              <a:t>Following are elements of Transport Layer Protocol-</a:t>
            </a:r>
          </a:p>
          <a:p>
            <a:r>
              <a:rPr lang="en-GB" dirty="0" smtClean="0"/>
              <a:t>Addressing,</a:t>
            </a:r>
          </a:p>
          <a:p>
            <a:r>
              <a:rPr lang="en-GB" dirty="0" smtClean="0"/>
              <a:t> Connection establishment, </a:t>
            </a:r>
          </a:p>
          <a:p>
            <a:r>
              <a:rPr lang="en-GB" dirty="0" smtClean="0"/>
              <a:t>Connection release, </a:t>
            </a:r>
          </a:p>
          <a:p>
            <a:r>
              <a:rPr lang="en-GB" dirty="0" smtClean="0"/>
              <a:t>Flow control and buffering, </a:t>
            </a:r>
          </a:p>
          <a:p>
            <a:r>
              <a:rPr lang="en-GB" dirty="0" smtClean="0"/>
              <a:t>Multiplexing, </a:t>
            </a:r>
          </a:p>
          <a:p>
            <a:r>
              <a:rPr lang="en-GB" dirty="0" smtClean="0"/>
              <a:t>Congestion Control.</a:t>
            </a:r>
            <a:endParaRPr lang="en-US" dirty="0"/>
          </a:p>
        </p:txBody>
      </p:sp>
    </p:spTree>
    <p:extLst>
      <p:ext uri="{BB962C8B-B14F-4D97-AF65-F5344CB8AC3E}">
        <p14:creationId xmlns:p14="http://schemas.microsoft.com/office/powerpoint/2010/main" val="295172536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36212"/>
          </a:xfrm>
        </p:spPr>
        <p:txBody>
          <a:bodyPr>
            <a:normAutofit fontScale="90000"/>
          </a:bodyPr>
          <a:lstStyle/>
          <a:p>
            <a:r>
              <a:rPr lang="en-GB" dirty="0" smtClean="0"/>
              <a:t>1.Addressing</a:t>
            </a:r>
            <a:endParaRPr lang="en-US" dirty="0"/>
          </a:p>
        </p:txBody>
      </p:sp>
      <p:sp>
        <p:nvSpPr>
          <p:cNvPr id="3" name="Content Placeholder 2"/>
          <p:cNvSpPr>
            <a:spLocks noGrp="1"/>
          </p:cNvSpPr>
          <p:nvPr>
            <p:ph idx="1"/>
          </p:nvPr>
        </p:nvSpPr>
        <p:spPr>
          <a:xfrm>
            <a:off x="838200" y="901338"/>
            <a:ext cx="10515600" cy="5275625"/>
          </a:xfrm>
        </p:spPr>
        <p:txBody>
          <a:bodyPr/>
          <a:lstStyle/>
          <a:p>
            <a:r>
              <a:rPr lang="en-GB" b="1" dirty="0"/>
              <a:t>Purpose</a:t>
            </a:r>
            <a:r>
              <a:rPr lang="en-GB" b="1" dirty="0" smtClean="0"/>
              <a:t>:</a:t>
            </a:r>
          </a:p>
          <a:p>
            <a:r>
              <a:rPr lang="en-GB" dirty="0"/>
              <a:t> Addressing in transport protocols identifies specific communication endpoints (hosts and applications) within a network. It allows data to be directed to the correct destination.</a:t>
            </a:r>
          </a:p>
          <a:p>
            <a:r>
              <a:rPr lang="en-GB" b="1" dirty="0"/>
              <a:t>Key Points:</a:t>
            </a:r>
            <a:endParaRPr lang="en-GB" dirty="0"/>
          </a:p>
          <a:p>
            <a:pPr lvl="1"/>
            <a:r>
              <a:rPr lang="en-GB" b="1" dirty="0"/>
              <a:t>Port Numbers:</a:t>
            </a:r>
            <a:endParaRPr lang="en-GB" dirty="0"/>
          </a:p>
          <a:p>
            <a:pPr lvl="2"/>
            <a:r>
              <a:rPr lang="en-GB" b="1" dirty="0"/>
              <a:t>Definition:</a:t>
            </a:r>
            <a:r>
              <a:rPr lang="en-GB" dirty="0"/>
              <a:t> Port numbers are used to distinguish different services or applications running on a single host.</a:t>
            </a:r>
          </a:p>
          <a:p>
            <a:pPr lvl="2"/>
            <a:r>
              <a:rPr lang="en-GB" b="1" dirty="0"/>
              <a:t>Range:</a:t>
            </a:r>
            <a:r>
              <a:rPr lang="en-GB" dirty="0"/>
              <a:t> TCP and UDP each have a range of 0 to 65,535 available for port numbers, with well-known ports (0-1023) reserved for standard services (e.g., HTTP, FTP).</a:t>
            </a:r>
          </a:p>
          <a:p>
            <a:r>
              <a:rPr lang="en-GB" dirty="0" smtClean="0"/>
              <a:t/>
            </a:r>
            <a:br>
              <a:rPr lang="en-GB" dirty="0" smtClean="0"/>
            </a:br>
            <a:endParaRPr lang="en-US" dirty="0"/>
          </a:p>
        </p:txBody>
      </p:sp>
    </p:spTree>
    <p:extLst>
      <p:ext uri="{BB962C8B-B14F-4D97-AF65-F5344CB8AC3E}">
        <p14:creationId xmlns:p14="http://schemas.microsoft.com/office/powerpoint/2010/main" val="20666845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58281"/>
          </a:xfrm>
        </p:spPr>
        <p:txBody>
          <a:bodyPr/>
          <a:lstStyle/>
          <a:p>
            <a:r>
              <a:rPr lang="en-GB" dirty="0" smtClean="0"/>
              <a:t>Cont..</a:t>
            </a:r>
            <a:endParaRPr lang="en-US" dirty="0"/>
          </a:p>
        </p:txBody>
      </p:sp>
      <p:sp>
        <p:nvSpPr>
          <p:cNvPr id="3" name="Content Placeholder 2"/>
          <p:cNvSpPr>
            <a:spLocks noGrp="1"/>
          </p:cNvSpPr>
          <p:nvPr>
            <p:ph idx="1"/>
          </p:nvPr>
        </p:nvSpPr>
        <p:spPr>
          <a:xfrm>
            <a:off x="838200" y="1397726"/>
            <a:ext cx="10515600" cy="4779237"/>
          </a:xfrm>
        </p:spPr>
        <p:txBody>
          <a:bodyPr/>
          <a:lstStyle/>
          <a:p>
            <a:r>
              <a:rPr lang="en-GB" b="1" dirty="0" smtClean="0"/>
              <a:t>Socket </a:t>
            </a:r>
            <a:r>
              <a:rPr lang="en-GB" b="1" dirty="0"/>
              <a:t>Addressing:</a:t>
            </a:r>
            <a:endParaRPr lang="en-GB" dirty="0"/>
          </a:p>
          <a:p>
            <a:pPr lvl="1"/>
            <a:r>
              <a:rPr lang="en-GB" b="1" dirty="0"/>
              <a:t>Definition:</a:t>
            </a:r>
            <a:r>
              <a:rPr lang="en-GB" dirty="0"/>
              <a:t> Combines IP address and port number to uniquely identify a communication endpoint (socket) in a network.</a:t>
            </a:r>
          </a:p>
          <a:p>
            <a:pPr lvl="1"/>
            <a:r>
              <a:rPr lang="en-GB" b="1" dirty="0"/>
              <a:t>Format:</a:t>
            </a:r>
            <a:r>
              <a:rPr lang="en-GB" dirty="0"/>
              <a:t> For TCP/IP, a socket is represented as a combination of IP address and port number (e.g., 192.168.1.1:80).</a:t>
            </a:r>
          </a:p>
          <a:p>
            <a:r>
              <a:rPr lang="en-GB" b="1" dirty="0"/>
              <a:t>Header Fields:</a:t>
            </a:r>
            <a:endParaRPr lang="en-GB" dirty="0"/>
          </a:p>
          <a:p>
            <a:pPr lvl="1"/>
            <a:r>
              <a:rPr lang="en-GB" b="1" dirty="0"/>
              <a:t>TCP Header:</a:t>
            </a:r>
            <a:r>
              <a:rPr lang="en-GB" dirty="0"/>
              <a:t> Contains source and destination port numbers to identify the endpoints of a connection.</a:t>
            </a:r>
          </a:p>
          <a:p>
            <a:pPr lvl="1"/>
            <a:r>
              <a:rPr lang="en-GB" b="1" dirty="0"/>
              <a:t>UDP Header:</a:t>
            </a:r>
            <a:r>
              <a:rPr lang="en-GB" dirty="0"/>
              <a:t> Similar port fields but used in connectionless communication.</a:t>
            </a:r>
          </a:p>
          <a:p>
            <a:endParaRPr lang="en-US" dirty="0"/>
          </a:p>
        </p:txBody>
      </p:sp>
    </p:spTree>
    <p:extLst>
      <p:ext uri="{BB962C8B-B14F-4D97-AF65-F5344CB8AC3E}">
        <p14:creationId xmlns:p14="http://schemas.microsoft.com/office/powerpoint/2010/main" val="81023329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36212"/>
          </a:xfrm>
        </p:spPr>
        <p:txBody>
          <a:bodyPr>
            <a:normAutofit fontScale="90000"/>
          </a:bodyPr>
          <a:lstStyle/>
          <a:p>
            <a:r>
              <a:rPr lang="en-GB" b="1" dirty="0" smtClean="0"/>
              <a:t/>
            </a:r>
            <a:br>
              <a:rPr lang="en-GB" b="1" dirty="0" smtClean="0"/>
            </a:br>
            <a:r>
              <a:rPr lang="en-GB" b="1" dirty="0" smtClean="0"/>
              <a:t>2. Connection Establishment and Release:</a:t>
            </a:r>
            <a:r>
              <a:rPr lang="en-GB" dirty="0" smtClean="0"/>
              <a:t/>
            </a:r>
            <a:br>
              <a:rPr lang="en-GB" dirty="0" smtClean="0"/>
            </a:br>
            <a:endParaRPr lang="en-US" dirty="0"/>
          </a:p>
        </p:txBody>
      </p:sp>
      <p:sp>
        <p:nvSpPr>
          <p:cNvPr id="3" name="Content Placeholder 2"/>
          <p:cNvSpPr>
            <a:spLocks noGrp="1"/>
          </p:cNvSpPr>
          <p:nvPr>
            <p:ph idx="1"/>
          </p:nvPr>
        </p:nvSpPr>
        <p:spPr>
          <a:xfrm>
            <a:off x="838200" y="1149531"/>
            <a:ext cx="10515600" cy="5027432"/>
          </a:xfrm>
        </p:spPr>
        <p:txBody>
          <a:bodyPr>
            <a:normAutofit fontScale="92500" lnSpcReduction="10000"/>
          </a:bodyPr>
          <a:lstStyle/>
          <a:p>
            <a:r>
              <a:rPr lang="en-GB" b="1" dirty="0" smtClean="0"/>
              <a:t>Purpose</a:t>
            </a:r>
            <a:r>
              <a:rPr lang="en-GB" b="1" dirty="0"/>
              <a:t>:</a:t>
            </a:r>
            <a:r>
              <a:rPr lang="en-GB" dirty="0"/>
              <a:t> Establishing and releasing connections allows for reliable and orderly transmission of data between sender and receiver.</a:t>
            </a:r>
          </a:p>
          <a:p>
            <a:r>
              <a:rPr lang="en-GB" b="1" dirty="0"/>
              <a:t>Key Points:</a:t>
            </a:r>
            <a:endParaRPr lang="en-GB" dirty="0"/>
          </a:p>
          <a:p>
            <a:r>
              <a:rPr lang="en-GB" b="1" dirty="0"/>
              <a:t>Connection-Oriented Protocols (e.g., TCP):</a:t>
            </a:r>
            <a:endParaRPr lang="en-GB" dirty="0"/>
          </a:p>
          <a:p>
            <a:pPr lvl="1"/>
            <a:r>
              <a:rPr lang="en-GB" b="1" dirty="0"/>
              <a:t>Three-Way Handshake:</a:t>
            </a:r>
            <a:endParaRPr lang="en-GB" dirty="0"/>
          </a:p>
          <a:p>
            <a:pPr lvl="2"/>
            <a:r>
              <a:rPr lang="en-GB" b="1" dirty="0"/>
              <a:t>SYN (Synchronize):</a:t>
            </a:r>
            <a:r>
              <a:rPr lang="en-GB" dirty="0"/>
              <a:t> Initiates a connection request from the sender.</a:t>
            </a:r>
          </a:p>
          <a:p>
            <a:pPr lvl="2"/>
            <a:r>
              <a:rPr lang="en-GB" b="1" dirty="0"/>
              <a:t>SYN-ACK (Synchronize-Acknowledgment):</a:t>
            </a:r>
            <a:r>
              <a:rPr lang="en-GB" dirty="0"/>
              <a:t> Acknowledges the connection request and sends a confirmation.</a:t>
            </a:r>
          </a:p>
          <a:p>
            <a:pPr lvl="2"/>
            <a:r>
              <a:rPr lang="en-GB" b="1" dirty="0"/>
              <a:t>ACK (Acknowledgment):</a:t>
            </a:r>
            <a:r>
              <a:rPr lang="en-GB" dirty="0"/>
              <a:t> Finalizes the connection setup and enables data transmission</a:t>
            </a:r>
            <a:r>
              <a:rPr lang="en-GB" dirty="0" smtClean="0"/>
              <a:t>.</a:t>
            </a:r>
          </a:p>
          <a:p>
            <a:endParaRPr lang="en-GB" dirty="0"/>
          </a:p>
          <a:p>
            <a:pPr lvl="1"/>
            <a:r>
              <a:rPr lang="en-GB" b="1" dirty="0" smtClean="0"/>
              <a:t>Connection </a:t>
            </a:r>
            <a:r>
              <a:rPr lang="en-GB" b="1" dirty="0"/>
              <a:t>Release:</a:t>
            </a:r>
            <a:r>
              <a:rPr lang="en-GB" dirty="0"/>
              <a:t> Uses a four-way handshake (FIN, FIN-ACK, ACK, ACK) to terminate the connection gracefully.</a:t>
            </a:r>
          </a:p>
          <a:p>
            <a:r>
              <a:rPr lang="en-GB" dirty="0" smtClean="0"/>
              <a:t/>
            </a:r>
            <a:br>
              <a:rPr lang="en-GB" dirty="0" smtClean="0"/>
            </a:br>
            <a:endParaRPr lang="en-GB" dirty="0"/>
          </a:p>
          <a:p>
            <a:endParaRPr lang="en-US" dirty="0"/>
          </a:p>
        </p:txBody>
      </p:sp>
    </p:spTree>
    <p:extLst>
      <p:ext uri="{BB962C8B-B14F-4D97-AF65-F5344CB8AC3E}">
        <p14:creationId xmlns:p14="http://schemas.microsoft.com/office/powerpoint/2010/main" val="306741254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53778"/>
          </a:xfrm>
        </p:spPr>
        <p:txBody>
          <a:bodyPr>
            <a:normAutofit fontScale="90000"/>
          </a:bodyPr>
          <a:lstStyle/>
          <a:p>
            <a:r>
              <a:rPr lang="en-GB" dirty="0" smtClean="0"/>
              <a:t>Cont..</a:t>
            </a:r>
            <a:endParaRPr lang="en-US" dirty="0"/>
          </a:p>
        </p:txBody>
      </p:sp>
      <p:sp>
        <p:nvSpPr>
          <p:cNvPr id="3" name="Content Placeholder 2"/>
          <p:cNvSpPr>
            <a:spLocks noGrp="1"/>
          </p:cNvSpPr>
          <p:nvPr>
            <p:ph idx="1"/>
          </p:nvPr>
        </p:nvSpPr>
        <p:spPr>
          <a:xfrm>
            <a:off x="838200" y="1175657"/>
            <a:ext cx="10515600" cy="5001306"/>
          </a:xfrm>
        </p:spPr>
        <p:txBody>
          <a:bodyPr/>
          <a:lstStyle/>
          <a:p>
            <a:r>
              <a:rPr lang="en-GB" b="1" dirty="0"/>
              <a:t>Connectionless Protocols (e.g., UDP):</a:t>
            </a:r>
            <a:endParaRPr lang="en-GB" dirty="0"/>
          </a:p>
          <a:p>
            <a:pPr lvl="1"/>
            <a:r>
              <a:rPr lang="en-GB" b="1" dirty="0"/>
              <a:t>No Connection Setup:</a:t>
            </a:r>
            <a:r>
              <a:rPr lang="en-GB" dirty="0"/>
              <a:t> Each datagram is handled independently without establishing a dedicated connection.</a:t>
            </a:r>
          </a:p>
          <a:p>
            <a:pPr lvl="1"/>
            <a:r>
              <a:rPr lang="en-GB" b="1" dirty="0"/>
              <a:t>No Connection Release:</a:t>
            </a:r>
            <a:r>
              <a:rPr lang="en-GB" dirty="0"/>
              <a:t> No formal termination process; communication ends when data exchange completes.</a:t>
            </a:r>
          </a:p>
          <a:p>
            <a:endParaRPr lang="en-US" dirty="0"/>
          </a:p>
        </p:txBody>
      </p:sp>
    </p:spTree>
    <p:extLst>
      <p:ext uri="{BB962C8B-B14F-4D97-AF65-F5344CB8AC3E}">
        <p14:creationId xmlns:p14="http://schemas.microsoft.com/office/powerpoint/2010/main" val="266976137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9904"/>
          </a:xfrm>
        </p:spPr>
        <p:txBody>
          <a:bodyPr>
            <a:normAutofit fontScale="90000"/>
          </a:bodyPr>
          <a:lstStyle/>
          <a:p>
            <a:r>
              <a:rPr lang="en-US" b="1" dirty="0"/>
              <a:t>3. Flow Control:</a:t>
            </a:r>
            <a:endParaRPr lang="en-US" dirty="0"/>
          </a:p>
        </p:txBody>
      </p:sp>
      <p:sp>
        <p:nvSpPr>
          <p:cNvPr id="3" name="Content Placeholder 2"/>
          <p:cNvSpPr>
            <a:spLocks noGrp="1"/>
          </p:cNvSpPr>
          <p:nvPr>
            <p:ph idx="1"/>
          </p:nvPr>
        </p:nvSpPr>
        <p:spPr>
          <a:xfrm>
            <a:off x="838200" y="1045030"/>
            <a:ext cx="10515600" cy="5131933"/>
          </a:xfrm>
        </p:spPr>
        <p:txBody>
          <a:bodyPr/>
          <a:lstStyle/>
          <a:p>
            <a:r>
              <a:rPr lang="en-GB" b="1" dirty="0"/>
              <a:t>Purpose:</a:t>
            </a:r>
            <a:r>
              <a:rPr lang="en-GB" dirty="0"/>
              <a:t> Regulates the rate of data transmission between sender and receiver to prevent overflow and ensure efficient utilization of network resources.</a:t>
            </a:r>
          </a:p>
          <a:p>
            <a:r>
              <a:rPr lang="en-GB" b="1" dirty="0"/>
              <a:t>Key Points:</a:t>
            </a:r>
            <a:endParaRPr lang="en-GB" dirty="0"/>
          </a:p>
          <a:p>
            <a:r>
              <a:rPr lang="en-GB" b="1" dirty="0"/>
              <a:t>Sliding Window Protocol:</a:t>
            </a:r>
            <a:endParaRPr lang="en-GB" dirty="0"/>
          </a:p>
          <a:p>
            <a:pPr lvl="1"/>
            <a:r>
              <a:rPr lang="en-GB" b="1" dirty="0"/>
              <a:t>Definition:</a:t>
            </a:r>
            <a:r>
              <a:rPr lang="en-GB" dirty="0"/>
              <a:t> Allows multiple data segments to be in transit simultaneously between sender and receiver.</a:t>
            </a:r>
          </a:p>
          <a:p>
            <a:pPr lvl="1"/>
            <a:r>
              <a:rPr lang="en-GB" b="1" dirty="0"/>
              <a:t>Sender Side:</a:t>
            </a:r>
            <a:r>
              <a:rPr lang="en-GB" dirty="0"/>
              <a:t> Maintains a congestion window to control the number of unacknowledged segments transmitted at any time.</a:t>
            </a:r>
          </a:p>
          <a:p>
            <a:pPr lvl="1"/>
            <a:r>
              <a:rPr lang="en-GB" b="1" dirty="0"/>
              <a:t>Receiver Side:</a:t>
            </a:r>
            <a:r>
              <a:rPr lang="en-GB" dirty="0"/>
              <a:t> Adjusts the receiver window size to inform the sender about the amount of data it can accept.</a:t>
            </a:r>
          </a:p>
          <a:p>
            <a:endParaRPr lang="en-US" dirty="0"/>
          </a:p>
        </p:txBody>
      </p:sp>
    </p:spTree>
    <p:extLst>
      <p:ext uri="{BB962C8B-B14F-4D97-AF65-F5344CB8AC3E}">
        <p14:creationId xmlns:p14="http://schemas.microsoft.com/office/powerpoint/2010/main" val="427526694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92966"/>
          </a:xfrm>
        </p:spPr>
        <p:txBody>
          <a:bodyPr>
            <a:normAutofit fontScale="90000"/>
          </a:bodyPr>
          <a:lstStyle/>
          <a:p>
            <a:r>
              <a:rPr lang="en-GB" dirty="0" smtClean="0"/>
              <a:t>Cont..</a:t>
            </a:r>
            <a:endParaRPr lang="en-US" dirty="0"/>
          </a:p>
        </p:txBody>
      </p:sp>
      <p:sp>
        <p:nvSpPr>
          <p:cNvPr id="3" name="Content Placeholder 2"/>
          <p:cNvSpPr>
            <a:spLocks noGrp="1"/>
          </p:cNvSpPr>
          <p:nvPr>
            <p:ph idx="1"/>
          </p:nvPr>
        </p:nvSpPr>
        <p:spPr>
          <a:xfrm>
            <a:off x="838200" y="1058092"/>
            <a:ext cx="10515600" cy="5118871"/>
          </a:xfrm>
        </p:spPr>
        <p:txBody>
          <a:bodyPr/>
          <a:lstStyle/>
          <a:p>
            <a:r>
              <a:rPr lang="en-GB" b="1" dirty="0" smtClean="0"/>
              <a:t>Buffering</a:t>
            </a:r>
            <a:r>
              <a:rPr lang="en-GB" b="1" dirty="0"/>
              <a:t>:</a:t>
            </a:r>
            <a:endParaRPr lang="en-GB" dirty="0"/>
          </a:p>
          <a:p>
            <a:pPr lvl="1"/>
            <a:r>
              <a:rPr lang="en-GB" b="1" dirty="0"/>
              <a:t>Definition:</a:t>
            </a:r>
            <a:r>
              <a:rPr lang="en-GB" dirty="0"/>
              <a:t> Uses buffers (memory storage) at both sender and receiver ends to temporarily hold data during transmission.</a:t>
            </a:r>
          </a:p>
          <a:p>
            <a:pPr lvl="1"/>
            <a:r>
              <a:rPr lang="en-GB" b="1" dirty="0"/>
              <a:t>Purpose:</a:t>
            </a:r>
            <a:r>
              <a:rPr lang="en-GB" dirty="0"/>
              <a:t> Compensates for differences in data processing speeds between sender and receiver and accommodates variations in network conditions.</a:t>
            </a:r>
          </a:p>
          <a:p>
            <a:endParaRPr lang="en-US" dirty="0"/>
          </a:p>
        </p:txBody>
      </p:sp>
    </p:spTree>
    <p:extLst>
      <p:ext uri="{BB962C8B-B14F-4D97-AF65-F5344CB8AC3E}">
        <p14:creationId xmlns:p14="http://schemas.microsoft.com/office/powerpoint/2010/main" val="188354529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01526"/>
          </a:xfrm>
        </p:spPr>
        <p:txBody>
          <a:bodyPr>
            <a:normAutofit fontScale="90000"/>
          </a:bodyPr>
          <a:lstStyle/>
          <a:p>
            <a:r>
              <a:rPr lang="en-US" b="1" dirty="0"/>
              <a:t>4. Error Handling and Retransmission:</a:t>
            </a:r>
            <a:endParaRPr lang="en-US" dirty="0"/>
          </a:p>
        </p:txBody>
      </p:sp>
      <p:sp>
        <p:nvSpPr>
          <p:cNvPr id="3" name="Content Placeholder 2"/>
          <p:cNvSpPr>
            <a:spLocks noGrp="1"/>
          </p:cNvSpPr>
          <p:nvPr>
            <p:ph idx="1"/>
          </p:nvPr>
        </p:nvSpPr>
        <p:spPr>
          <a:xfrm>
            <a:off x="838200" y="966652"/>
            <a:ext cx="10515600" cy="5747657"/>
          </a:xfrm>
        </p:spPr>
        <p:txBody>
          <a:bodyPr>
            <a:normAutofit lnSpcReduction="10000"/>
          </a:bodyPr>
          <a:lstStyle/>
          <a:p>
            <a:r>
              <a:rPr lang="en-GB" b="1" dirty="0"/>
              <a:t>Purpose:</a:t>
            </a:r>
            <a:r>
              <a:rPr lang="en-GB" dirty="0"/>
              <a:t> </a:t>
            </a:r>
            <a:endParaRPr lang="en-GB" dirty="0" smtClean="0"/>
          </a:p>
          <a:p>
            <a:r>
              <a:rPr lang="en-GB" dirty="0" smtClean="0"/>
              <a:t>Ensures </a:t>
            </a:r>
            <a:r>
              <a:rPr lang="en-GB" dirty="0"/>
              <a:t>reliable delivery of data by detecting errors and retransmitting lost or corrupted segments.</a:t>
            </a:r>
          </a:p>
          <a:p>
            <a:r>
              <a:rPr lang="en-GB" b="1" dirty="0"/>
              <a:t>Key Points:</a:t>
            </a:r>
            <a:endParaRPr lang="en-GB" dirty="0"/>
          </a:p>
          <a:p>
            <a:pPr lvl="1"/>
            <a:r>
              <a:rPr lang="en-GB" b="1" dirty="0"/>
              <a:t>Acknowledgments (ACKs):</a:t>
            </a:r>
            <a:endParaRPr lang="en-GB" dirty="0"/>
          </a:p>
          <a:p>
            <a:pPr lvl="2"/>
            <a:r>
              <a:rPr lang="en-GB" b="1" dirty="0"/>
              <a:t>Definition:</a:t>
            </a:r>
            <a:r>
              <a:rPr lang="en-GB" dirty="0"/>
              <a:t> Sent by the receiver to confirm successful receipt of data segments.</a:t>
            </a:r>
          </a:p>
          <a:p>
            <a:pPr lvl="2"/>
            <a:r>
              <a:rPr lang="en-GB" b="1" dirty="0"/>
              <a:t>Timeout Mechanism:</a:t>
            </a:r>
            <a:r>
              <a:rPr lang="en-GB" dirty="0"/>
              <a:t> If ACKs are not received within a specified timeout period, the sender assumes the segment is lost and retransmits it.</a:t>
            </a:r>
          </a:p>
          <a:p>
            <a:r>
              <a:rPr lang="en-GB" b="1" dirty="0"/>
              <a:t>Selective Repeat and Go-Back-N ARQ:</a:t>
            </a:r>
            <a:endParaRPr lang="en-GB" dirty="0"/>
          </a:p>
          <a:p>
            <a:pPr lvl="1"/>
            <a:r>
              <a:rPr lang="en-GB" b="1" dirty="0"/>
              <a:t>Definitions:</a:t>
            </a:r>
            <a:endParaRPr lang="en-GB" dirty="0"/>
          </a:p>
          <a:p>
            <a:pPr lvl="2"/>
            <a:r>
              <a:rPr lang="en-GB" b="1" dirty="0"/>
              <a:t>Selective Repeat:</a:t>
            </a:r>
            <a:r>
              <a:rPr lang="en-GB" dirty="0"/>
              <a:t> Retransmits only the lost segments, minimizing retransmission overhead.</a:t>
            </a:r>
          </a:p>
          <a:p>
            <a:pPr lvl="2"/>
            <a:r>
              <a:rPr lang="en-GB" b="1" dirty="0"/>
              <a:t>Go-Back-N:</a:t>
            </a:r>
            <a:r>
              <a:rPr lang="en-GB" dirty="0"/>
              <a:t> Retransmits all segments from the lost segment onward, simplifying the implementation but potentially wasting network resources.</a:t>
            </a:r>
          </a:p>
          <a:p>
            <a:r>
              <a:rPr lang="en-GB" dirty="0"/>
              <a:t/>
            </a:r>
            <a:br>
              <a:rPr lang="en-GB" dirty="0"/>
            </a:br>
            <a:endParaRPr lang="en-US" dirty="0"/>
          </a:p>
        </p:txBody>
      </p:sp>
    </p:spTree>
    <p:extLst>
      <p:ext uri="{BB962C8B-B14F-4D97-AF65-F5344CB8AC3E}">
        <p14:creationId xmlns:p14="http://schemas.microsoft.com/office/powerpoint/2010/main" val="165845042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32155"/>
          </a:xfrm>
        </p:spPr>
        <p:txBody>
          <a:bodyPr/>
          <a:lstStyle/>
          <a:p>
            <a:r>
              <a:rPr lang="en-GB" dirty="0" smtClean="0"/>
              <a:t>Cont..</a:t>
            </a:r>
            <a:endParaRPr lang="en-US" dirty="0"/>
          </a:p>
        </p:txBody>
      </p:sp>
      <p:sp>
        <p:nvSpPr>
          <p:cNvPr id="3" name="Content Placeholder 2"/>
          <p:cNvSpPr>
            <a:spLocks noGrp="1"/>
          </p:cNvSpPr>
          <p:nvPr>
            <p:ph idx="1"/>
          </p:nvPr>
        </p:nvSpPr>
        <p:spPr>
          <a:xfrm>
            <a:off x="838200" y="1097280"/>
            <a:ext cx="10515600" cy="5079683"/>
          </a:xfrm>
        </p:spPr>
        <p:txBody>
          <a:bodyPr/>
          <a:lstStyle/>
          <a:p>
            <a:r>
              <a:rPr lang="en-GB" dirty="0"/>
              <a:t>Addressing, connection establishment and release, flow control, and buffering are integral elements of transport protocols like TCP and UDP. </a:t>
            </a:r>
            <a:endParaRPr lang="en-GB" dirty="0" smtClean="0"/>
          </a:p>
          <a:p>
            <a:r>
              <a:rPr lang="en-GB" dirty="0" smtClean="0"/>
              <a:t>They </a:t>
            </a:r>
            <a:r>
              <a:rPr lang="en-GB" dirty="0"/>
              <a:t>ensure efficient, reliable, and secure communication between devices across networks, accommodating varying application requirements and network conditions. </a:t>
            </a:r>
            <a:endParaRPr lang="en-GB" dirty="0" smtClean="0"/>
          </a:p>
          <a:p>
            <a:r>
              <a:rPr lang="en-GB" dirty="0" smtClean="0"/>
              <a:t>By </a:t>
            </a:r>
            <a:r>
              <a:rPr lang="en-GB" dirty="0"/>
              <a:t>effectively managing these elements, transport protocols facilitate seamless data transmission and optimize network performance, supporting a wide range of applications and services in modern networking environments.</a:t>
            </a:r>
            <a:endParaRPr lang="en-US" dirty="0"/>
          </a:p>
        </p:txBody>
      </p:sp>
    </p:spTree>
    <p:extLst>
      <p:ext uri="{BB962C8B-B14F-4D97-AF65-F5344CB8AC3E}">
        <p14:creationId xmlns:p14="http://schemas.microsoft.com/office/powerpoint/2010/main" val="39832034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01972"/>
          </a:xfrm>
        </p:spPr>
        <p:txBody>
          <a:bodyPr/>
          <a:lstStyle/>
          <a:p>
            <a:r>
              <a:rPr lang="en-GB" dirty="0" smtClean="0"/>
              <a:t>Transport Layer Protocols </a:t>
            </a:r>
            <a:endParaRPr lang="en-US" dirty="0"/>
          </a:p>
        </p:txBody>
      </p:sp>
      <p:sp>
        <p:nvSpPr>
          <p:cNvPr id="3" name="Content Placeholder 2"/>
          <p:cNvSpPr>
            <a:spLocks noGrp="1"/>
          </p:cNvSpPr>
          <p:nvPr>
            <p:ph idx="1"/>
          </p:nvPr>
        </p:nvSpPr>
        <p:spPr>
          <a:xfrm>
            <a:off x="838200" y="1267098"/>
            <a:ext cx="10515600" cy="4909865"/>
          </a:xfrm>
        </p:spPr>
        <p:txBody>
          <a:bodyPr/>
          <a:lstStyle/>
          <a:p>
            <a:r>
              <a:rPr lang="en-GB" dirty="0"/>
              <a:t>The </a:t>
            </a:r>
            <a:r>
              <a:rPr lang="en-GB" dirty="0" smtClean="0"/>
              <a:t>transport </a:t>
            </a:r>
            <a:r>
              <a:rPr lang="en-GB" dirty="0"/>
              <a:t>layer is represented majorly by TCP and UDP protocols</a:t>
            </a:r>
            <a:r>
              <a:rPr lang="en-GB" dirty="0" smtClean="0"/>
              <a:t>.</a:t>
            </a:r>
          </a:p>
          <a:p>
            <a:r>
              <a:rPr lang="en-GB" dirty="0" smtClean="0"/>
              <a:t> </a:t>
            </a:r>
            <a:r>
              <a:rPr lang="en-GB" dirty="0"/>
              <a:t>This transport layer protocol provides connections to the individual ports. </a:t>
            </a:r>
            <a:endParaRPr lang="en-GB" dirty="0" smtClean="0"/>
          </a:p>
          <a:p>
            <a:r>
              <a:rPr lang="en-GB" dirty="0" smtClean="0"/>
              <a:t>These </a:t>
            </a:r>
            <a:r>
              <a:rPr lang="en-GB" dirty="0"/>
              <a:t>ports are known as protocol ports. </a:t>
            </a:r>
            <a:endParaRPr lang="en-GB" dirty="0" smtClean="0"/>
          </a:p>
          <a:p>
            <a:r>
              <a:rPr lang="en-GB" dirty="0" smtClean="0"/>
              <a:t>Transport </a:t>
            </a:r>
            <a:r>
              <a:rPr lang="en-GB" dirty="0"/>
              <a:t>layer protocols work above the IP protocols and deliver the data packets from IP serves to destination port and from the originating port to destination IP services. </a:t>
            </a:r>
            <a:endParaRPr lang="en-GB" dirty="0" smtClean="0"/>
          </a:p>
          <a:p>
            <a:endParaRPr lang="en-US" dirty="0"/>
          </a:p>
        </p:txBody>
      </p:sp>
    </p:spTree>
    <p:extLst>
      <p:ext uri="{BB962C8B-B14F-4D97-AF65-F5344CB8AC3E}">
        <p14:creationId xmlns:p14="http://schemas.microsoft.com/office/powerpoint/2010/main" val="390860152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744583"/>
          </a:xfrm>
        </p:spPr>
        <p:txBody>
          <a:bodyPr/>
          <a:lstStyle/>
          <a:p>
            <a:r>
              <a:rPr lang="en-GB" dirty="0" smtClean="0"/>
              <a:t>TCP-Transmission Control Protocol</a:t>
            </a:r>
            <a:endParaRPr lang="en-US" dirty="0"/>
          </a:p>
        </p:txBody>
      </p:sp>
      <p:sp>
        <p:nvSpPr>
          <p:cNvPr id="3" name="Content Placeholder 2"/>
          <p:cNvSpPr>
            <a:spLocks noGrp="1"/>
          </p:cNvSpPr>
          <p:nvPr>
            <p:ph idx="1"/>
          </p:nvPr>
        </p:nvSpPr>
        <p:spPr>
          <a:xfrm>
            <a:off x="838200" y="744582"/>
            <a:ext cx="10515600" cy="5956663"/>
          </a:xfrm>
        </p:spPr>
        <p:txBody>
          <a:bodyPr>
            <a:normAutofit fontScale="92500" lnSpcReduction="20000"/>
          </a:bodyPr>
          <a:lstStyle/>
          <a:p>
            <a:pPr fontAlgn="base"/>
            <a:r>
              <a:rPr lang="en-GB" dirty="0"/>
              <a:t>TCP stands for </a:t>
            </a:r>
            <a:r>
              <a:rPr lang="en-GB" u="sng" dirty="0">
                <a:hlinkClick r:id="rId2"/>
              </a:rPr>
              <a:t>Transmission Control Protocol.</a:t>
            </a:r>
            <a:r>
              <a:rPr lang="en-GB" dirty="0"/>
              <a:t> </a:t>
            </a:r>
            <a:endParaRPr lang="en-GB" dirty="0" smtClean="0"/>
          </a:p>
          <a:p>
            <a:pPr fontAlgn="base"/>
            <a:r>
              <a:rPr lang="en-GB" dirty="0" smtClean="0"/>
              <a:t>TCP </a:t>
            </a:r>
            <a:r>
              <a:rPr lang="en-GB" dirty="0"/>
              <a:t>protocol provides transport layer services to applications. </a:t>
            </a:r>
            <a:endParaRPr lang="en-GB" dirty="0" smtClean="0"/>
          </a:p>
          <a:p>
            <a:pPr fontAlgn="base"/>
            <a:r>
              <a:rPr lang="en-GB" dirty="0" smtClean="0"/>
              <a:t>TCP </a:t>
            </a:r>
            <a:r>
              <a:rPr lang="en-GB" dirty="0"/>
              <a:t>protocol is a connection-oriented protocol. </a:t>
            </a:r>
            <a:endParaRPr lang="en-GB" dirty="0" smtClean="0"/>
          </a:p>
          <a:p>
            <a:pPr fontAlgn="base"/>
            <a:r>
              <a:rPr lang="en-GB" dirty="0" smtClean="0"/>
              <a:t>A </a:t>
            </a:r>
            <a:r>
              <a:rPr lang="en-GB" dirty="0"/>
              <a:t>secured connection is being established between the sender and the receiver</a:t>
            </a:r>
            <a:r>
              <a:rPr lang="en-GB" dirty="0" smtClean="0"/>
              <a:t>.</a:t>
            </a:r>
          </a:p>
          <a:p>
            <a:pPr fontAlgn="base"/>
            <a:r>
              <a:rPr lang="en-GB" dirty="0" smtClean="0"/>
              <a:t> </a:t>
            </a:r>
            <a:r>
              <a:rPr lang="en-GB" dirty="0"/>
              <a:t>For a generation of a secured connection, a virtual circuit is generated between the sender and the receiver. </a:t>
            </a:r>
            <a:endParaRPr lang="en-GB" dirty="0" smtClean="0"/>
          </a:p>
          <a:p>
            <a:pPr fontAlgn="base"/>
            <a:r>
              <a:rPr lang="en-GB" dirty="0" smtClean="0"/>
              <a:t>The </a:t>
            </a:r>
            <a:r>
              <a:rPr lang="en-GB" dirty="0"/>
              <a:t>data transmitted by TCP protocol is in the form of continuous byte streams</a:t>
            </a:r>
            <a:r>
              <a:rPr lang="en-GB" dirty="0" smtClean="0"/>
              <a:t>.</a:t>
            </a:r>
          </a:p>
          <a:p>
            <a:pPr fontAlgn="base"/>
            <a:r>
              <a:rPr lang="en-GB" dirty="0" smtClean="0"/>
              <a:t> </a:t>
            </a:r>
            <a:r>
              <a:rPr lang="en-GB" dirty="0"/>
              <a:t>A unique sequence number is assigned to each byte. </a:t>
            </a:r>
            <a:endParaRPr lang="en-GB" dirty="0" smtClean="0"/>
          </a:p>
          <a:p>
            <a:pPr fontAlgn="base"/>
            <a:r>
              <a:rPr lang="en-GB" dirty="0" smtClean="0"/>
              <a:t>With </a:t>
            </a:r>
            <a:r>
              <a:rPr lang="en-GB" dirty="0"/>
              <a:t>the help of this unique number, a positive acknowledgment is received from receipt</a:t>
            </a:r>
            <a:r>
              <a:rPr lang="en-GB" dirty="0" smtClean="0"/>
              <a:t>.</a:t>
            </a:r>
          </a:p>
          <a:p>
            <a:pPr fontAlgn="base"/>
            <a:r>
              <a:rPr lang="en-GB" dirty="0" smtClean="0"/>
              <a:t> </a:t>
            </a:r>
            <a:r>
              <a:rPr lang="en-GB" dirty="0"/>
              <a:t>If the acknowledgment is not received within a specific period the data is retransmitted to the specified destination.</a:t>
            </a:r>
          </a:p>
          <a:p>
            <a:r>
              <a:rPr lang="en-GB" dirty="0" smtClean="0"/>
              <a:t/>
            </a:r>
            <a:br>
              <a:rPr lang="en-GB" dirty="0" smtClean="0"/>
            </a:br>
            <a:endParaRPr lang="en-US" dirty="0"/>
          </a:p>
        </p:txBody>
      </p:sp>
    </p:spTree>
    <p:extLst>
      <p:ext uri="{BB962C8B-B14F-4D97-AF65-F5344CB8AC3E}">
        <p14:creationId xmlns:p14="http://schemas.microsoft.com/office/powerpoint/2010/main" val="387000073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596849" y="796925"/>
            <a:ext cx="8998302" cy="5380038"/>
          </a:xfrm>
          <a:prstGeom prst="rect">
            <a:avLst/>
          </a:prstGeom>
        </p:spPr>
      </p:pic>
    </p:spTree>
    <p:extLst>
      <p:ext uri="{BB962C8B-B14F-4D97-AF65-F5344CB8AC3E}">
        <p14:creationId xmlns:p14="http://schemas.microsoft.com/office/powerpoint/2010/main" val="330075806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19092"/>
          </a:xfrm>
        </p:spPr>
        <p:txBody>
          <a:bodyPr>
            <a:normAutofit fontScale="90000"/>
          </a:bodyPr>
          <a:lstStyle/>
          <a:p>
            <a:r>
              <a:rPr lang="en-US" b="1" dirty="0" smtClean="0"/>
              <a:t/>
            </a:r>
            <a:br>
              <a:rPr lang="en-US" b="1" dirty="0" smtClean="0"/>
            </a:br>
            <a:r>
              <a:rPr lang="en-US" b="1" dirty="0" smtClean="0"/>
              <a:t>TCP </a:t>
            </a:r>
            <a:r>
              <a:rPr lang="en-US" b="1" dirty="0"/>
              <a:t>Segment</a:t>
            </a:r>
            <a:br>
              <a:rPr lang="en-US" b="1" dirty="0"/>
            </a:br>
            <a:endParaRPr lang="en-US" dirty="0"/>
          </a:p>
        </p:txBody>
      </p:sp>
      <p:sp>
        <p:nvSpPr>
          <p:cNvPr id="3" name="Content Placeholder 2"/>
          <p:cNvSpPr>
            <a:spLocks noGrp="1"/>
          </p:cNvSpPr>
          <p:nvPr>
            <p:ph idx="1"/>
          </p:nvPr>
        </p:nvSpPr>
        <p:spPr>
          <a:xfrm>
            <a:off x="838200" y="1084218"/>
            <a:ext cx="10515600" cy="5092745"/>
          </a:xfrm>
        </p:spPr>
        <p:txBody>
          <a:bodyPr/>
          <a:lstStyle/>
          <a:p>
            <a:r>
              <a:rPr lang="en-GB" dirty="0"/>
              <a:t>A TCP segment's header may have 20–60 bytes. </a:t>
            </a:r>
            <a:endParaRPr lang="en-GB" dirty="0" smtClean="0"/>
          </a:p>
          <a:p>
            <a:r>
              <a:rPr lang="en-GB" dirty="0" smtClean="0"/>
              <a:t>The </a:t>
            </a:r>
            <a:r>
              <a:rPr lang="en-GB" dirty="0"/>
              <a:t>options take about 40 bytes. </a:t>
            </a:r>
            <a:endParaRPr lang="en-GB" dirty="0" smtClean="0"/>
          </a:p>
          <a:p>
            <a:r>
              <a:rPr lang="en-GB" dirty="0" smtClean="0"/>
              <a:t>A </a:t>
            </a:r>
            <a:r>
              <a:rPr lang="en-GB" dirty="0"/>
              <a:t>header consists of 20 bytes by default, although it can contain up to 60 bytes.</a:t>
            </a:r>
            <a:endParaRPr lang="en-US" dirty="0"/>
          </a:p>
        </p:txBody>
      </p:sp>
    </p:spTree>
    <p:extLst>
      <p:ext uri="{BB962C8B-B14F-4D97-AF65-F5344CB8AC3E}">
        <p14:creationId xmlns:p14="http://schemas.microsoft.com/office/powerpoint/2010/main" val="120889358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365760" y="365760"/>
            <a:ext cx="11051177" cy="6296297"/>
          </a:xfrm>
          <a:prstGeom prst="rect">
            <a:avLst/>
          </a:prstGeom>
        </p:spPr>
      </p:pic>
    </p:spTree>
    <p:extLst>
      <p:ext uri="{BB962C8B-B14F-4D97-AF65-F5344CB8AC3E}">
        <p14:creationId xmlns:p14="http://schemas.microsoft.com/office/powerpoint/2010/main" val="172014533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71344"/>
          </a:xfrm>
        </p:spPr>
        <p:txBody>
          <a:bodyPr/>
          <a:lstStyle/>
          <a:p>
            <a:r>
              <a:rPr lang="en-GB" dirty="0" smtClean="0"/>
              <a:t>Cont..</a:t>
            </a:r>
            <a:endParaRPr lang="en-US" dirty="0"/>
          </a:p>
        </p:txBody>
      </p:sp>
      <p:sp>
        <p:nvSpPr>
          <p:cNvPr id="3" name="Content Placeholder 2"/>
          <p:cNvSpPr>
            <a:spLocks noGrp="1"/>
          </p:cNvSpPr>
          <p:nvPr>
            <p:ph idx="1"/>
          </p:nvPr>
        </p:nvSpPr>
        <p:spPr>
          <a:xfrm>
            <a:off x="838200" y="1031966"/>
            <a:ext cx="10515600" cy="5144997"/>
          </a:xfrm>
        </p:spPr>
        <p:txBody>
          <a:bodyPr/>
          <a:lstStyle/>
          <a:p>
            <a:pPr fontAlgn="base"/>
            <a:r>
              <a:rPr lang="en-GB" b="1" dirty="0"/>
              <a:t>Source Port Address: </a:t>
            </a:r>
            <a:r>
              <a:rPr lang="en-GB" dirty="0"/>
              <a:t>The port address of the programme sending the data segment is stored in the 16-bit field known as the source port address.</a:t>
            </a:r>
          </a:p>
          <a:p>
            <a:pPr fontAlgn="base"/>
            <a:r>
              <a:rPr lang="en-GB" b="1" dirty="0"/>
              <a:t>Destination Port Address: </a:t>
            </a:r>
            <a:r>
              <a:rPr lang="en-GB" dirty="0"/>
              <a:t>The port address of the application running on the host receiving the data segment is stored in the destination port address, a 16-bit field.</a:t>
            </a:r>
          </a:p>
          <a:p>
            <a:pPr fontAlgn="base"/>
            <a:r>
              <a:rPr lang="en-GB" b="1" dirty="0"/>
              <a:t>Sequence Number: </a:t>
            </a:r>
            <a:r>
              <a:rPr lang="en-GB" dirty="0"/>
              <a:t>The sequence number, or the byte number of the first byte sent in that specific segment, is stored in a 32-bit field. At the receiving end, it is used to put the message back together once it has been received out of sequence.</a:t>
            </a:r>
          </a:p>
          <a:p>
            <a:endParaRPr lang="en-US" dirty="0"/>
          </a:p>
        </p:txBody>
      </p:sp>
    </p:spTree>
    <p:extLst>
      <p:ext uri="{BB962C8B-B14F-4D97-AF65-F5344CB8AC3E}">
        <p14:creationId xmlns:p14="http://schemas.microsoft.com/office/powerpoint/2010/main" val="95868885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06029"/>
          </a:xfrm>
        </p:spPr>
        <p:txBody>
          <a:bodyPr/>
          <a:lstStyle/>
          <a:p>
            <a:r>
              <a:rPr lang="en-GB" dirty="0" smtClean="0"/>
              <a:t>Cont..</a:t>
            </a:r>
            <a:endParaRPr lang="en-US" dirty="0"/>
          </a:p>
        </p:txBody>
      </p:sp>
      <p:sp>
        <p:nvSpPr>
          <p:cNvPr id="3" name="Content Placeholder 2"/>
          <p:cNvSpPr>
            <a:spLocks noGrp="1"/>
          </p:cNvSpPr>
          <p:nvPr>
            <p:ph idx="1"/>
          </p:nvPr>
        </p:nvSpPr>
        <p:spPr>
          <a:xfrm>
            <a:off x="838200" y="1071154"/>
            <a:ext cx="10515600" cy="5643155"/>
          </a:xfrm>
        </p:spPr>
        <p:txBody>
          <a:bodyPr>
            <a:normAutofit lnSpcReduction="10000"/>
          </a:bodyPr>
          <a:lstStyle/>
          <a:p>
            <a:pPr fontAlgn="base"/>
            <a:r>
              <a:rPr lang="en-GB" b="1" dirty="0"/>
              <a:t>Acknowledgement Number</a:t>
            </a:r>
            <a:r>
              <a:rPr lang="en-GB" dirty="0"/>
              <a:t> : </a:t>
            </a:r>
            <a:endParaRPr lang="en-GB" dirty="0" smtClean="0"/>
          </a:p>
          <a:p>
            <a:pPr fontAlgn="base"/>
            <a:r>
              <a:rPr lang="en-GB" dirty="0" smtClean="0"/>
              <a:t>The </a:t>
            </a:r>
            <a:r>
              <a:rPr lang="en-GB" dirty="0"/>
              <a:t>acknowledgement number, or the byte number that the recipient anticipates receiving next, is stored in a 32-bit field called the acknowledgement number. </a:t>
            </a:r>
            <a:endParaRPr lang="en-GB" dirty="0" smtClean="0"/>
          </a:p>
          <a:p>
            <a:pPr fontAlgn="base"/>
            <a:r>
              <a:rPr lang="en-GB" dirty="0" smtClean="0"/>
              <a:t>It </a:t>
            </a:r>
            <a:r>
              <a:rPr lang="en-GB" dirty="0"/>
              <a:t>serves as a confirmation that the earlier bytes were successfully received.</a:t>
            </a:r>
          </a:p>
          <a:p>
            <a:pPr fontAlgn="base"/>
            <a:r>
              <a:rPr lang="en-GB" b="1" dirty="0"/>
              <a:t>Header Length (HLEN): </a:t>
            </a:r>
            <a:endParaRPr lang="en-GB" b="1" dirty="0" smtClean="0"/>
          </a:p>
          <a:p>
            <a:pPr fontAlgn="base"/>
            <a:r>
              <a:rPr lang="en-GB" dirty="0" smtClean="0"/>
              <a:t>This </a:t>
            </a:r>
            <a:r>
              <a:rPr lang="en-GB" dirty="0"/>
              <a:t>4-bit field stores the number of 4-byte words in the TCP header, indicating how long the header is. </a:t>
            </a:r>
            <a:endParaRPr lang="en-GB" dirty="0" smtClean="0"/>
          </a:p>
          <a:p>
            <a:pPr fontAlgn="base"/>
            <a:r>
              <a:rPr lang="en-GB" dirty="0" smtClean="0"/>
              <a:t>For </a:t>
            </a:r>
            <a:r>
              <a:rPr lang="en-GB" dirty="0"/>
              <a:t>example, if the header is 20 bytes (the minimum length of the TCP header), this field will store 5 because 5 x 4 = 20, and if the header is 60 bytes (the maximum length), it will store 15 because 15 x 4 = 60. As a result, this field's value is always between 5 and 15.</a:t>
            </a:r>
          </a:p>
          <a:p>
            <a:endParaRPr lang="en-US" dirty="0"/>
          </a:p>
        </p:txBody>
      </p:sp>
    </p:spTree>
    <p:extLst>
      <p:ext uri="{BB962C8B-B14F-4D97-AF65-F5344CB8AC3E}">
        <p14:creationId xmlns:p14="http://schemas.microsoft.com/office/powerpoint/2010/main" val="244970132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97469"/>
          </a:xfrm>
        </p:spPr>
        <p:txBody>
          <a:bodyPr/>
          <a:lstStyle/>
          <a:p>
            <a:r>
              <a:rPr lang="en-GB" dirty="0" smtClean="0"/>
              <a:t>Cont..</a:t>
            </a:r>
            <a:endParaRPr lang="en-US" dirty="0"/>
          </a:p>
        </p:txBody>
      </p:sp>
      <p:sp>
        <p:nvSpPr>
          <p:cNvPr id="3" name="Content Placeholder 2"/>
          <p:cNvSpPr>
            <a:spLocks noGrp="1"/>
          </p:cNvSpPr>
          <p:nvPr>
            <p:ph idx="1"/>
          </p:nvPr>
        </p:nvSpPr>
        <p:spPr>
          <a:xfrm>
            <a:off x="838200" y="1162594"/>
            <a:ext cx="10515600" cy="5014369"/>
          </a:xfrm>
        </p:spPr>
        <p:txBody>
          <a:bodyPr/>
          <a:lstStyle/>
          <a:p>
            <a:pPr fontAlgn="base"/>
            <a:r>
              <a:rPr lang="en-GB" b="1" dirty="0"/>
              <a:t>Control flags: </a:t>
            </a:r>
            <a:r>
              <a:rPr lang="en-GB" dirty="0"/>
              <a:t>These are six 1-bit control bits that regulate flow control, method of transfer, connection abortion, termination, and establishment. They serve the following purposes:</a:t>
            </a:r>
          </a:p>
          <a:p>
            <a:pPr lvl="1" fontAlgn="base"/>
            <a:r>
              <a:rPr lang="en-GB" b="1" dirty="0"/>
              <a:t>Urgent:</a:t>
            </a:r>
            <a:r>
              <a:rPr lang="en-GB" dirty="0"/>
              <a:t> This pointer is legitimate</a:t>
            </a:r>
          </a:p>
          <a:p>
            <a:pPr lvl="1" fontAlgn="base"/>
            <a:r>
              <a:rPr lang="en-GB" b="1" dirty="0"/>
              <a:t>ACK:</a:t>
            </a:r>
            <a:r>
              <a:rPr lang="en-GB" dirty="0"/>
              <a:t> The acknowledgement number (used in cumulative acknowledgement cases) is valid.</a:t>
            </a:r>
          </a:p>
          <a:p>
            <a:pPr lvl="1" fontAlgn="base"/>
            <a:r>
              <a:rPr lang="en-GB" b="1" dirty="0"/>
              <a:t>PSH:</a:t>
            </a:r>
            <a:r>
              <a:rPr lang="en-GB" dirty="0"/>
              <a:t> Push request</a:t>
            </a:r>
          </a:p>
          <a:p>
            <a:pPr lvl="1" fontAlgn="base"/>
            <a:r>
              <a:rPr lang="en-GB" b="1" dirty="0"/>
              <a:t>RST: </a:t>
            </a:r>
            <a:r>
              <a:rPr lang="en-GB" dirty="0"/>
              <a:t>Restart the link.</a:t>
            </a:r>
          </a:p>
          <a:p>
            <a:pPr lvl="1" fontAlgn="base"/>
            <a:r>
              <a:rPr lang="en-GB" dirty="0"/>
              <a:t>SYN: Sequence number synchronisation</a:t>
            </a:r>
          </a:p>
          <a:p>
            <a:pPr lvl="1" fontAlgn="base"/>
            <a:r>
              <a:rPr lang="en-GB" b="1" dirty="0"/>
              <a:t>FIN:</a:t>
            </a:r>
            <a:r>
              <a:rPr lang="en-GB" dirty="0"/>
              <a:t> Cut off the communication</a:t>
            </a:r>
          </a:p>
          <a:p>
            <a:pPr lvl="1" fontAlgn="base"/>
            <a:r>
              <a:rPr lang="en-GB" b="1" dirty="0"/>
              <a:t>Window size: </a:t>
            </a:r>
            <a:r>
              <a:rPr lang="en-GB" dirty="0"/>
              <a:t>This parameter provides the sender TCP's window size in bytes.</a:t>
            </a:r>
          </a:p>
          <a:p>
            <a:endParaRPr lang="en-US" dirty="0"/>
          </a:p>
        </p:txBody>
      </p:sp>
    </p:spTree>
    <p:extLst>
      <p:ext uri="{BB962C8B-B14F-4D97-AF65-F5344CB8AC3E}">
        <p14:creationId xmlns:p14="http://schemas.microsoft.com/office/powerpoint/2010/main" val="394965522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92966"/>
          </a:xfrm>
        </p:spPr>
        <p:txBody>
          <a:bodyPr>
            <a:normAutofit fontScale="90000"/>
          </a:bodyPr>
          <a:lstStyle/>
          <a:p>
            <a:r>
              <a:rPr lang="en-GB" dirty="0" smtClean="0"/>
              <a:t>Cont..</a:t>
            </a:r>
            <a:endParaRPr lang="en-US" dirty="0"/>
          </a:p>
        </p:txBody>
      </p:sp>
      <p:sp>
        <p:nvSpPr>
          <p:cNvPr id="3" name="Content Placeholder 2"/>
          <p:cNvSpPr>
            <a:spLocks noGrp="1"/>
          </p:cNvSpPr>
          <p:nvPr>
            <p:ph idx="1"/>
          </p:nvPr>
        </p:nvSpPr>
        <p:spPr>
          <a:xfrm>
            <a:off x="838200" y="1058092"/>
            <a:ext cx="10515600" cy="5118871"/>
          </a:xfrm>
        </p:spPr>
        <p:txBody>
          <a:bodyPr/>
          <a:lstStyle/>
          <a:p>
            <a:pPr fontAlgn="base"/>
            <a:r>
              <a:rPr lang="en-GB" b="1" dirty="0" smtClean="0"/>
              <a:t>Checksum</a:t>
            </a:r>
            <a:r>
              <a:rPr lang="en-GB" b="1" dirty="0"/>
              <a:t>:</a:t>
            </a:r>
            <a:r>
              <a:rPr lang="en-GB" dirty="0"/>
              <a:t> The checksum for error control is stored in this field. Unlike UDP, it is required for TCP.</a:t>
            </a:r>
          </a:p>
          <a:p>
            <a:pPr fontAlgn="base"/>
            <a:r>
              <a:rPr lang="en-GB" b="1" dirty="0"/>
              <a:t>Urgent pointer:</a:t>
            </a:r>
            <a:r>
              <a:rPr lang="en-GB" dirty="0"/>
              <a:t> This field is used to point to data that must urgently reach the receiving process as soon as possible. It is only valid if the URG control flag is set. To obtain the byte number of the final urgent byte, the value of this field is appended to the sequence number.</a:t>
            </a:r>
          </a:p>
          <a:p>
            <a:endParaRPr lang="en-US" dirty="0"/>
          </a:p>
        </p:txBody>
      </p:sp>
    </p:spTree>
    <p:extLst>
      <p:ext uri="{BB962C8B-B14F-4D97-AF65-F5344CB8AC3E}">
        <p14:creationId xmlns:p14="http://schemas.microsoft.com/office/powerpoint/2010/main" val="206045207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66841"/>
          </a:xfrm>
        </p:spPr>
        <p:txBody>
          <a:bodyPr>
            <a:normAutofit fontScale="90000"/>
          </a:bodyPr>
          <a:lstStyle/>
          <a:p>
            <a:r>
              <a:rPr lang="en-GB" dirty="0" smtClean="0"/>
              <a:t>Cont..</a:t>
            </a:r>
            <a:endParaRPr lang="en-US" dirty="0"/>
          </a:p>
        </p:txBody>
      </p:sp>
      <p:sp>
        <p:nvSpPr>
          <p:cNvPr id="3" name="Content Placeholder 2"/>
          <p:cNvSpPr>
            <a:spLocks noGrp="1"/>
          </p:cNvSpPr>
          <p:nvPr>
            <p:ph idx="1"/>
          </p:nvPr>
        </p:nvSpPr>
        <p:spPr>
          <a:xfrm>
            <a:off x="838200" y="1123406"/>
            <a:ext cx="10515600" cy="5053557"/>
          </a:xfrm>
        </p:spPr>
        <p:txBody>
          <a:bodyPr/>
          <a:lstStyle/>
          <a:p>
            <a:pPr fontAlgn="base"/>
            <a:r>
              <a:rPr lang="en-GB" b="1" dirty="0"/>
              <a:t>Advantages of TCP</a:t>
            </a:r>
          </a:p>
          <a:p>
            <a:pPr fontAlgn="base"/>
            <a:r>
              <a:rPr lang="en-GB" dirty="0"/>
              <a:t>TCP supports multiple routing protocols.</a:t>
            </a:r>
          </a:p>
          <a:p>
            <a:pPr fontAlgn="base"/>
            <a:r>
              <a:rPr lang="en-GB" dirty="0"/>
              <a:t>TCP protocol operates independently of that of the operating system.</a:t>
            </a:r>
          </a:p>
          <a:p>
            <a:pPr fontAlgn="base"/>
            <a:r>
              <a:rPr lang="en-GB" dirty="0"/>
              <a:t>TCP protocol provides the features of error control and flow control.</a:t>
            </a:r>
          </a:p>
          <a:p>
            <a:pPr fontAlgn="base"/>
            <a:r>
              <a:rPr lang="en-GB" dirty="0"/>
              <a:t>TCP provides a connection-oriented protocol and provides the delivery of data.</a:t>
            </a:r>
          </a:p>
          <a:p>
            <a:endParaRPr lang="en-US" dirty="0"/>
          </a:p>
        </p:txBody>
      </p:sp>
    </p:spTree>
    <p:extLst>
      <p:ext uri="{BB962C8B-B14F-4D97-AF65-F5344CB8AC3E}">
        <p14:creationId xmlns:p14="http://schemas.microsoft.com/office/powerpoint/2010/main" val="74225816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10532"/>
          </a:xfrm>
        </p:spPr>
        <p:txBody>
          <a:bodyPr/>
          <a:lstStyle/>
          <a:p>
            <a:r>
              <a:rPr lang="en-GB" dirty="0" smtClean="0"/>
              <a:t>Cont..</a:t>
            </a:r>
            <a:endParaRPr lang="en-US" dirty="0"/>
          </a:p>
        </p:txBody>
      </p:sp>
      <p:sp>
        <p:nvSpPr>
          <p:cNvPr id="3" name="Content Placeholder 2"/>
          <p:cNvSpPr>
            <a:spLocks noGrp="1"/>
          </p:cNvSpPr>
          <p:nvPr>
            <p:ph idx="1"/>
          </p:nvPr>
        </p:nvSpPr>
        <p:spPr>
          <a:xfrm>
            <a:off x="838200" y="1045029"/>
            <a:ext cx="10515600" cy="5131934"/>
          </a:xfrm>
        </p:spPr>
        <p:txBody>
          <a:bodyPr/>
          <a:lstStyle/>
          <a:p>
            <a:pPr fontAlgn="base"/>
            <a:r>
              <a:rPr lang="en-GB" b="1" dirty="0"/>
              <a:t>Disadvantages of TCP</a:t>
            </a:r>
          </a:p>
          <a:p>
            <a:pPr fontAlgn="base"/>
            <a:r>
              <a:rPr lang="en-GB" dirty="0"/>
              <a:t>TCP protocol cannot be used for broadcast or multicast transmission.</a:t>
            </a:r>
          </a:p>
          <a:p>
            <a:pPr fontAlgn="base"/>
            <a:r>
              <a:rPr lang="en-GB" dirty="0"/>
              <a:t>TCP protocol has no block boundaries.</a:t>
            </a:r>
          </a:p>
          <a:p>
            <a:pPr fontAlgn="base"/>
            <a:r>
              <a:rPr lang="en-GB" dirty="0"/>
              <a:t>No clear separation is being offered by TCP protocol between its interface, services, and protocols.</a:t>
            </a:r>
          </a:p>
          <a:p>
            <a:pPr fontAlgn="base"/>
            <a:r>
              <a:rPr lang="en-GB" dirty="0"/>
              <a:t>In TCP/IP replacement of protocol is difficult.</a:t>
            </a:r>
          </a:p>
          <a:p>
            <a:endParaRPr lang="en-US" dirty="0"/>
          </a:p>
        </p:txBody>
      </p:sp>
    </p:spTree>
    <p:extLst>
      <p:ext uri="{BB962C8B-B14F-4D97-AF65-F5344CB8AC3E}">
        <p14:creationId xmlns:p14="http://schemas.microsoft.com/office/powerpoint/2010/main" val="174712468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83961"/>
          </a:xfrm>
        </p:spPr>
        <p:txBody>
          <a:bodyPr>
            <a:normAutofit fontScale="90000"/>
          </a:bodyPr>
          <a:lstStyle/>
          <a:p>
            <a:r>
              <a:rPr lang="en-GB" dirty="0" smtClean="0"/>
              <a:t>UDP-User Datagram Protocol</a:t>
            </a:r>
            <a:endParaRPr lang="en-US" dirty="0"/>
          </a:p>
        </p:txBody>
      </p:sp>
      <p:sp>
        <p:nvSpPr>
          <p:cNvPr id="3" name="Content Placeholder 2"/>
          <p:cNvSpPr>
            <a:spLocks noGrp="1"/>
          </p:cNvSpPr>
          <p:nvPr>
            <p:ph idx="1"/>
          </p:nvPr>
        </p:nvSpPr>
        <p:spPr>
          <a:xfrm>
            <a:off x="838200" y="849086"/>
            <a:ext cx="10515600" cy="5799908"/>
          </a:xfrm>
        </p:spPr>
        <p:txBody>
          <a:bodyPr>
            <a:normAutofit fontScale="92500"/>
          </a:bodyPr>
          <a:lstStyle/>
          <a:p>
            <a:r>
              <a:rPr lang="en-GB" dirty="0"/>
              <a:t>UDP stands for </a:t>
            </a:r>
            <a:r>
              <a:rPr lang="en-GB" u="sng" dirty="0">
                <a:hlinkClick r:id="rId2"/>
              </a:rPr>
              <a:t>User Datagram Protocol</a:t>
            </a:r>
            <a:r>
              <a:rPr lang="en-GB" dirty="0"/>
              <a:t>. </a:t>
            </a:r>
            <a:endParaRPr lang="en-GB" dirty="0" smtClean="0"/>
          </a:p>
          <a:p>
            <a:r>
              <a:rPr lang="en-GB" dirty="0" smtClean="0"/>
              <a:t>User </a:t>
            </a:r>
            <a:r>
              <a:rPr lang="en-GB" dirty="0"/>
              <a:t>Datagram Protocol provides a </a:t>
            </a:r>
            <a:r>
              <a:rPr lang="en-GB" dirty="0" err="1"/>
              <a:t>nonsequential</a:t>
            </a:r>
            <a:r>
              <a:rPr lang="en-GB" dirty="0"/>
              <a:t> transmission of data</a:t>
            </a:r>
            <a:r>
              <a:rPr lang="en-GB" dirty="0" smtClean="0"/>
              <a:t>.</a:t>
            </a:r>
          </a:p>
          <a:p>
            <a:r>
              <a:rPr lang="en-GB" dirty="0" smtClean="0"/>
              <a:t> </a:t>
            </a:r>
            <a:r>
              <a:rPr lang="en-GB" dirty="0"/>
              <a:t>It is a connectionless transport protocol</a:t>
            </a:r>
            <a:r>
              <a:rPr lang="en-GB" dirty="0" smtClean="0"/>
              <a:t>.</a:t>
            </a:r>
          </a:p>
          <a:p>
            <a:r>
              <a:rPr lang="en-GB" dirty="0" smtClean="0"/>
              <a:t> </a:t>
            </a:r>
            <a:r>
              <a:rPr lang="en-GB" dirty="0"/>
              <a:t>UDP protocol is used in applications where the speed and size of data transmitted is considered as more important than the security and reliability</a:t>
            </a:r>
            <a:r>
              <a:rPr lang="en-GB" dirty="0" smtClean="0"/>
              <a:t>.</a:t>
            </a:r>
          </a:p>
          <a:p>
            <a:r>
              <a:rPr lang="en-GB" dirty="0" smtClean="0"/>
              <a:t> </a:t>
            </a:r>
            <a:r>
              <a:rPr lang="en-GB" dirty="0"/>
              <a:t>User Datagram is defined as a packet produced by User Datagram Protocol</a:t>
            </a:r>
            <a:r>
              <a:rPr lang="en-GB" dirty="0" smtClean="0"/>
              <a:t>.</a:t>
            </a:r>
          </a:p>
          <a:p>
            <a:r>
              <a:rPr lang="en-GB" dirty="0" smtClean="0"/>
              <a:t> </a:t>
            </a:r>
            <a:r>
              <a:rPr lang="en-GB" dirty="0"/>
              <a:t>UDP protocol adds checksum error control, transport level addresses, and information of length to the data received from the layer above it</a:t>
            </a:r>
            <a:r>
              <a:rPr lang="en-GB" dirty="0" smtClean="0"/>
              <a:t>.</a:t>
            </a:r>
          </a:p>
          <a:p>
            <a:r>
              <a:rPr lang="en-GB" dirty="0" smtClean="0"/>
              <a:t> </a:t>
            </a:r>
            <a:r>
              <a:rPr lang="en-GB" dirty="0"/>
              <a:t>Services provided by User Datagram Protocol(UDP) are connectionless service, faster delivery of messages, checksum, and process-to-process communication.</a:t>
            </a:r>
            <a:endParaRPr lang="en-US" dirty="0"/>
          </a:p>
        </p:txBody>
      </p:sp>
    </p:spTree>
    <p:extLst>
      <p:ext uri="{BB962C8B-B14F-4D97-AF65-F5344CB8AC3E}">
        <p14:creationId xmlns:p14="http://schemas.microsoft.com/office/powerpoint/2010/main" val="248128740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757646" y="274320"/>
            <a:ext cx="10580914" cy="6309360"/>
          </a:xfrm>
          <a:prstGeom prst="rect">
            <a:avLst/>
          </a:prstGeom>
        </p:spPr>
      </p:pic>
    </p:spTree>
    <p:extLst>
      <p:ext uri="{BB962C8B-B14F-4D97-AF65-F5344CB8AC3E}">
        <p14:creationId xmlns:p14="http://schemas.microsoft.com/office/powerpoint/2010/main" val="387307143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36212"/>
          </a:xfrm>
        </p:spPr>
        <p:txBody>
          <a:bodyPr>
            <a:normAutofit fontScale="90000"/>
          </a:bodyPr>
          <a:lstStyle/>
          <a:p>
            <a:r>
              <a:rPr lang="en-US" b="1" dirty="0" smtClean="0"/>
              <a:t/>
            </a:r>
            <a:br>
              <a:rPr lang="en-US" b="1" dirty="0" smtClean="0"/>
            </a:br>
            <a:r>
              <a:rPr lang="en-US" b="1" dirty="0" smtClean="0"/>
              <a:t>UDP </a:t>
            </a:r>
            <a:r>
              <a:rPr lang="en-US" b="1" dirty="0"/>
              <a:t>Segment</a:t>
            </a:r>
            <a:br>
              <a:rPr lang="en-US" b="1" dirty="0"/>
            </a:br>
            <a:endParaRPr lang="en-US" dirty="0"/>
          </a:p>
        </p:txBody>
      </p:sp>
      <p:sp>
        <p:nvSpPr>
          <p:cNvPr id="3" name="Content Placeholder 2"/>
          <p:cNvSpPr>
            <a:spLocks noGrp="1"/>
          </p:cNvSpPr>
          <p:nvPr>
            <p:ph idx="1"/>
          </p:nvPr>
        </p:nvSpPr>
        <p:spPr>
          <a:xfrm>
            <a:off x="838200" y="1031966"/>
            <a:ext cx="10515600" cy="5144997"/>
          </a:xfrm>
        </p:spPr>
        <p:txBody>
          <a:bodyPr/>
          <a:lstStyle/>
          <a:p>
            <a:r>
              <a:rPr lang="en-GB" dirty="0"/>
              <a:t>While the TCP header can range from 20 to 60 bytes, the UDP header is a fixed, basic 8 bytes. </a:t>
            </a:r>
            <a:endParaRPr lang="en-GB" dirty="0" smtClean="0"/>
          </a:p>
          <a:p>
            <a:r>
              <a:rPr lang="en-GB" dirty="0" smtClean="0"/>
              <a:t>All </a:t>
            </a:r>
            <a:r>
              <a:rPr lang="en-GB" dirty="0"/>
              <a:t>required header information is contained in the first 8 bytes, with data making up the remaining portion. </a:t>
            </a:r>
            <a:endParaRPr lang="en-GB" dirty="0" smtClean="0"/>
          </a:p>
          <a:p>
            <a:r>
              <a:rPr lang="en-GB" dirty="0" smtClean="0"/>
              <a:t>Because </a:t>
            </a:r>
            <a:r>
              <a:rPr lang="en-GB" dirty="0"/>
              <a:t>UDP port number fields are 16 bits long, the range of possible port numbers is defined as 0 to 65535, with port 0 being reserved.</a:t>
            </a:r>
            <a:endParaRPr lang="en-US" dirty="0"/>
          </a:p>
        </p:txBody>
      </p:sp>
    </p:spTree>
    <p:extLst>
      <p:ext uri="{BB962C8B-B14F-4D97-AF65-F5344CB8AC3E}">
        <p14:creationId xmlns:p14="http://schemas.microsoft.com/office/powerpoint/2010/main" val="184917795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822960" y="744583"/>
            <a:ext cx="10593977" cy="5120640"/>
          </a:xfrm>
          <a:prstGeom prst="rect">
            <a:avLst/>
          </a:prstGeom>
        </p:spPr>
      </p:pic>
    </p:spTree>
    <p:extLst>
      <p:ext uri="{BB962C8B-B14F-4D97-AF65-F5344CB8AC3E}">
        <p14:creationId xmlns:p14="http://schemas.microsoft.com/office/powerpoint/2010/main" val="266981884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36658"/>
          </a:xfrm>
        </p:spPr>
        <p:txBody>
          <a:bodyPr/>
          <a:lstStyle/>
          <a:p>
            <a:r>
              <a:rPr lang="en-GB" dirty="0" smtClean="0"/>
              <a:t>Cont..</a:t>
            </a:r>
            <a:endParaRPr lang="en-US" dirty="0"/>
          </a:p>
        </p:txBody>
      </p:sp>
      <p:sp>
        <p:nvSpPr>
          <p:cNvPr id="3" name="Content Placeholder 2"/>
          <p:cNvSpPr>
            <a:spLocks noGrp="1"/>
          </p:cNvSpPr>
          <p:nvPr>
            <p:ph idx="1"/>
          </p:nvPr>
        </p:nvSpPr>
        <p:spPr>
          <a:xfrm>
            <a:off x="838200" y="1201784"/>
            <a:ext cx="10515600" cy="4975179"/>
          </a:xfrm>
        </p:spPr>
        <p:txBody>
          <a:bodyPr/>
          <a:lstStyle/>
          <a:p>
            <a:pPr fontAlgn="base"/>
            <a:r>
              <a:rPr lang="en-GB" b="1" dirty="0"/>
              <a:t>Source Port:</a:t>
            </a:r>
            <a:r>
              <a:rPr lang="en-GB" dirty="0"/>
              <a:t> Source Port is a 2 Byte long field used to identify the port number of the source.</a:t>
            </a:r>
          </a:p>
          <a:p>
            <a:pPr fontAlgn="base"/>
            <a:r>
              <a:rPr lang="en-GB" b="1" dirty="0"/>
              <a:t>Destination Port: </a:t>
            </a:r>
            <a:r>
              <a:rPr lang="en-GB" dirty="0"/>
              <a:t>This 2-byte element is used to specify the packet's destination port.</a:t>
            </a:r>
          </a:p>
          <a:p>
            <a:pPr fontAlgn="base"/>
            <a:r>
              <a:rPr lang="en-GB" b="1" dirty="0"/>
              <a:t>Length: </a:t>
            </a:r>
            <a:r>
              <a:rPr lang="en-GB" dirty="0"/>
              <a:t>The whole length of a UDP packet, including the data and header. The field has sixteen bits.</a:t>
            </a:r>
          </a:p>
          <a:p>
            <a:pPr fontAlgn="base"/>
            <a:r>
              <a:rPr lang="en-GB" b="1" dirty="0" err="1"/>
              <a:t>Cheksum</a:t>
            </a:r>
            <a:r>
              <a:rPr lang="en-GB" b="1" dirty="0"/>
              <a:t>: </a:t>
            </a:r>
            <a:r>
              <a:rPr lang="en-GB" dirty="0"/>
              <a:t>The checksum field is two bytes long. The data is padded with zero octets at the end (if needed) to create a multiple of two octets. It is the 16-bit one's complement of the one's complement sum of the UDP header, the pseudo-header containing information from the IP header, and the data.</a:t>
            </a:r>
          </a:p>
          <a:p>
            <a:endParaRPr lang="en-US" dirty="0"/>
          </a:p>
        </p:txBody>
      </p:sp>
    </p:spTree>
    <p:extLst>
      <p:ext uri="{BB962C8B-B14F-4D97-AF65-F5344CB8AC3E}">
        <p14:creationId xmlns:p14="http://schemas.microsoft.com/office/powerpoint/2010/main" val="50096946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36658"/>
          </a:xfrm>
        </p:spPr>
        <p:txBody>
          <a:bodyPr/>
          <a:lstStyle/>
          <a:p>
            <a:r>
              <a:rPr lang="en-GB" dirty="0" smtClean="0"/>
              <a:t>Cont..</a:t>
            </a:r>
            <a:endParaRPr lang="en-US" dirty="0"/>
          </a:p>
        </p:txBody>
      </p:sp>
      <p:sp>
        <p:nvSpPr>
          <p:cNvPr id="3" name="Content Placeholder 2"/>
          <p:cNvSpPr>
            <a:spLocks noGrp="1"/>
          </p:cNvSpPr>
          <p:nvPr>
            <p:ph idx="1"/>
          </p:nvPr>
        </p:nvSpPr>
        <p:spPr>
          <a:xfrm>
            <a:off x="838200" y="1332411"/>
            <a:ext cx="10515600" cy="4844552"/>
          </a:xfrm>
        </p:spPr>
        <p:txBody>
          <a:bodyPr/>
          <a:lstStyle/>
          <a:p>
            <a:pPr fontAlgn="base"/>
            <a:r>
              <a:rPr lang="en-GB" b="1" dirty="0"/>
              <a:t>Advantages of UDP</a:t>
            </a:r>
          </a:p>
          <a:p>
            <a:pPr fontAlgn="base"/>
            <a:r>
              <a:rPr lang="en-GB" dirty="0"/>
              <a:t>UDP also provides multicast and broadcast transmission of data.</a:t>
            </a:r>
          </a:p>
          <a:p>
            <a:pPr fontAlgn="base"/>
            <a:r>
              <a:rPr lang="en-GB" dirty="0"/>
              <a:t>UDP protocol is preferred more for small transactions such as DNS lookup.</a:t>
            </a:r>
          </a:p>
          <a:p>
            <a:pPr fontAlgn="base"/>
            <a:r>
              <a:rPr lang="en-GB" dirty="0"/>
              <a:t>It is a connectionless protocol, therefore there is no compulsion to have a connection-oriented network.</a:t>
            </a:r>
          </a:p>
          <a:p>
            <a:pPr fontAlgn="base"/>
            <a:r>
              <a:rPr lang="en-GB" dirty="0"/>
              <a:t>UDP provides fast delivery of messages.</a:t>
            </a:r>
          </a:p>
          <a:p>
            <a:endParaRPr lang="en-US" dirty="0"/>
          </a:p>
        </p:txBody>
      </p:sp>
    </p:spTree>
    <p:extLst>
      <p:ext uri="{BB962C8B-B14F-4D97-AF65-F5344CB8AC3E}">
        <p14:creationId xmlns:p14="http://schemas.microsoft.com/office/powerpoint/2010/main" val="12480341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58281"/>
          </a:xfrm>
        </p:spPr>
        <p:txBody>
          <a:bodyPr/>
          <a:lstStyle/>
          <a:p>
            <a:r>
              <a:rPr lang="en-GB" dirty="0" smtClean="0"/>
              <a:t>Cont..</a:t>
            </a:r>
            <a:endParaRPr lang="en-US" dirty="0"/>
          </a:p>
        </p:txBody>
      </p:sp>
      <p:sp>
        <p:nvSpPr>
          <p:cNvPr id="3" name="Content Placeholder 2"/>
          <p:cNvSpPr>
            <a:spLocks noGrp="1"/>
          </p:cNvSpPr>
          <p:nvPr>
            <p:ph idx="1"/>
          </p:nvPr>
        </p:nvSpPr>
        <p:spPr>
          <a:xfrm>
            <a:off x="838200" y="1018903"/>
            <a:ext cx="10515600" cy="5158060"/>
          </a:xfrm>
        </p:spPr>
        <p:txBody>
          <a:bodyPr/>
          <a:lstStyle/>
          <a:p>
            <a:pPr fontAlgn="base"/>
            <a:r>
              <a:rPr lang="en-GB" b="1" dirty="0"/>
              <a:t>Disadvantages of UDP</a:t>
            </a:r>
          </a:p>
          <a:p>
            <a:pPr fontAlgn="base"/>
            <a:r>
              <a:rPr lang="en-GB" dirty="0"/>
              <a:t>In UDP protocol there is no guarantee that the packet is delivered.</a:t>
            </a:r>
          </a:p>
          <a:p>
            <a:pPr fontAlgn="base"/>
            <a:r>
              <a:rPr lang="en-GB" dirty="0"/>
              <a:t>UDP protocol suffers from worse packet loss.</a:t>
            </a:r>
          </a:p>
          <a:p>
            <a:pPr fontAlgn="base"/>
            <a:r>
              <a:rPr lang="en-GB" dirty="0"/>
              <a:t>UDP protocol has no congestion control mechanism.</a:t>
            </a:r>
          </a:p>
          <a:p>
            <a:pPr fontAlgn="base"/>
            <a:r>
              <a:rPr lang="en-GB" dirty="0"/>
              <a:t>UDP protocol does not provide the sequential transmission of data.</a:t>
            </a:r>
          </a:p>
          <a:p>
            <a:endParaRPr lang="en-US" dirty="0"/>
          </a:p>
        </p:txBody>
      </p:sp>
    </p:spTree>
    <p:extLst>
      <p:ext uri="{BB962C8B-B14F-4D97-AF65-F5344CB8AC3E}">
        <p14:creationId xmlns:p14="http://schemas.microsoft.com/office/powerpoint/2010/main" val="389483124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783770" y="169863"/>
            <a:ext cx="10802983" cy="6596062"/>
          </a:xfrm>
          <a:prstGeom prst="rect">
            <a:avLst/>
          </a:prstGeom>
        </p:spPr>
      </p:pic>
    </p:spTree>
    <p:extLst>
      <p:ext uri="{BB962C8B-B14F-4D97-AF65-F5344CB8AC3E}">
        <p14:creationId xmlns:p14="http://schemas.microsoft.com/office/powerpoint/2010/main" val="256184835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9904"/>
          </a:xfrm>
        </p:spPr>
        <p:txBody>
          <a:bodyPr>
            <a:normAutofit fontScale="90000"/>
          </a:bodyPr>
          <a:lstStyle/>
          <a:p>
            <a:r>
              <a:rPr lang="en-GB" b="1" dirty="0" smtClean="0"/>
              <a:t/>
            </a:r>
            <a:br>
              <a:rPr lang="en-GB" b="1" dirty="0" smtClean="0"/>
            </a:br>
            <a:r>
              <a:rPr lang="en-GB" b="1" dirty="0" smtClean="0"/>
              <a:t>Real-Life </a:t>
            </a:r>
            <a:r>
              <a:rPr lang="en-GB" b="1" dirty="0"/>
              <a:t>Example to Understand TCP vs UDP Protocols</a:t>
            </a:r>
            <a:br>
              <a:rPr lang="en-GB" b="1" dirty="0"/>
            </a:br>
            <a:endParaRPr lang="en-US" dirty="0"/>
          </a:p>
        </p:txBody>
      </p:sp>
      <p:sp>
        <p:nvSpPr>
          <p:cNvPr id="3" name="Content Placeholder 2"/>
          <p:cNvSpPr>
            <a:spLocks noGrp="1"/>
          </p:cNvSpPr>
          <p:nvPr>
            <p:ph idx="1"/>
          </p:nvPr>
        </p:nvSpPr>
        <p:spPr>
          <a:xfrm>
            <a:off x="838200" y="1332412"/>
            <a:ext cx="10515600" cy="5525588"/>
          </a:xfrm>
        </p:spPr>
        <p:txBody>
          <a:bodyPr>
            <a:normAutofit fontScale="92500" lnSpcReduction="10000"/>
          </a:bodyPr>
          <a:lstStyle/>
          <a:p>
            <a:r>
              <a:rPr lang="en-GB" dirty="0"/>
              <a:t>Consider a simple example to understand the fundamental difference between TCP &amp; UDP protocols:</a:t>
            </a:r>
          </a:p>
          <a:p>
            <a:r>
              <a:rPr lang="en-GB" dirty="0"/>
              <a:t>Assume two buildings, A and B. And there is a river between them. The goal is to send a letter from building A to building B. Now there are two ways to accomplish this</a:t>
            </a:r>
            <a:br>
              <a:rPr lang="en-GB" dirty="0"/>
            </a:br>
            <a:r>
              <a:rPr lang="en-GB" b="1" dirty="0"/>
              <a:t>Method 1:</a:t>
            </a:r>
            <a:r>
              <a:rPr lang="en-GB" dirty="0"/>
              <a:t> Build a bridge over the river and deliver the letter.</a:t>
            </a:r>
          </a:p>
          <a:p>
            <a:r>
              <a:rPr lang="en-GB" b="1" dirty="0"/>
              <a:t>Method 2:</a:t>
            </a:r>
            <a:r>
              <a:rPr lang="en-GB" dirty="0"/>
              <a:t> Use a pigeon to deliver the letter. </a:t>
            </a:r>
          </a:p>
          <a:p>
            <a:r>
              <a:rPr lang="en-GB" dirty="0"/>
              <a:t>Here, method 1 is TCP protocol where a connection is built(bridge in this example) between the two devices and then transmitted the data(letter).</a:t>
            </a:r>
          </a:p>
          <a:p>
            <a:r>
              <a:rPr lang="en-GB" dirty="0"/>
              <a:t>Method 1 is reliable because we can directly reach the other end without any error in or loss of data.</a:t>
            </a:r>
          </a:p>
          <a:p>
            <a:r>
              <a:rPr lang="en-GB" dirty="0"/>
              <a:t>Here method 2 is UDP as no connection is required to transmit the data(letter). UDP is faster than TCP, but it is not reliable. Because it is not guaranteed that the pigeon will go to the correct destination, the letter can be lost by the pigeon. </a:t>
            </a:r>
          </a:p>
          <a:p>
            <a:endParaRPr lang="en-US" dirty="0"/>
          </a:p>
        </p:txBody>
      </p:sp>
    </p:spTree>
    <p:extLst>
      <p:ext uri="{BB962C8B-B14F-4D97-AF65-F5344CB8AC3E}">
        <p14:creationId xmlns:p14="http://schemas.microsoft.com/office/powerpoint/2010/main" val="175419907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84406"/>
          </a:xfrm>
        </p:spPr>
        <p:txBody>
          <a:bodyPr/>
          <a:lstStyle/>
          <a:p>
            <a:r>
              <a:rPr lang="en-GB" dirty="0" smtClean="0"/>
              <a:t>SCTP-Stream Control Transmission Protocol </a:t>
            </a:r>
            <a:endParaRPr lang="en-US" dirty="0"/>
          </a:p>
        </p:txBody>
      </p:sp>
      <p:sp>
        <p:nvSpPr>
          <p:cNvPr id="3" name="Content Placeholder 2"/>
          <p:cNvSpPr>
            <a:spLocks noGrp="1"/>
          </p:cNvSpPr>
          <p:nvPr>
            <p:ph idx="1"/>
          </p:nvPr>
        </p:nvSpPr>
        <p:spPr>
          <a:xfrm>
            <a:off x="838200" y="1149532"/>
            <a:ext cx="10515600" cy="5027431"/>
          </a:xfrm>
        </p:spPr>
        <p:txBody>
          <a:bodyPr/>
          <a:lstStyle/>
          <a:p>
            <a:r>
              <a:rPr lang="en-GB" dirty="0"/>
              <a:t>SCTP stands for </a:t>
            </a:r>
            <a:r>
              <a:rPr lang="en-GB" u="sng" dirty="0">
                <a:hlinkClick r:id="rId2"/>
              </a:rPr>
              <a:t>Stream Control Transmission Protocol</a:t>
            </a:r>
            <a:r>
              <a:rPr lang="en-GB" dirty="0"/>
              <a:t>. </a:t>
            </a:r>
            <a:endParaRPr lang="en-GB" dirty="0" smtClean="0"/>
          </a:p>
          <a:p>
            <a:r>
              <a:rPr lang="en-GB" dirty="0" smtClean="0"/>
              <a:t>SCTP </a:t>
            </a:r>
            <a:r>
              <a:rPr lang="en-GB" dirty="0"/>
              <a:t>is a connection-oriented protocol. </a:t>
            </a:r>
            <a:endParaRPr lang="en-GB" dirty="0" smtClean="0"/>
          </a:p>
          <a:p>
            <a:r>
              <a:rPr lang="en-GB" dirty="0" smtClean="0"/>
              <a:t>Stream </a:t>
            </a:r>
            <a:r>
              <a:rPr lang="en-GB" dirty="0"/>
              <a:t>Control Transmission Protocol transmits the data from sender to receiver in full duplex mode. </a:t>
            </a:r>
            <a:endParaRPr lang="en-GB" dirty="0" smtClean="0"/>
          </a:p>
          <a:p>
            <a:r>
              <a:rPr lang="en-GB" dirty="0" smtClean="0"/>
              <a:t>SCTP </a:t>
            </a:r>
            <a:r>
              <a:rPr lang="en-GB" dirty="0"/>
              <a:t>is a unicast protocol that provides with point to point-to-point connection and uses different hosts for reaching the destination. </a:t>
            </a:r>
            <a:endParaRPr lang="en-GB" dirty="0" smtClean="0"/>
          </a:p>
          <a:p>
            <a:r>
              <a:rPr lang="en-GB" dirty="0" smtClean="0"/>
              <a:t>SCTP </a:t>
            </a:r>
            <a:r>
              <a:rPr lang="en-GB" dirty="0"/>
              <a:t>protocol provides a simpler way to build a connection over a wireless network. </a:t>
            </a:r>
            <a:endParaRPr lang="en-GB" dirty="0" smtClean="0"/>
          </a:p>
          <a:p>
            <a:r>
              <a:rPr lang="en-GB" dirty="0" smtClean="0"/>
              <a:t>SCTP </a:t>
            </a:r>
            <a:r>
              <a:rPr lang="en-GB" dirty="0"/>
              <a:t>protocol provides a reliable transmission of data. </a:t>
            </a:r>
            <a:endParaRPr lang="en-US" dirty="0"/>
          </a:p>
        </p:txBody>
      </p:sp>
    </p:spTree>
    <p:extLst>
      <p:ext uri="{BB962C8B-B14F-4D97-AF65-F5344CB8AC3E}">
        <p14:creationId xmlns:p14="http://schemas.microsoft.com/office/powerpoint/2010/main" val="428831827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27652"/>
          </a:xfrm>
        </p:spPr>
        <p:txBody>
          <a:bodyPr>
            <a:normAutofit fontScale="90000"/>
          </a:bodyPr>
          <a:lstStyle/>
          <a:p>
            <a:r>
              <a:rPr lang="en-GB" dirty="0" smtClean="0"/>
              <a:t>Cont..</a:t>
            </a:r>
            <a:endParaRPr lang="en-US" dirty="0"/>
          </a:p>
        </p:txBody>
      </p:sp>
      <p:sp>
        <p:nvSpPr>
          <p:cNvPr id="3" name="Content Placeholder 2"/>
          <p:cNvSpPr>
            <a:spLocks noGrp="1"/>
          </p:cNvSpPr>
          <p:nvPr>
            <p:ph idx="1"/>
          </p:nvPr>
        </p:nvSpPr>
        <p:spPr>
          <a:xfrm>
            <a:off x="838200" y="992778"/>
            <a:ext cx="10515600" cy="5184185"/>
          </a:xfrm>
        </p:spPr>
        <p:txBody>
          <a:bodyPr/>
          <a:lstStyle/>
          <a:p>
            <a:r>
              <a:rPr lang="en-GB" dirty="0"/>
              <a:t>SCTP provides a reliable and easier telephone conversation over the internet. </a:t>
            </a:r>
            <a:endParaRPr lang="en-GB" dirty="0" smtClean="0"/>
          </a:p>
          <a:p>
            <a:r>
              <a:rPr lang="en-GB" dirty="0" smtClean="0"/>
              <a:t>SCTP </a:t>
            </a:r>
            <a:r>
              <a:rPr lang="en-GB" dirty="0"/>
              <a:t>protocol supports the feature of </a:t>
            </a:r>
            <a:r>
              <a:rPr lang="en-GB" dirty="0" err="1"/>
              <a:t>multihoming</a:t>
            </a:r>
            <a:r>
              <a:rPr lang="en-GB" dirty="0"/>
              <a:t> </a:t>
            </a:r>
            <a:r>
              <a:rPr lang="en-GB" dirty="0" err="1"/>
              <a:t>ie</a:t>
            </a:r>
            <a:r>
              <a:rPr lang="en-GB" dirty="0"/>
              <a:t>. it can establish more than one connection path between the two points of communication and does not depend on the IP layer</a:t>
            </a:r>
            <a:r>
              <a:rPr lang="en-GB" dirty="0" smtClean="0"/>
              <a:t>.</a:t>
            </a:r>
          </a:p>
          <a:p>
            <a:r>
              <a:rPr lang="en-GB" dirty="0" smtClean="0"/>
              <a:t> </a:t>
            </a:r>
            <a:r>
              <a:rPr lang="en-GB" dirty="0"/>
              <a:t>SCTP protocol also ensures security by not allowing the half-open connections.</a:t>
            </a:r>
            <a:endParaRPr lang="en-US" dirty="0"/>
          </a:p>
        </p:txBody>
      </p:sp>
    </p:spTree>
    <p:extLst>
      <p:ext uri="{BB962C8B-B14F-4D97-AF65-F5344CB8AC3E}">
        <p14:creationId xmlns:p14="http://schemas.microsoft.com/office/powerpoint/2010/main" val="402442099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162594" y="365760"/>
            <a:ext cx="10149840" cy="6348549"/>
          </a:xfrm>
          <a:prstGeom prst="rect">
            <a:avLst/>
          </a:prstGeom>
        </p:spPr>
      </p:pic>
    </p:spTree>
    <p:extLst>
      <p:ext uri="{BB962C8B-B14F-4D97-AF65-F5344CB8AC3E}">
        <p14:creationId xmlns:p14="http://schemas.microsoft.com/office/powerpoint/2010/main" val="170388528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58281"/>
          </a:xfrm>
        </p:spPr>
        <p:txBody>
          <a:bodyPr/>
          <a:lstStyle/>
          <a:p>
            <a:r>
              <a:rPr lang="en-GB" dirty="0" smtClean="0"/>
              <a:t>Cont..</a:t>
            </a:r>
            <a:endParaRPr lang="en-US" dirty="0"/>
          </a:p>
        </p:txBody>
      </p:sp>
      <p:sp>
        <p:nvSpPr>
          <p:cNvPr id="3" name="Content Placeholder 2"/>
          <p:cNvSpPr>
            <a:spLocks noGrp="1"/>
          </p:cNvSpPr>
          <p:nvPr>
            <p:ph idx="1"/>
          </p:nvPr>
        </p:nvSpPr>
        <p:spPr>
          <a:xfrm>
            <a:off x="838200" y="1123406"/>
            <a:ext cx="10515600" cy="5053557"/>
          </a:xfrm>
        </p:spPr>
        <p:txBody>
          <a:bodyPr/>
          <a:lstStyle/>
          <a:p>
            <a:pPr fontAlgn="base"/>
            <a:r>
              <a:rPr lang="en-GB" b="1" dirty="0"/>
              <a:t>Advantages of SCTP</a:t>
            </a:r>
          </a:p>
          <a:p>
            <a:pPr fontAlgn="base"/>
            <a:r>
              <a:rPr lang="en-GB" dirty="0"/>
              <a:t>SCTP provides a full duplex connection. It can send and receive the data simultaneously.</a:t>
            </a:r>
          </a:p>
          <a:p>
            <a:pPr fontAlgn="base"/>
            <a:r>
              <a:rPr lang="en-GB" dirty="0"/>
              <a:t>SCTP protocol possesses the properties of both TCP and UDP protocol.</a:t>
            </a:r>
          </a:p>
          <a:p>
            <a:pPr fontAlgn="base"/>
            <a:r>
              <a:rPr lang="en-GB" dirty="0"/>
              <a:t>SCTP protocol does not depend on the IP layer.</a:t>
            </a:r>
          </a:p>
          <a:p>
            <a:pPr fontAlgn="base"/>
            <a:r>
              <a:rPr lang="en-GB" dirty="0"/>
              <a:t>SCTP is a secure protocol.</a:t>
            </a:r>
          </a:p>
          <a:p>
            <a:endParaRPr lang="en-US" dirty="0"/>
          </a:p>
        </p:txBody>
      </p:sp>
    </p:spTree>
    <p:extLst>
      <p:ext uri="{BB962C8B-B14F-4D97-AF65-F5344CB8AC3E}">
        <p14:creationId xmlns:p14="http://schemas.microsoft.com/office/powerpoint/2010/main" val="288772088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71344"/>
          </a:xfrm>
        </p:spPr>
        <p:txBody>
          <a:bodyPr/>
          <a:lstStyle/>
          <a:p>
            <a:r>
              <a:rPr lang="en-GB" dirty="0" smtClean="0"/>
              <a:t>Cont..</a:t>
            </a:r>
            <a:endParaRPr lang="en-US" dirty="0"/>
          </a:p>
        </p:txBody>
      </p:sp>
      <p:sp>
        <p:nvSpPr>
          <p:cNvPr id="3" name="Content Placeholder 2"/>
          <p:cNvSpPr>
            <a:spLocks noGrp="1"/>
          </p:cNvSpPr>
          <p:nvPr>
            <p:ph idx="1"/>
          </p:nvPr>
        </p:nvSpPr>
        <p:spPr>
          <a:xfrm>
            <a:off x="838200" y="1345474"/>
            <a:ext cx="10515600" cy="4831489"/>
          </a:xfrm>
        </p:spPr>
        <p:txBody>
          <a:bodyPr/>
          <a:lstStyle/>
          <a:p>
            <a:pPr fontAlgn="base"/>
            <a:r>
              <a:rPr lang="en-GB" b="1" dirty="0"/>
              <a:t>Disadvantages of SCTP</a:t>
            </a:r>
          </a:p>
          <a:p>
            <a:pPr fontAlgn="base"/>
            <a:r>
              <a:rPr lang="en-GB" dirty="0"/>
              <a:t>To handle multiple streams simultaneously the applications need to be modified accordingly.</a:t>
            </a:r>
          </a:p>
          <a:p>
            <a:pPr fontAlgn="base"/>
            <a:r>
              <a:rPr lang="en-GB" dirty="0"/>
              <a:t>The transport stack on the node needs to be changed for the SCTP protocol.</a:t>
            </a:r>
          </a:p>
          <a:p>
            <a:pPr fontAlgn="base"/>
            <a:r>
              <a:rPr lang="en-GB" dirty="0"/>
              <a:t>Modification is required in applications if SCTP is used instead of TCP or UDP protocol.</a:t>
            </a:r>
          </a:p>
          <a:p>
            <a:endParaRPr lang="en-US" dirty="0"/>
          </a:p>
        </p:txBody>
      </p:sp>
    </p:spTree>
    <p:extLst>
      <p:ext uri="{BB962C8B-B14F-4D97-AF65-F5344CB8AC3E}">
        <p14:creationId xmlns:p14="http://schemas.microsoft.com/office/powerpoint/2010/main" val="179253293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40715"/>
          </a:xfrm>
        </p:spPr>
        <p:txBody>
          <a:bodyPr>
            <a:normAutofit fontScale="90000"/>
          </a:bodyPr>
          <a:lstStyle/>
          <a:p>
            <a:r>
              <a:rPr lang="en-GB" dirty="0" smtClean="0"/>
              <a:t/>
            </a:r>
            <a:br>
              <a:rPr lang="en-GB" dirty="0" smtClean="0"/>
            </a:br>
            <a:r>
              <a:rPr lang="en-GB" dirty="0" smtClean="0"/>
              <a:t>RTP-</a:t>
            </a:r>
            <a:r>
              <a:rPr lang="en-US" b="1" dirty="0"/>
              <a:t>Real Time Transport Protocol</a:t>
            </a:r>
            <a:br>
              <a:rPr lang="en-US" b="1" dirty="0"/>
            </a:br>
            <a:endParaRPr lang="en-US" dirty="0"/>
          </a:p>
        </p:txBody>
      </p:sp>
      <p:sp>
        <p:nvSpPr>
          <p:cNvPr id="3" name="Content Placeholder 2"/>
          <p:cNvSpPr>
            <a:spLocks noGrp="1"/>
          </p:cNvSpPr>
          <p:nvPr>
            <p:ph idx="1"/>
          </p:nvPr>
        </p:nvSpPr>
        <p:spPr>
          <a:xfrm>
            <a:off x="838200" y="1175657"/>
            <a:ext cx="10515600" cy="5001306"/>
          </a:xfrm>
        </p:spPr>
        <p:txBody>
          <a:bodyPr/>
          <a:lstStyle/>
          <a:p>
            <a:r>
              <a:rPr lang="en-GB" dirty="0"/>
              <a:t>The Real-time Transport Protocol (RTP) is a network protocol for delivering audio and video over IP networks in real-time, used in applications like video conferencing, VoIP, and live streaming. </a:t>
            </a:r>
            <a:endParaRPr lang="en-GB" dirty="0" smtClean="0"/>
          </a:p>
          <a:p>
            <a:r>
              <a:rPr lang="en-GB" dirty="0" smtClean="0"/>
              <a:t>RTP </a:t>
            </a:r>
            <a:r>
              <a:rPr lang="en-GB" dirty="0"/>
              <a:t>handles the actual media delivery, providing features like </a:t>
            </a:r>
            <a:r>
              <a:rPr lang="en-GB" dirty="0">
                <a:hlinkClick r:id="rId2"/>
              </a:rPr>
              <a:t>timestamping</a:t>
            </a:r>
            <a:r>
              <a:rPr lang="en-GB" dirty="0"/>
              <a:t> and </a:t>
            </a:r>
            <a:r>
              <a:rPr lang="en-GB" dirty="0">
                <a:hlinkClick r:id="rId3"/>
              </a:rPr>
              <a:t>sequence numbering</a:t>
            </a:r>
            <a:r>
              <a:rPr lang="en-GB" dirty="0"/>
              <a:t> to ensure data arrives in order and synchronized, though it relies on </a:t>
            </a:r>
            <a:r>
              <a:rPr lang="en-GB" dirty="0">
                <a:hlinkClick r:id="rId4"/>
              </a:rPr>
              <a:t>UDP</a:t>
            </a:r>
            <a:r>
              <a:rPr lang="en-GB" dirty="0"/>
              <a:t> for transport and works in tandem with the </a:t>
            </a:r>
            <a:r>
              <a:rPr lang="en-GB" dirty="0">
                <a:hlinkClick r:id="rId5"/>
              </a:rPr>
              <a:t>RTCP</a:t>
            </a:r>
            <a:r>
              <a:rPr lang="en-GB" dirty="0"/>
              <a:t> protocol for quality monitoring and control.  </a:t>
            </a:r>
            <a:endParaRPr lang="en-US" dirty="0"/>
          </a:p>
        </p:txBody>
      </p:sp>
    </p:spTree>
    <p:extLst>
      <p:ext uri="{BB962C8B-B14F-4D97-AF65-F5344CB8AC3E}">
        <p14:creationId xmlns:p14="http://schemas.microsoft.com/office/powerpoint/2010/main" val="188866511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53778"/>
          </a:xfrm>
        </p:spPr>
        <p:txBody>
          <a:bodyPr>
            <a:normAutofit fontScale="90000"/>
          </a:bodyPr>
          <a:lstStyle/>
          <a:p>
            <a:r>
              <a:rPr lang="en-GB" dirty="0" smtClean="0"/>
              <a:t>Cont..</a:t>
            </a:r>
            <a:endParaRPr lang="en-US" dirty="0"/>
          </a:p>
        </p:txBody>
      </p:sp>
      <p:sp>
        <p:nvSpPr>
          <p:cNvPr id="3" name="Content Placeholder 2"/>
          <p:cNvSpPr>
            <a:spLocks noGrp="1"/>
          </p:cNvSpPr>
          <p:nvPr>
            <p:ph idx="1"/>
          </p:nvPr>
        </p:nvSpPr>
        <p:spPr>
          <a:xfrm>
            <a:off x="838200" y="1018904"/>
            <a:ext cx="10515600" cy="5158059"/>
          </a:xfrm>
        </p:spPr>
        <p:txBody>
          <a:bodyPr/>
          <a:lstStyle/>
          <a:p>
            <a:r>
              <a:rPr lang="en-GB" dirty="0" smtClean="0"/>
              <a:t>What it does:</a:t>
            </a:r>
          </a:p>
          <a:p>
            <a:r>
              <a:rPr lang="en-GB" dirty="0" smtClean="0"/>
              <a:t>Delivers real-time media: RTP breaks down audio and video streams into packets and sends them over the network. </a:t>
            </a:r>
          </a:p>
          <a:p>
            <a:r>
              <a:rPr lang="en-GB" dirty="0" smtClean="0"/>
              <a:t>Ensures proper playback: It adds timestamps to packets for accurate timing and sequence numbers to reorder lost or delayed packets, preventing glitches and buffering in real-time applications. </a:t>
            </a:r>
          </a:p>
          <a:p>
            <a:r>
              <a:rPr lang="en-GB" dirty="0" smtClean="0"/>
              <a:t>Supports multicasting: RTP can send data to multiple destinations simultaneously. </a:t>
            </a:r>
            <a:endParaRPr lang="en-US" dirty="0"/>
          </a:p>
        </p:txBody>
      </p:sp>
    </p:spTree>
    <p:extLst>
      <p:ext uri="{BB962C8B-B14F-4D97-AF65-F5344CB8AC3E}">
        <p14:creationId xmlns:p14="http://schemas.microsoft.com/office/powerpoint/2010/main" val="263089581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40715"/>
          </a:xfrm>
        </p:spPr>
        <p:txBody>
          <a:bodyPr>
            <a:normAutofit fontScale="90000"/>
          </a:bodyPr>
          <a:lstStyle/>
          <a:p>
            <a:r>
              <a:rPr lang="en-GB" dirty="0" smtClean="0"/>
              <a:t>Cont..</a:t>
            </a:r>
            <a:endParaRPr lang="en-US" dirty="0"/>
          </a:p>
        </p:txBody>
      </p:sp>
      <p:sp>
        <p:nvSpPr>
          <p:cNvPr id="3" name="Content Placeholder 2"/>
          <p:cNvSpPr>
            <a:spLocks noGrp="1"/>
          </p:cNvSpPr>
          <p:nvPr>
            <p:ph idx="1"/>
          </p:nvPr>
        </p:nvSpPr>
        <p:spPr>
          <a:xfrm>
            <a:off x="838200" y="1005840"/>
            <a:ext cx="10515600" cy="5171123"/>
          </a:xfrm>
        </p:spPr>
        <p:txBody>
          <a:bodyPr/>
          <a:lstStyle/>
          <a:p>
            <a:r>
              <a:rPr lang="en-GB" dirty="0" smtClean="0"/>
              <a:t>What it does:</a:t>
            </a:r>
          </a:p>
          <a:p>
            <a:r>
              <a:rPr lang="en-GB" dirty="0" smtClean="0"/>
              <a:t>Delivers real-time media: RTP breaks down audio and video streams into packets and sends them over the network. </a:t>
            </a:r>
          </a:p>
          <a:p>
            <a:r>
              <a:rPr lang="en-GB" dirty="0" smtClean="0"/>
              <a:t>Ensures proper playback: It adds timestamps to packets for accurate timing and sequence numbers to reorder lost or delayed packets, preventing glitches and buffering in real-time applications. </a:t>
            </a:r>
          </a:p>
          <a:p>
            <a:r>
              <a:rPr lang="en-GB" dirty="0" smtClean="0"/>
              <a:t>Supports multicasting: RTP can send data to multiple destinations simultaneously. </a:t>
            </a:r>
            <a:endParaRPr lang="en-US" dirty="0"/>
          </a:p>
        </p:txBody>
      </p:sp>
    </p:spTree>
    <p:extLst>
      <p:ext uri="{BB962C8B-B14F-4D97-AF65-F5344CB8AC3E}">
        <p14:creationId xmlns:p14="http://schemas.microsoft.com/office/powerpoint/2010/main" val="196095225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58281"/>
          </a:xfrm>
        </p:spPr>
        <p:txBody>
          <a:bodyPr/>
          <a:lstStyle/>
          <a:p>
            <a:r>
              <a:rPr lang="en-GB" dirty="0" smtClean="0"/>
              <a:t>Cont..</a:t>
            </a:r>
            <a:endParaRPr lang="en-US" dirty="0"/>
          </a:p>
        </p:txBody>
      </p:sp>
      <p:sp>
        <p:nvSpPr>
          <p:cNvPr id="3" name="Content Placeholder 2"/>
          <p:cNvSpPr>
            <a:spLocks noGrp="1"/>
          </p:cNvSpPr>
          <p:nvPr>
            <p:ph idx="1"/>
          </p:nvPr>
        </p:nvSpPr>
        <p:spPr>
          <a:xfrm>
            <a:off x="838200" y="1123406"/>
            <a:ext cx="10515600" cy="5053557"/>
          </a:xfrm>
        </p:spPr>
        <p:txBody>
          <a:bodyPr/>
          <a:lstStyle/>
          <a:p>
            <a:r>
              <a:rPr lang="en-GB" dirty="0" smtClean="0"/>
              <a:t>Key Features:</a:t>
            </a:r>
          </a:p>
          <a:p>
            <a:r>
              <a:rPr lang="en-GB" dirty="0" smtClean="0"/>
              <a:t>Timestamping: Marks packets with timestamps for synchronization. </a:t>
            </a:r>
          </a:p>
          <a:p>
            <a:r>
              <a:rPr lang="en-GB" dirty="0" smtClean="0"/>
              <a:t>Sequence Numbering: Assigns a sequence number to each packet, allowing the receiver to detect and reorder out-of-sequence packets. </a:t>
            </a:r>
          </a:p>
          <a:p>
            <a:r>
              <a:rPr lang="en-GB" dirty="0" smtClean="0"/>
              <a:t>Synchronization: Helps synchronize audio and video streams for a cohesive experience. </a:t>
            </a:r>
          </a:p>
          <a:p>
            <a:r>
              <a:rPr lang="en-GB" dirty="0" smtClean="0"/>
              <a:t>Jitter Compensation: Tolerates and compensates for variations in packet arrival times, known as jitter. </a:t>
            </a:r>
            <a:endParaRPr lang="en-US" dirty="0"/>
          </a:p>
        </p:txBody>
      </p:sp>
    </p:spTree>
    <p:extLst>
      <p:ext uri="{BB962C8B-B14F-4D97-AF65-F5344CB8AC3E}">
        <p14:creationId xmlns:p14="http://schemas.microsoft.com/office/powerpoint/2010/main" val="275838675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01972"/>
          </a:xfrm>
        </p:spPr>
        <p:txBody>
          <a:bodyPr/>
          <a:lstStyle/>
          <a:p>
            <a:r>
              <a:rPr lang="en-GB" dirty="0" smtClean="0"/>
              <a:t>Cont..</a:t>
            </a:r>
            <a:endParaRPr lang="en-US" dirty="0"/>
          </a:p>
        </p:txBody>
      </p:sp>
      <p:sp>
        <p:nvSpPr>
          <p:cNvPr id="3" name="Content Placeholder 2"/>
          <p:cNvSpPr>
            <a:spLocks noGrp="1"/>
          </p:cNvSpPr>
          <p:nvPr>
            <p:ph idx="1"/>
          </p:nvPr>
        </p:nvSpPr>
        <p:spPr>
          <a:xfrm>
            <a:off x="838200" y="1267098"/>
            <a:ext cx="10515600" cy="4909865"/>
          </a:xfrm>
        </p:spPr>
        <p:txBody>
          <a:bodyPr/>
          <a:lstStyle/>
          <a:p>
            <a:r>
              <a:rPr lang="en-GB" dirty="0" smtClean="0"/>
              <a:t>Where it's used:</a:t>
            </a:r>
          </a:p>
          <a:p>
            <a:r>
              <a:rPr lang="en-GB" dirty="0" smtClean="0"/>
              <a:t>Voice over IP (VoIP): Enables real-time voice communication over the internet. </a:t>
            </a:r>
          </a:p>
          <a:p>
            <a:r>
              <a:rPr lang="en-GB" dirty="0" smtClean="0"/>
              <a:t>Video Conferencing: Used in applications like Microsoft Teams, Apple FaceTime, and </a:t>
            </a:r>
            <a:r>
              <a:rPr lang="en-GB" dirty="0" err="1" smtClean="0"/>
              <a:t>Webex</a:t>
            </a:r>
            <a:r>
              <a:rPr lang="en-GB" dirty="0" smtClean="0"/>
              <a:t> for live video and audio. </a:t>
            </a:r>
          </a:p>
          <a:p>
            <a:r>
              <a:rPr lang="en-GB" dirty="0" smtClean="0"/>
              <a:t>Live Streaming: Delivers live audio and video content to viewers. </a:t>
            </a:r>
            <a:endParaRPr lang="en-US" dirty="0"/>
          </a:p>
        </p:txBody>
      </p:sp>
    </p:spTree>
    <p:extLst>
      <p:ext uri="{BB962C8B-B14F-4D97-AF65-F5344CB8AC3E}">
        <p14:creationId xmlns:p14="http://schemas.microsoft.com/office/powerpoint/2010/main" val="131154844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75846"/>
          </a:xfrm>
        </p:spPr>
        <p:txBody>
          <a:bodyPr/>
          <a:lstStyle/>
          <a:p>
            <a:r>
              <a:rPr lang="en-US" b="1" dirty="0"/>
              <a:t>RTP Header Format</a:t>
            </a:r>
            <a:endParaRPr lang="en-US" dirty="0"/>
          </a:p>
        </p:txBody>
      </p:sp>
      <p:pic>
        <p:nvPicPr>
          <p:cNvPr id="4" name="Content Placeholder 3"/>
          <p:cNvPicPr>
            <a:picLocks noGrp="1" noChangeAspect="1"/>
          </p:cNvPicPr>
          <p:nvPr>
            <p:ph idx="1"/>
          </p:nvPr>
        </p:nvPicPr>
        <p:blipFill>
          <a:blip r:embed="rId2"/>
          <a:stretch>
            <a:fillRect/>
          </a:stretch>
        </p:blipFill>
        <p:spPr>
          <a:xfrm>
            <a:off x="838200" y="1370806"/>
            <a:ext cx="9938657" cy="5095308"/>
          </a:xfrm>
          <a:prstGeom prst="rect">
            <a:avLst/>
          </a:prstGeom>
        </p:spPr>
      </p:pic>
    </p:spTree>
    <p:extLst>
      <p:ext uri="{BB962C8B-B14F-4D97-AF65-F5344CB8AC3E}">
        <p14:creationId xmlns:p14="http://schemas.microsoft.com/office/powerpoint/2010/main" val="69834888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92966"/>
          </a:xfrm>
        </p:spPr>
        <p:txBody>
          <a:bodyPr>
            <a:normAutofit fontScale="90000"/>
          </a:bodyPr>
          <a:lstStyle/>
          <a:p>
            <a:r>
              <a:rPr lang="en-GB" dirty="0" smtClean="0"/>
              <a:t>Cont..</a:t>
            </a:r>
            <a:endParaRPr lang="en-US" dirty="0"/>
          </a:p>
        </p:txBody>
      </p:sp>
      <p:sp>
        <p:nvSpPr>
          <p:cNvPr id="3" name="Content Placeholder 2"/>
          <p:cNvSpPr>
            <a:spLocks noGrp="1"/>
          </p:cNvSpPr>
          <p:nvPr>
            <p:ph idx="1"/>
          </p:nvPr>
        </p:nvSpPr>
        <p:spPr>
          <a:xfrm>
            <a:off x="838200" y="1058092"/>
            <a:ext cx="10515600" cy="5577839"/>
          </a:xfrm>
        </p:spPr>
        <p:txBody>
          <a:bodyPr>
            <a:normAutofit lnSpcReduction="10000"/>
          </a:bodyPr>
          <a:lstStyle/>
          <a:p>
            <a:r>
              <a:rPr lang="en-GB" dirty="0"/>
              <a:t>The header format of RTP is very simple and it covers all real-time applications</a:t>
            </a:r>
            <a:r>
              <a:rPr lang="en-GB" dirty="0" smtClean="0"/>
              <a:t>.</a:t>
            </a:r>
          </a:p>
          <a:p>
            <a:pPr fontAlgn="base"/>
            <a:r>
              <a:rPr lang="en-GB" b="1" dirty="0"/>
              <a:t>Version :</a:t>
            </a:r>
            <a:r>
              <a:rPr lang="en-GB" dirty="0"/>
              <a:t> This 2-bit field defines version number. The current version is 2</a:t>
            </a:r>
            <a:r>
              <a:rPr lang="en-GB" dirty="0" smtClean="0"/>
              <a:t>.</a:t>
            </a:r>
          </a:p>
          <a:p>
            <a:pPr fontAlgn="base"/>
            <a:r>
              <a:rPr lang="en-GB" b="1" dirty="0" smtClean="0"/>
              <a:t>P </a:t>
            </a:r>
            <a:r>
              <a:rPr lang="en-GB" b="1" dirty="0"/>
              <a:t>-</a:t>
            </a:r>
            <a:r>
              <a:rPr lang="en-GB" dirty="0"/>
              <a:t> The length of this field is 1-bit. If value is 1, then it denotes presence of padding at end of packet and if value is 0, then there is no padding.</a:t>
            </a:r>
          </a:p>
          <a:p>
            <a:pPr fontAlgn="base"/>
            <a:r>
              <a:rPr lang="en-GB" b="1" dirty="0"/>
              <a:t>X -</a:t>
            </a:r>
            <a:r>
              <a:rPr lang="en-GB" dirty="0"/>
              <a:t> The length of this field is also 1-bit. If value of this field is set to 1, then its indicates an extra extension header between data and basic header and if value is 0 then, there is no extra extension.</a:t>
            </a:r>
          </a:p>
          <a:p>
            <a:pPr fontAlgn="base"/>
            <a:r>
              <a:rPr lang="en-GB" b="1" dirty="0"/>
              <a:t>Contributor count -</a:t>
            </a:r>
            <a:r>
              <a:rPr lang="en-GB" dirty="0"/>
              <a:t> This 4-bit field indicates number of contributors. Here maximum possible number of contributor is 15 as a 4-bit field can allows number from 0 to 15.</a:t>
            </a:r>
          </a:p>
          <a:p>
            <a:endParaRPr lang="en-US" dirty="0"/>
          </a:p>
        </p:txBody>
      </p:sp>
    </p:spTree>
    <p:extLst>
      <p:ext uri="{BB962C8B-B14F-4D97-AF65-F5344CB8AC3E}">
        <p14:creationId xmlns:p14="http://schemas.microsoft.com/office/powerpoint/2010/main" val="1318047566"/>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40715"/>
          </a:xfrm>
        </p:spPr>
        <p:txBody>
          <a:bodyPr>
            <a:normAutofit fontScale="90000"/>
          </a:bodyPr>
          <a:lstStyle/>
          <a:p>
            <a:r>
              <a:rPr lang="en-GB" dirty="0" smtClean="0"/>
              <a:t>Cont..</a:t>
            </a:r>
            <a:endParaRPr lang="en-US" dirty="0"/>
          </a:p>
        </p:txBody>
      </p:sp>
      <p:sp>
        <p:nvSpPr>
          <p:cNvPr id="3" name="Content Placeholder 2"/>
          <p:cNvSpPr>
            <a:spLocks noGrp="1"/>
          </p:cNvSpPr>
          <p:nvPr>
            <p:ph idx="1"/>
          </p:nvPr>
        </p:nvSpPr>
        <p:spPr>
          <a:xfrm>
            <a:off x="838200" y="1005840"/>
            <a:ext cx="10515600" cy="5171123"/>
          </a:xfrm>
        </p:spPr>
        <p:txBody>
          <a:bodyPr>
            <a:normAutofit lnSpcReduction="10000"/>
          </a:bodyPr>
          <a:lstStyle/>
          <a:p>
            <a:pPr fontAlgn="base"/>
            <a:r>
              <a:rPr lang="en-GB" b="1" dirty="0" smtClean="0"/>
              <a:t>M </a:t>
            </a:r>
            <a:r>
              <a:rPr lang="en-GB" b="1" dirty="0"/>
              <a:t>-</a:t>
            </a:r>
            <a:r>
              <a:rPr lang="en-GB" dirty="0"/>
              <a:t> The length of this field is 1-bit and it is used as end marker by application to indicate end of its data.</a:t>
            </a:r>
          </a:p>
          <a:p>
            <a:pPr fontAlgn="base"/>
            <a:r>
              <a:rPr lang="en-GB" b="1" dirty="0"/>
              <a:t>Payload types -</a:t>
            </a:r>
            <a:r>
              <a:rPr lang="en-GB" dirty="0"/>
              <a:t> This field is of length 7-bit to indicate type of payload. We list applications of some common types of payload.</a:t>
            </a:r>
          </a:p>
          <a:p>
            <a:pPr fontAlgn="base"/>
            <a:r>
              <a:rPr lang="en-GB" b="1" dirty="0"/>
              <a:t>Sequence Number -</a:t>
            </a:r>
            <a:r>
              <a:rPr lang="en-GB" dirty="0"/>
              <a:t> </a:t>
            </a:r>
            <a:endParaRPr lang="en-GB" dirty="0" smtClean="0"/>
          </a:p>
          <a:p>
            <a:pPr fontAlgn="base"/>
            <a:r>
              <a:rPr lang="en-GB" dirty="0" smtClean="0"/>
              <a:t>The </a:t>
            </a:r>
            <a:r>
              <a:rPr lang="en-GB" dirty="0"/>
              <a:t>length of this field is 16 bits. It is used to give serial numbers to RTP packets. It helps in sequencing. </a:t>
            </a:r>
            <a:endParaRPr lang="en-GB" dirty="0" smtClean="0"/>
          </a:p>
          <a:p>
            <a:pPr fontAlgn="base"/>
            <a:r>
              <a:rPr lang="en-GB" dirty="0" smtClean="0"/>
              <a:t>The </a:t>
            </a:r>
            <a:r>
              <a:rPr lang="en-GB" dirty="0"/>
              <a:t>sequence number for first packet is given a random number and then every next packet’s sequence number is incremented by 1. </a:t>
            </a:r>
            <a:endParaRPr lang="en-GB" dirty="0" smtClean="0"/>
          </a:p>
          <a:p>
            <a:pPr fontAlgn="base"/>
            <a:r>
              <a:rPr lang="en-GB" dirty="0" smtClean="0"/>
              <a:t>This </a:t>
            </a:r>
            <a:r>
              <a:rPr lang="en-GB" dirty="0"/>
              <a:t>field mainly helps in checking lost packets and order mismatch.</a:t>
            </a:r>
          </a:p>
          <a:p>
            <a:r>
              <a:rPr lang="en-GB" dirty="0" smtClean="0"/>
              <a:t/>
            </a:r>
            <a:br>
              <a:rPr lang="en-GB" dirty="0" smtClean="0"/>
            </a:br>
            <a:endParaRPr lang="en-US" dirty="0"/>
          </a:p>
        </p:txBody>
      </p:sp>
    </p:spTree>
    <p:extLst>
      <p:ext uri="{BB962C8B-B14F-4D97-AF65-F5344CB8AC3E}">
        <p14:creationId xmlns:p14="http://schemas.microsoft.com/office/powerpoint/2010/main" val="115527015"/>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4503"/>
            <a:ext cx="10515600" cy="535577"/>
          </a:xfrm>
        </p:spPr>
        <p:txBody>
          <a:bodyPr>
            <a:normAutofit fontScale="90000"/>
          </a:bodyPr>
          <a:lstStyle/>
          <a:p>
            <a:r>
              <a:rPr lang="en-GB" dirty="0" smtClean="0"/>
              <a:t>Cont..</a:t>
            </a:r>
            <a:endParaRPr lang="en-US" dirty="0"/>
          </a:p>
        </p:txBody>
      </p:sp>
      <p:sp>
        <p:nvSpPr>
          <p:cNvPr id="3" name="Content Placeholder 2"/>
          <p:cNvSpPr>
            <a:spLocks noGrp="1"/>
          </p:cNvSpPr>
          <p:nvPr>
            <p:ph idx="1"/>
          </p:nvPr>
        </p:nvSpPr>
        <p:spPr>
          <a:xfrm>
            <a:off x="838200" y="731520"/>
            <a:ext cx="10515600" cy="5956663"/>
          </a:xfrm>
        </p:spPr>
        <p:txBody>
          <a:bodyPr>
            <a:normAutofit lnSpcReduction="10000"/>
          </a:bodyPr>
          <a:lstStyle/>
          <a:p>
            <a:pPr fontAlgn="base"/>
            <a:r>
              <a:rPr lang="en-GB" b="1" dirty="0"/>
              <a:t>Time Stamp -</a:t>
            </a:r>
            <a:r>
              <a:rPr lang="en-GB" dirty="0"/>
              <a:t> </a:t>
            </a:r>
            <a:endParaRPr lang="en-GB" dirty="0" smtClean="0"/>
          </a:p>
          <a:p>
            <a:pPr fontAlgn="base"/>
            <a:r>
              <a:rPr lang="en-GB" dirty="0" smtClean="0"/>
              <a:t>The </a:t>
            </a:r>
            <a:r>
              <a:rPr lang="en-GB" dirty="0"/>
              <a:t>length of this field is 32-bit. It is used to find relationship between times of different RTP packets. </a:t>
            </a:r>
            <a:endParaRPr lang="en-GB" dirty="0" smtClean="0"/>
          </a:p>
          <a:p>
            <a:pPr fontAlgn="base"/>
            <a:r>
              <a:rPr lang="en-GB" dirty="0" smtClean="0"/>
              <a:t>The </a:t>
            </a:r>
            <a:r>
              <a:rPr lang="en-GB" dirty="0"/>
              <a:t>timestamp for first packet is given randomly and then time stamp for next packets given by sum of previous timestamp and time taken to produce first byte of current packet. </a:t>
            </a:r>
            <a:endParaRPr lang="en-GB" dirty="0" smtClean="0"/>
          </a:p>
          <a:p>
            <a:pPr fontAlgn="base"/>
            <a:r>
              <a:rPr lang="en-GB" dirty="0" smtClean="0"/>
              <a:t>The </a:t>
            </a:r>
            <a:r>
              <a:rPr lang="en-GB" dirty="0"/>
              <a:t>value of 1 clock tick is varying from application to application.</a:t>
            </a:r>
          </a:p>
          <a:p>
            <a:pPr fontAlgn="base"/>
            <a:r>
              <a:rPr lang="en-GB" b="1" dirty="0"/>
              <a:t>Synchronization Source Identifier -</a:t>
            </a:r>
            <a:r>
              <a:rPr lang="en-GB" dirty="0"/>
              <a:t> </a:t>
            </a:r>
            <a:endParaRPr lang="en-GB" dirty="0" smtClean="0"/>
          </a:p>
          <a:p>
            <a:pPr fontAlgn="base"/>
            <a:r>
              <a:rPr lang="en-GB" dirty="0" smtClean="0"/>
              <a:t>This </a:t>
            </a:r>
            <a:r>
              <a:rPr lang="en-GB" dirty="0"/>
              <a:t>is a 32-bit field used to identify and define the source</a:t>
            </a:r>
            <a:r>
              <a:rPr lang="en-GB" dirty="0" smtClean="0"/>
              <a:t>.</a:t>
            </a:r>
          </a:p>
          <a:p>
            <a:pPr fontAlgn="base"/>
            <a:r>
              <a:rPr lang="en-GB" dirty="0" smtClean="0"/>
              <a:t> </a:t>
            </a:r>
            <a:r>
              <a:rPr lang="en-GB" dirty="0"/>
              <a:t>The value for this source identifier is a random number that is chosen by source itself. </a:t>
            </a:r>
            <a:endParaRPr lang="en-GB" dirty="0" smtClean="0"/>
          </a:p>
          <a:p>
            <a:pPr fontAlgn="base"/>
            <a:r>
              <a:rPr lang="en-GB" dirty="0" smtClean="0"/>
              <a:t>This </a:t>
            </a:r>
            <a:r>
              <a:rPr lang="en-GB" dirty="0"/>
              <a:t>mainly helps in solving conflict arises when two sources started with the same sequencing number.</a:t>
            </a:r>
          </a:p>
          <a:p>
            <a:endParaRPr lang="en-US" dirty="0"/>
          </a:p>
        </p:txBody>
      </p:sp>
    </p:spTree>
    <p:extLst>
      <p:ext uri="{BB962C8B-B14F-4D97-AF65-F5344CB8AC3E}">
        <p14:creationId xmlns:p14="http://schemas.microsoft.com/office/powerpoint/2010/main" val="400002681"/>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58281"/>
          </a:xfrm>
        </p:spPr>
        <p:txBody>
          <a:bodyPr/>
          <a:lstStyle/>
          <a:p>
            <a:r>
              <a:rPr lang="en-GB" dirty="0" smtClean="0"/>
              <a:t>Cont..</a:t>
            </a:r>
            <a:endParaRPr lang="en-US" dirty="0"/>
          </a:p>
        </p:txBody>
      </p:sp>
      <p:sp>
        <p:nvSpPr>
          <p:cNvPr id="3" name="Content Placeholder 2"/>
          <p:cNvSpPr>
            <a:spLocks noGrp="1"/>
          </p:cNvSpPr>
          <p:nvPr>
            <p:ph idx="1"/>
          </p:nvPr>
        </p:nvSpPr>
        <p:spPr>
          <a:xfrm>
            <a:off x="838200" y="1123406"/>
            <a:ext cx="10515600" cy="5053557"/>
          </a:xfrm>
        </p:spPr>
        <p:txBody>
          <a:bodyPr/>
          <a:lstStyle/>
          <a:p>
            <a:r>
              <a:rPr lang="en-GB" b="1" dirty="0"/>
              <a:t>Contributor Identifier </a:t>
            </a:r>
            <a:r>
              <a:rPr lang="en-GB" b="1" dirty="0" smtClean="0"/>
              <a:t>–</a:t>
            </a:r>
          </a:p>
          <a:p>
            <a:r>
              <a:rPr lang="en-GB" dirty="0"/>
              <a:t> This is also a 32-bit field used for source identification where there is more than one source present in session. </a:t>
            </a:r>
            <a:endParaRPr lang="en-GB" dirty="0" smtClean="0"/>
          </a:p>
          <a:p>
            <a:r>
              <a:rPr lang="en-GB" dirty="0" smtClean="0"/>
              <a:t>The </a:t>
            </a:r>
            <a:r>
              <a:rPr lang="en-GB" dirty="0"/>
              <a:t>mixer source use Synchronization source identifier and other remaining sources (maximum 15) use Contributor identifier.</a:t>
            </a:r>
          </a:p>
          <a:p>
            <a:endParaRPr lang="en-US" dirty="0"/>
          </a:p>
        </p:txBody>
      </p:sp>
    </p:spTree>
    <p:extLst>
      <p:ext uri="{BB962C8B-B14F-4D97-AF65-F5344CB8AC3E}">
        <p14:creationId xmlns:p14="http://schemas.microsoft.com/office/powerpoint/2010/main" val="1770965065"/>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10532"/>
          </a:xfrm>
        </p:spPr>
        <p:txBody>
          <a:bodyPr>
            <a:normAutofit fontScale="90000"/>
          </a:bodyPr>
          <a:lstStyle/>
          <a:p>
            <a:r>
              <a:rPr lang="en-GB" smtClean="0"/>
              <a:t>Congestion Control and Quality of Service (QoS)</a:t>
            </a:r>
            <a:endParaRPr lang="en-US"/>
          </a:p>
        </p:txBody>
      </p:sp>
      <p:sp>
        <p:nvSpPr>
          <p:cNvPr id="3" name="Content Placeholder 2"/>
          <p:cNvSpPr>
            <a:spLocks noGrp="1"/>
          </p:cNvSpPr>
          <p:nvPr>
            <p:ph idx="1"/>
          </p:nvPr>
        </p:nvSpPr>
        <p:spPr>
          <a:xfrm>
            <a:off x="838200" y="1175658"/>
            <a:ext cx="10515600" cy="5001305"/>
          </a:xfrm>
        </p:spPr>
        <p:txBody>
          <a:bodyPr/>
          <a:lstStyle/>
          <a:p>
            <a:r>
              <a:rPr lang="en-GB" dirty="0"/>
              <a:t>Congestion control and Quality of Service (</a:t>
            </a:r>
            <a:r>
              <a:rPr lang="en-GB" dirty="0" err="1"/>
              <a:t>QoS</a:t>
            </a:r>
            <a:r>
              <a:rPr lang="en-GB" dirty="0"/>
              <a:t>) are transport layer concepts that manage network traffic to prevent and mitigate network congestion, ensuring data flows efficiently and reliably. </a:t>
            </a:r>
            <a:endParaRPr lang="en-GB" dirty="0" smtClean="0"/>
          </a:p>
          <a:p>
            <a:r>
              <a:rPr lang="en-GB" dirty="0" smtClean="0"/>
              <a:t>Congestion </a:t>
            </a:r>
            <a:r>
              <a:rPr lang="en-GB" dirty="0"/>
              <a:t>control mechanisms, like open-loop prevention and closed-loop feedback, reduce traffic when a network is overloaded by techniques such as </a:t>
            </a:r>
            <a:r>
              <a:rPr lang="en-GB" dirty="0">
                <a:hlinkClick r:id="rId2"/>
              </a:rPr>
              <a:t>Additive Increase Multiplicative Decrease (AIMD</a:t>
            </a:r>
            <a:r>
              <a:rPr lang="en-GB" dirty="0" smtClean="0">
                <a:hlinkClick r:id="rId2"/>
              </a:rPr>
              <a:t>)</a:t>
            </a:r>
            <a:r>
              <a:rPr lang="en-GB" dirty="0" smtClean="0"/>
              <a:t>.</a:t>
            </a:r>
          </a:p>
          <a:p>
            <a:r>
              <a:rPr lang="en-GB" dirty="0"/>
              <a:t> </a:t>
            </a:r>
            <a:r>
              <a:rPr lang="en-GB" dirty="0" err="1"/>
              <a:t>QoS</a:t>
            </a:r>
            <a:r>
              <a:rPr lang="en-GB" dirty="0"/>
              <a:t> builds on this by providing different classes of service through techniques like resource reservation and scheduling to guarantee performance levels like bandwidth, delay, and reliability for specific applications.  </a:t>
            </a:r>
            <a:endParaRPr lang="en-US" dirty="0"/>
          </a:p>
        </p:txBody>
      </p:sp>
    </p:spTree>
    <p:extLst>
      <p:ext uri="{BB962C8B-B14F-4D97-AF65-F5344CB8AC3E}">
        <p14:creationId xmlns:p14="http://schemas.microsoft.com/office/powerpoint/2010/main" val="2330251310"/>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744582"/>
          </a:xfrm>
        </p:spPr>
        <p:txBody>
          <a:bodyPr>
            <a:normAutofit/>
          </a:bodyPr>
          <a:lstStyle/>
          <a:p>
            <a:r>
              <a:rPr lang="en-GB" dirty="0" smtClean="0"/>
              <a:t>Congestion Control </a:t>
            </a:r>
            <a:endParaRPr lang="en-US" dirty="0"/>
          </a:p>
        </p:txBody>
      </p:sp>
      <p:sp>
        <p:nvSpPr>
          <p:cNvPr id="3" name="Content Placeholder 2"/>
          <p:cNvSpPr>
            <a:spLocks noGrp="1"/>
          </p:cNvSpPr>
          <p:nvPr>
            <p:ph idx="1"/>
          </p:nvPr>
        </p:nvSpPr>
        <p:spPr>
          <a:xfrm>
            <a:off x="838200" y="744583"/>
            <a:ext cx="10515600" cy="6113417"/>
          </a:xfrm>
        </p:spPr>
        <p:txBody>
          <a:bodyPr>
            <a:normAutofit lnSpcReduction="10000"/>
          </a:bodyPr>
          <a:lstStyle/>
          <a:p>
            <a:pPr fontAlgn="base"/>
            <a:r>
              <a:rPr lang="en-GB" dirty="0"/>
              <a:t>Congestion in a computer network happens when there is too much data being sent at the same time, causing the network to slow down</a:t>
            </a:r>
            <a:r>
              <a:rPr lang="en-GB" dirty="0" smtClean="0"/>
              <a:t>.</a:t>
            </a:r>
          </a:p>
          <a:p>
            <a:pPr fontAlgn="base"/>
            <a:r>
              <a:rPr lang="en-GB" dirty="0" smtClean="0"/>
              <a:t> </a:t>
            </a:r>
            <a:r>
              <a:rPr lang="en-GB" dirty="0"/>
              <a:t>Just like traffic congestion on a busy road, network congestion leads to delays and sometimes data loss. </a:t>
            </a:r>
            <a:endParaRPr lang="en-GB" dirty="0" smtClean="0"/>
          </a:p>
          <a:p>
            <a:pPr fontAlgn="base"/>
            <a:r>
              <a:rPr lang="en-GB" dirty="0" smtClean="0"/>
              <a:t>When </a:t>
            </a:r>
            <a:r>
              <a:rPr lang="en-GB" dirty="0"/>
              <a:t>the network can't handle all the incoming data, it gets "clogged," making it difficult for information to travel smoothly from one place to another.</a:t>
            </a:r>
          </a:p>
          <a:p>
            <a:pPr fontAlgn="base"/>
            <a:r>
              <a:rPr lang="en-GB" dirty="0"/>
              <a:t>Congestion control is a crucial concept in computer networks. </a:t>
            </a:r>
            <a:endParaRPr lang="en-GB" dirty="0" smtClean="0"/>
          </a:p>
          <a:p>
            <a:pPr fontAlgn="base"/>
            <a:r>
              <a:rPr lang="en-GB" dirty="0" smtClean="0"/>
              <a:t>It </a:t>
            </a:r>
            <a:r>
              <a:rPr lang="en-GB" dirty="0"/>
              <a:t>refers to the methods used to prevent network overload and ensure smooth data flow</a:t>
            </a:r>
            <a:r>
              <a:rPr lang="en-GB" dirty="0" smtClean="0"/>
              <a:t>.</a:t>
            </a:r>
          </a:p>
          <a:p>
            <a:pPr fontAlgn="base"/>
            <a:r>
              <a:rPr lang="en-GB" dirty="0" smtClean="0"/>
              <a:t>Congestion </a:t>
            </a:r>
            <a:r>
              <a:rPr lang="en-GB" dirty="0"/>
              <a:t>control techniques help manage the traffic, so all users can enjoy a stable and efficient network connection. </a:t>
            </a:r>
            <a:endParaRPr lang="en-GB" dirty="0" smtClean="0"/>
          </a:p>
          <a:p>
            <a:pPr fontAlgn="base"/>
            <a:r>
              <a:rPr lang="en-GB" dirty="0" smtClean="0"/>
              <a:t>These </a:t>
            </a:r>
            <a:r>
              <a:rPr lang="en-GB" dirty="0"/>
              <a:t>techniques are essential for maintaining the performance and reliability of modern networks.</a:t>
            </a:r>
          </a:p>
          <a:p>
            <a:endParaRPr lang="en-US" dirty="0"/>
          </a:p>
        </p:txBody>
      </p:sp>
    </p:spTree>
    <p:extLst>
      <p:ext uri="{BB962C8B-B14F-4D97-AF65-F5344CB8AC3E}">
        <p14:creationId xmlns:p14="http://schemas.microsoft.com/office/powerpoint/2010/main" val="2079617175"/>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9904"/>
          </a:xfrm>
        </p:spPr>
        <p:txBody>
          <a:bodyPr>
            <a:normAutofit fontScale="90000"/>
          </a:bodyPr>
          <a:lstStyle/>
          <a:p>
            <a:r>
              <a:rPr lang="en-GB" dirty="0" smtClean="0"/>
              <a:t>Cont..</a:t>
            </a:r>
            <a:endParaRPr lang="en-US" dirty="0"/>
          </a:p>
        </p:txBody>
      </p:sp>
      <p:sp>
        <p:nvSpPr>
          <p:cNvPr id="3" name="Content Placeholder 2"/>
          <p:cNvSpPr>
            <a:spLocks noGrp="1"/>
          </p:cNvSpPr>
          <p:nvPr>
            <p:ph idx="1"/>
          </p:nvPr>
        </p:nvSpPr>
        <p:spPr>
          <a:xfrm>
            <a:off x="838200" y="1319349"/>
            <a:ext cx="10515600" cy="4857614"/>
          </a:xfrm>
        </p:spPr>
        <p:txBody>
          <a:bodyPr/>
          <a:lstStyle/>
          <a:p>
            <a:r>
              <a:rPr lang="en-GB" b="1" dirty="0"/>
              <a:t>What it is:</a:t>
            </a:r>
            <a:r>
              <a:rPr lang="en-GB" dirty="0"/>
              <a:t> </a:t>
            </a:r>
          </a:p>
          <a:p>
            <a:pPr fontAlgn="ctr"/>
            <a:r>
              <a:rPr lang="en-GB" dirty="0"/>
              <a:t>A set of techniques to manage the amount of data sent over a network to prevent it from becoming overwhelmed, which causes performance degradation, packet loss, and connection failures. </a:t>
            </a:r>
          </a:p>
          <a:p>
            <a:r>
              <a:rPr lang="en-GB" b="1" dirty="0"/>
              <a:t>Why it's needed:</a:t>
            </a:r>
            <a:r>
              <a:rPr lang="en-GB" dirty="0"/>
              <a:t> </a:t>
            </a:r>
          </a:p>
          <a:p>
            <a:r>
              <a:rPr lang="en-GB" dirty="0"/>
              <a:t>When too many hosts send data too quickly, router buffers overflow, causing packets to be dropped. Retransmitting dropped packets exacerbates the problem. </a:t>
            </a:r>
          </a:p>
          <a:p>
            <a:endParaRPr lang="en-US" dirty="0"/>
          </a:p>
        </p:txBody>
      </p:sp>
    </p:spTree>
    <p:extLst>
      <p:ext uri="{BB962C8B-B14F-4D97-AF65-F5344CB8AC3E}">
        <p14:creationId xmlns:p14="http://schemas.microsoft.com/office/powerpoint/2010/main" val="3947947017"/>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0630"/>
            <a:ext cx="10515600" cy="548640"/>
          </a:xfrm>
        </p:spPr>
        <p:txBody>
          <a:bodyPr>
            <a:normAutofit fontScale="90000"/>
          </a:bodyPr>
          <a:lstStyle/>
          <a:p>
            <a:r>
              <a:rPr lang="en-GB" dirty="0" smtClean="0"/>
              <a:t>Cont..</a:t>
            </a:r>
            <a:endParaRPr lang="en-US" dirty="0"/>
          </a:p>
        </p:txBody>
      </p:sp>
      <p:sp>
        <p:nvSpPr>
          <p:cNvPr id="3" name="Content Placeholder 2"/>
          <p:cNvSpPr>
            <a:spLocks noGrp="1"/>
          </p:cNvSpPr>
          <p:nvPr>
            <p:ph idx="1"/>
          </p:nvPr>
        </p:nvSpPr>
        <p:spPr>
          <a:xfrm>
            <a:off x="838200" y="574766"/>
            <a:ext cx="10515600" cy="6387737"/>
          </a:xfrm>
        </p:spPr>
        <p:txBody>
          <a:bodyPr>
            <a:normAutofit/>
          </a:bodyPr>
          <a:lstStyle/>
          <a:p>
            <a:r>
              <a:rPr lang="en-GB" b="1" dirty="0"/>
              <a:t>How it works:</a:t>
            </a:r>
            <a:endParaRPr lang="en-GB" dirty="0"/>
          </a:p>
          <a:p>
            <a:pPr fontAlgn="ctr"/>
            <a:r>
              <a:rPr lang="en-GB" b="1" dirty="0">
                <a:hlinkClick r:id="rId2"/>
              </a:rPr>
              <a:t>Open-Loop Control</a:t>
            </a:r>
            <a:r>
              <a:rPr lang="en-GB" b="1" dirty="0"/>
              <a:t>:</a:t>
            </a:r>
            <a:r>
              <a:rPr lang="en-GB" dirty="0"/>
              <a:t> Prevents congestion before it occurs by using methods at the host, like setting maximum packet rates. </a:t>
            </a:r>
          </a:p>
          <a:p>
            <a:pPr fontAlgn="ctr"/>
            <a:r>
              <a:rPr lang="en-GB" b="1" dirty="0">
                <a:hlinkClick r:id="rId3"/>
              </a:rPr>
              <a:t>Closed-Loop Control</a:t>
            </a:r>
            <a:r>
              <a:rPr lang="en-GB" b="1" dirty="0"/>
              <a:t>:</a:t>
            </a:r>
            <a:r>
              <a:rPr lang="en-GB" dirty="0"/>
              <a:t> Responds to congestion that has already occurred. </a:t>
            </a:r>
          </a:p>
          <a:p>
            <a:pPr lvl="1" fontAlgn="ctr"/>
            <a:r>
              <a:rPr lang="en-GB" b="1" dirty="0"/>
              <a:t>Implicit Control:</a:t>
            </a:r>
            <a:r>
              <a:rPr lang="en-GB" dirty="0"/>
              <a:t> The sender infers congestion from events like delayed acknowledgments and implements a </a:t>
            </a:r>
            <a:r>
              <a:rPr lang="en-GB" dirty="0">
                <a:hlinkClick r:id="rId4"/>
              </a:rPr>
              <a:t>timeout</a:t>
            </a:r>
            <a:r>
              <a:rPr lang="en-GB" dirty="0"/>
              <a:t>. </a:t>
            </a:r>
          </a:p>
          <a:p>
            <a:pPr lvl="1"/>
            <a:r>
              <a:rPr lang="en-GB" b="1" dirty="0"/>
              <a:t>Explicit Control:</a:t>
            </a:r>
            <a:r>
              <a:rPr lang="en-GB" dirty="0"/>
              <a:t> Routers send feedback to the sender to signal congestion. </a:t>
            </a:r>
            <a:endParaRPr lang="en-GB" dirty="0" smtClean="0"/>
          </a:p>
          <a:p>
            <a:r>
              <a:rPr lang="en-GB" b="1" dirty="0"/>
              <a:t>Common Mechanisms:</a:t>
            </a:r>
            <a:endParaRPr lang="en-GB" dirty="0"/>
          </a:p>
          <a:p>
            <a:pPr lvl="1" fontAlgn="ctr"/>
            <a:r>
              <a:rPr lang="en-GB" b="1" dirty="0"/>
              <a:t>AIMD (Additive Increase Multiplicative Decrease):</a:t>
            </a:r>
            <a:r>
              <a:rPr lang="en-GB" dirty="0"/>
              <a:t> A core part of TCP that gradually increases the sending rate and then drastically reduces it when congestion is detected. </a:t>
            </a:r>
          </a:p>
          <a:p>
            <a:pPr lvl="1"/>
            <a:r>
              <a:rPr lang="en-GB" b="1" dirty="0">
                <a:hlinkClick r:id="rId5"/>
              </a:rPr>
              <a:t>Traffic Shaping</a:t>
            </a:r>
            <a:r>
              <a:rPr lang="en-GB" b="1" dirty="0"/>
              <a:t> (e.g., </a:t>
            </a:r>
            <a:r>
              <a:rPr lang="en-GB" b="1" dirty="0">
                <a:hlinkClick r:id="rId6"/>
              </a:rPr>
              <a:t>Leaky Bucket</a:t>
            </a:r>
            <a:r>
              <a:rPr lang="en-GB" b="1" dirty="0"/>
              <a:t> and </a:t>
            </a:r>
            <a:r>
              <a:rPr lang="en-GB" b="1" dirty="0">
                <a:hlinkClick r:id="rId7"/>
              </a:rPr>
              <a:t>Token Bucket</a:t>
            </a:r>
            <a:r>
              <a:rPr lang="en-GB" b="1" dirty="0"/>
              <a:t>):</a:t>
            </a:r>
            <a:r>
              <a:rPr lang="en-GB" dirty="0"/>
              <a:t> Traffic is controlled to ensure a steady flow or a consistent average rate. </a:t>
            </a:r>
          </a:p>
          <a:p>
            <a:pPr lvl="1"/>
            <a:endParaRPr lang="en-GB" dirty="0"/>
          </a:p>
          <a:p>
            <a:endParaRPr lang="en-US" dirty="0"/>
          </a:p>
        </p:txBody>
      </p:sp>
    </p:spTree>
    <p:extLst>
      <p:ext uri="{BB962C8B-B14F-4D97-AF65-F5344CB8AC3E}">
        <p14:creationId xmlns:p14="http://schemas.microsoft.com/office/powerpoint/2010/main" val="3511922657"/>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97469"/>
          </a:xfrm>
        </p:spPr>
        <p:txBody>
          <a:bodyPr>
            <a:normAutofit fontScale="90000"/>
          </a:bodyPr>
          <a:lstStyle/>
          <a:p>
            <a:r>
              <a:rPr lang="en-US" b="1" dirty="0" smtClean="0"/>
              <a:t/>
            </a:r>
            <a:br>
              <a:rPr lang="en-US" b="1" dirty="0" smtClean="0"/>
            </a:br>
            <a:r>
              <a:rPr lang="en-US" b="1" dirty="0" smtClean="0"/>
              <a:t>Effects </a:t>
            </a:r>
            <a:r>
              <a:rPr lang="en-US" b="1" dirty="0"/>
              <a:t>of Congestion Control</a:t>
            </a:r>
            <a:br>
              <a:rPr lang="en-US" b="1" dirty="0"/>
            </a:br>
            <a:endParaRPr lang="en-US" dirty="0"/>
          </a:p>
        </p:txBody>
      </p:sp>
      <p:sp>
        <p:nvSpPr>
          <p:cNvPr id="3" name="Content Placeholder 2"/>
          <p:cNvSpPr>
            <a:spLocks noGrp="1"/>
          </p:cNvSpPr>
          <p:nvPr>
            <p:ph idx="1"/>
          </p:nvPr>
        </p:nvSpPr>
        <p:spPr>
          <a:xfrm>
            <a:off x="838200" y="1254034"/>
            <a:ext cx="10515600" cy="5473337"/>
          </a:xfrm>
        </p:spPr>
        <p:txBody>
          <a:bodyPr>
            <a:normAutofit/>
          </a:bodyPr>
          <a:lstStyle/>
          <a:p>
            <a:pPr fontAlgn="base"/>
            <a:r>
              <a:rPr lang="en-GB" b="1" dirty="0"/>
              <a:t>Improved Network Stability</a:t>
            </a:r>
            <a:r>
              <a:rPr lang="en-GB" dirty="0"/>
              <a:t>: </a:t>
            </a:r>
            <a:endParaRPr lang="en-GB" dirty="0" smtClean="0"/>
          </a:p>
          <a:p>
            <a:pPr fontAlgn="base"/>
            <a:r>
              <a:rPr lang="en-GB" dirty="0" smtClean="0"/>
              <a:t>Congestion </a:t>
            </a:r>
            <a:r>
              <a:rPr lang="en-GB" dirty="0"/>
              <a:t>control helps keep the network stable by preventing it from getting overloaded</a:t>
            </a:r>
            <a:r>
              <a:rPr lang="en-GB" dirty="0" smtClean="0"/>
              <a:t>.</a:t>
            </a:r>
          </a:p>
          <a:p>
            <a:pPr fontAlgn="base"/>
            <a:r>
              <a:rPr lang="en-GB" dirty="0" smtClean="0"/>
              <a:t> </a:t>
            </a:r>
            <a:r>
              <a:rPr lang="en-GB" dirty="0"/>
              <a:t>It manages the flow of data so the network doesn't crash or fail due to too much traffic.</a:t>
            </a:r>
          </a:p>
          <a:p>
            <a:pPr fontAlgn="base"/>
            <a:r>
              <a:rPr lang="en-GB" b="1" dirty="0"/>
              <a:t>Reduced Latency and Packet Loss</a:t>
            </a:r>
            <a:r>
              <a:rPr lang="en-GB" dirty="0"/>
              <a:t>: </a:t>
            </a:r>
            <a:endParaRPr lang="en-GB" dirty="0" smtClean="0"/>
          </a:p>
          <a:p>
            <a:pPr fontAlgn="base"/>
            <a:r>
              <a:rPr lang="en-GB" dirty="0" smtClean="0"/>
              <a:t>Without </a:t>
            </a:r>
            <a:r>
              <a:rPr lang="en-GB" dirty="0"/>
              <a:t>congestion control, </a:t>
            </a:r>
            <a:r>
              <a:rPr lang="en-GB" b="1" dirty="0"/>
              <a:t>data transmission</a:t>
            </a:r>
            <a:r>
              <a:rPr lang="en-GB" dirty="0"/>
              <a:t> can slow down, causing </a:t>
            </a:r>
            <a:r>
              <a:rPr lang="en-GB" u="sng" dirty="0">
                <a:hlinkClick r:id="rId2"/>
              </a:rPr>
              <a:t>delays </a:t>
            </a:r>
            <a:r>
              <a:rPr lang="en-GB" dirty="0"/>
              <a:t>and data loss</a:t>
            </a:r>
            <a:r>
              <a:rPr lang="en-GB" dirty="0" smtClean="0"/>
              <a:t>.</a:t>
            </a:r>
          </a:p>
          <a:p>
            <a:pPr fontAlgn="base"/>
            <a:r>
              <a:rPr lang="en-GB" u="sng" dirty="0">
                <a:hlinkClick r:id="rId3"/>
              </a:rPr>
              <a:t> Congestion control </a:t>
            </a:r>
            <a:r>
              <a:rPr lang="en-GB" dirty="0"/>
              <a:t>helps manage traffic better, reducing these delays and ensuring fewer data packets are lost, making data transfer faster and the network more responsive</a:t>
            </a:r>
            <a:r>
              <a:rPr lang="en-GB" dirty="0" smtClean="0"/>
              <a:t>.</a:t>
            </a:r>
            <a:endParaRPr lang="en-GB" dirty="0"/>
          </a:p>
        </p:txBody>
      </p:sp>
    </p:spTree>
    <p:extLst>
      <p:ext uri="{BB962C8B-B14F-4D97-AF65-F5344CB8AC3E}">
        <p14:creationId xmlns:p14="http://schemas.microsoft.com/office/powerpoint/2010/main" val="3596002852"/>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53778"/>
          </a:xfrm>
        </p:spPr>
        <p:txBody>
          <a:bodyPr>
            <a:normAutofit fontScale="90000"/>
          </a:bodyPr>
          <a:lstStyle/>
          <a:p>
            <a:r>
              <a:rPr lang="en-GB" dirty="0" smtClean="0"/>
              <a:t>Cont..</a:t>
            </a:r>
            <a:endParaRPr lang="en-US" dirty="0"/>
          </a:p>
        </p:txBody>
      </p:sp>
      <p:sp>
        <p:nvSpPr>
          <p:cNvPr id="3" name="Content Placeholder 2"/>
          <p:cNvSpPr>
            <a:spLocks noGrp="1"/>
          </p:cNvSpPr>
          <p:nvPr>
            <p:ph idx="1"/>
          </p:nvPr>
        </p:nvSpPr>
        <p:spPr>
          <a:xfrm>
            <a:off x="838200" y="1018904"/>
            <a:ext cx="10515600" cy="5158059"/>
          </a:xfrm>
        </p:spPr>
        <p:txBody>
          <a:bodyPr/>
          <a:lstStyle/>
          <a:p>
            <a:pPr fontAlgn="base"/>
            <a:r>
              <a:rPr lang="en-GB" b="1" dirty="0"/>
              <a:t>Enhanced Throughput</a:t>
            </a:r>
            <a:r>
              <a:rPr lang="en-GB" dirty="0"/>
              <a:t>: </a:t>
            </a:r>
            <a:endParaRPr lang="en-GB" dirty="0" smtClean="0"/>
          </a:p>
          <a:p>
            <a:pPr fontAlgn="base"/>
            <a:r>
              <a:rPr lang="en-GB" dirty="0" smtClean="0"/>
              <a:t>By </a:t>
            </a:r>
            <a:r>
              <a:rPr lang="en-GB" dirty="0"/>
              <a:t>avoiding congestion, the network can use its resources more effectively</a:t>
            </a:r>
            <a:r>
              <a:rPr lang="en-GB" dirty="0" smtClean="0"/>
              <a:t>.</a:t>
            </a:r>
          </a:p>
          <a:p>
            <a:pPr fontAlgn="base"/>
            <a:r>
              <a:rPr lang="en-GB" dirty="0" smtClean="0"/>
              <a:t> </a:t>
            </a:r>
            <a:r>
              <a:rPr lang="en-GB" dirty="0"/>
              <a:t>This means more data can be sent in a shorter time, which is important for handling large amounts of data and supporting high-speed applications.</a:t>
            </a:r>
          </a:p>
          <a:p>
            <a:pPr fontAlgn="base"/>
            <a:r>
              <a:rPr lang="en-GB" b="1" dirty="0"/>
              <a:t>Fairness in Resource Allocation</a:t>
            </a:r>
            <a:r>
              <a:rPr lang="en-GB" dirty="0"/>
              <a:t>: </a:t>
            </a:r>
            <a:endParaRPr lang="en-GB" dirty="0" smtClean="0"/>
          </a:p>
          <a:p>
            <a:pPr fontAlgn="base"/>
            <a:r>
              <a:rPr lang="en-GB" dirty="0" smtClean="0"/>
              <a:t>Congestion </a:t>
            </a:r>
            <a:r>
              <a:rPr lang="en-GB" dirty="0"/>
              <a:t>control ensures that network resources are shared fairly among users</a:t>
            </a:r>
            <a:r>
              <a:rPr lang="en-GB" dirty="0" smtClean="0"/>
              <a:t>.</a:t>
            </a:r>
          </a:p>
          <a:p>
            <a:pPr fontAlgn="base"/>
            <a:r>
              <a:rPr lang="en-GB" dirty="0" smtClean="0"/>
              <a:t> </a:t>
            </a:r>
            <a:r>
              <a:rPr lang="en-GB" dirty="0"/>
              <a:t>No single user or application can take up all the </a:t>
            </a:r>
            <a:r>
              <a:rPr lang="en-GB" u="sng" dirty="0">
                <a:hlinkClick r:id="rId2"/>
              </a:rPr>
              <a:t>bandwidth</a:t>
            </a:r>
            <a:r>
              <a:rPr lang="en-GB" dirty="0"/>
              <a:t>, allowing everyone to have a fair share.</a:t>
            </a:r>
          </a:p>
          <a:p>
            <a:endParaRPr lang="en-US" dirty="0"/>
          </a:p>
        </p:txBody>
      </p:sp>
    </p:spTree>
    <p:extLst>
      <p:ext uri="{BB962C8B-B14F-4D97-AF65-F5344CB8AC3E}">
        <p14:creationId xmlns:p14="http://schemas.microsoft.com/office/powerpoint/2010/main" val="4154238503"/>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19092"/>
          </a:xfrm>
        </p:spPr>
        <p:txBody>
          <a:bodyPr/>
          <a:lstStyle/>
          <a:p>
            <a:r>
              <a:rPr lang="en-GB" dirty="0" smtClean="0"/>
              <a:t>Cont..</a:t>
            </a:r>
            <a:endParaRPr lang="en-US" dirty="0"/>
          </a:p>
        </p:txBody>
      </p:sp>
      <p:sp>
        <p:nvSpPr>
          <p:cNvPr id="3" name="Content Placeholder 2"/>
          <p:cNvSpPr>
            <a:spLocks noGrp="1"/>
          </p:cNvSpPr>
          <p:nvPr>
            <p:ph idx="1"/>
          </p:nvPr>
        </p:nvSpPr>
        <p:spPr>
          <a:xfrm>
            <a:off x="838200" y="1084218"/>
            <a:ext cx="10515600" cy="5577839"/>
          </a:xfrm>
        </p:spPr>
        <p:txBody>
          <a:bodyPr/>
          <a:lstStyle/>
          <a:p>
            <a:pPr fontAlgn="base"/>
            <a:r>
              <a:rPr lang="en-GB" b="1" dirty="0"/>
              <a:t>Better User Experience</a:t>
            </a:r>
            <a:r>
              <a:rPr lang="en-GB" dirty="0"/>
              <a:t>: </a:t>
            </a:r>
            <a:endParaRPr lang="en-GB" dirty="0" smtClean="0"/>
          </a:p>
          <a:p>
            <a:pPr fontAlgn="base"/>
            <a:r>
              <a:rPr lang="en-GB" dirty="0" smtClean="0"/>
              <a:t>When </a:t>
            </a:r>
            <a:r>
              <a:rPr lang="en-GB" dirty="0"/>
              <a:t>data flows smoothly and quickly, users have a better experience. </a:t>
            </a:r>
            <a:endParaRPr lang="en-GB" dirty="0" smtClean="0"/>
          </a:p>
          <a:p>
            <a:pPr fontAlgn="base"/>
            <a:r>
              <a:rPr lang="en-GB" dirty="0" smtClean="0"/>
              <a:t>Websites</a:t>
            </a:r>
            <a:r>
              <a:rPr lang="en-GB" dirty="0"/>
              <a:t>, online services, and applications work more reliably and without annoying delays.</a:t>
            </a:r>
          </a:p>
          <a:p>
            <a:pPr fontAlgn="base"/>
            <a:r>
              <a:rPr lang="en-GB" b="1" dirty="0"/>
              <a:t>Mitigation of Network Congestion Collapse</a:t>
            </a:r>
            <a:r>
              <a:rPr lang="en-GB" dirty="0" smtClean="0"/>
              <a:t>:</a:t>
            </a:r>
          </a:p>
          <a:p>
            <a:pPr fontAlgn="base"/>
            <a:r>
              <a:rPr lang="en-GB" dirty="0" smtClean="0"/>
              <a:t> </a:t>
            </a:r>
            <a:r>
              <a:rPr lang="en-GB" dirty="0"/>
              <a:t>Without congestion control, a sudden spike in data traffic can overwhelm the network, causing severe congestion and making it almost unusable. </a:t>
            </a:r>
            <a:endParaRPr lang="en-GB" dirty="0" smtClean="0"/>
          </a:p>
          <a:p>
            <a:pPr fontAlgn="base"/>
            <a:r>
              <a:rPr lang="en-GB" dirty="0" smtClean="0"/>
              <a:t>Congestion </a:t>
            </a:r>
            <a:r>
              <a:rPr lang="en-GB" dirty="0"/>
              <a:t>control helps prevent this by managing traffic efficiently and avoiding such critical breakdowns.</a:t>
            </a:r>
          </a:p>
          <a:p>
            <a:endParaRPr lang="en-US" dirty="0"/>
          </a:p>
        </p:txBody>
      </p:sp>
    </p:spTree>
    <p:extLst>
      <p:ext uri="{BB962C8B-B14F-4D97-AF65-F5344CB8AC3E}">
        <p14:creationId xmlns:p14="http://schemas.microsoft.com/office/powerpoint/2010/main" val="2742340947"/>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70897"/>
          </a:xfrm>
        </p:spPr>
        <p:txBody>
          <a:bodyPr>
            <a:normAutofit fontScale="90000"/>
          </a:bodyPr>
          <a:lstStyle/>
          <a:p>
            <a:r>
              <a:rPr lang="en-US" b="1" dirty="0" smtClean="0"/>
              <a:t/>
            </a:r>
            <a:br>
              <a:rPr lang="en-US" b="1" dirty="0" smtClean="0"/>
            </a:br>
            <a:r>
              <a:rPr lang="en-US" b="1" dirty="0" smtClean="0"/>
              <a:t>Congestion </a:t>
            </a:r>
            <a:r>
              <a:rPr lang="en-US" b="1" dirty="0"/>
              <a:t>Control Algorithm</a:t>
            </a:r>
            <a:br>
              <a:rPr lang="en-US" b="1" dirty="0"/>
            </a:br>
            <a:endParaRPr lang="en-US" dirty="0"/>
          </a:p>
        </p:txBody>
      </p:sp>
      <p:sp>
        <p:nvSpPr>
          <p:cNvPr id="3" name="Content Placeholder 2"/>
          <p:cNvSpPr>
            <a:spLocks noGrp="1"/>
          </p:cNvSpPr>
          <p:nvPr>
            <p:ph idx="1"/>
          </p:nvPr>
        </p:nvSpPr>
        <p:spPr>
          <a:xfrm>
            <a:off x="838200" y="1084218"/>
            <a:ext cx="10515600" cy="5092745"/>
          </a:xfrm>
        </p:spPr>
        <p:txBody>
          <a:bodyPr/>
          <a:lstStyle/>
          <a:p>
            <a:pPr fontAlgn="base"/>
            <a:r>
              <a:rPr lang="en-GB" dirty="0"/>
              <a:t>Congestion Control is a mechanism that controls the entry of data packets into the network, enabling a better use of a shared network infrastructure and avoiding congestive collapse. </a:t>
            </a:r>
            <a:endParaRPr lang="en-GB" dirty="0" smtClean="0"/>
          </a:p>
          <a:p>
            <a:pPr fontAlgn="base"/>
            <a:r>
              <a:rPr lang="en-GB" b="1" dirty="0" smtClean="0"/>
              <a:t>Congestive-avoidance </a:t>
            </a:r>
            <a:r>
              <a:rPr lang="en-GB" b="1" dirty="0"/>
              <a:t>algorithms</a:t>
            </a:r>
            <a:r>
              <a:rPr lang="en-GB" dirty="0"/>
              <a:t> (CAA) are implemented at the </a:t>
            </a:r>
            <a:r>
              <a:rPr lang="en-GB" u="sng" dirty="0">
                <a:hlinkClick r:id="rId2"/>
              </a:rPr>
              <a:t>TCP layer </a:t>
            </a:r>
            <a:r>
              <a:rPr lang="en-GB" dirty="0"/>
              <a:t>as the mechanism to avoid congestive collapse in a network</a:t>
            </a:r>
            <a:r>
              <a:rPr lang="en-GB" dirty="0" smtClean="0"/>
              <a:t>.</a:t>
            </a:r>
          </a:p>
          <a:p>
            <a:pPr fontAlgn="base"/>
            <a:r>
              <a:rPr lang="en-GB" dirty="0" smtClean="0"/>
              <a:t>There </a:t>
            </a:r>
            <a:r>
              <a:rPr lang="en-GB" dirty="0"/>
              <a:t>are two congestion control algorithms which are as follows: </a:t>
            </a:r>
            <a:endParaRPr lang="en-GB" dirty="0" smtClean="0"/>
          </a:p>
          <a:p>
            <a:pPr fontAlgn="base"/>
            <a:r>
              <a:rPr lang="en-GB" dirty="0" smtClean="0"/>
              <a:t>1. Leaky Bucket Algorithm</a:t>
            </a:r>
          </a:p>
          <a:p>
            <a:pPr fontAlgn="base"/>
            <a:r>
              <a:rPr lang="en-GB" dirty="0" smtClean="0"/>
              <a:t>2.Token Bucket Algorithm</a:t>
            </a:r>
            <a:endParaRPr lang="en-GB" dirty="0"/>
          </a:p>
        </p:txBody>
      </p:sp>
    </p:spTree>
    <p:extLst>
      <p:ext uri="{BB962C8B-B14F-4D97-AF65-F5344CB8AC3E}">
        <p14:creationId xmlns:p14="http://schemas.microsoft.com/office/powerpoint/2010/main" val="2250831211"/>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40715"/>
          </a:xfrm>
        </p:spPr>
        <p:txBody>
          <a:bodyPr>
            <a:normAutofit fontScale="90000"/>
          </a:bodyPr>
          <a:lstStyle/>
          <a:p>
            <a:r>
              <a:rPr lang="en-US" b="1" dirty="0" smtClean="0"/>
              <a:t/>
            </a:r>
            <a:br>
              <a:rPr lang="en-US" b="1" dirty="0" smtClean="0"/>
            </a:br>
            <a:r>
              <a:rPr lang="en-US" b="1" dirty="0" smtClean="0"/>
              <a:t>Leaky </a:t>
            </a:r>
            <a:r>
              <a:rPr lang="en-US" b="1" dirty="0"/>
              <a:t>Bucket Algorithm</a:t>
            </a:r>
            <a:br>
              <a:rPr lang="en-US" b="1" dirty="0"/>
            </a:br>
            <a:endParaRPr lang="en-US" dirty="0"/>
          </a:p>
        </p:txBody>
      </p:sp>
      <p:sp>
        <p:nvSpPr>
          <p:cNvPr id="3" name="Content Placeholder 2"/>
          <p:cNvSpPr>
            <a:spLocks noGrp="1"/>
          </p:cNvSpPr>
          <p:nvPr>
            <p:ph idx="1"/>
          </p:nvPr>
        </p:nvSpPr>
        <p:spPr>
          <a:xfrm>
            <a:off x="838200" y="1005840"/>
            <a:ext cx="10515600" cy="5171123"/>
          </a:xfrm>
        </p:spPr>
        <p:txBody>
          <a:bodyPr/>
          <a:lstStyle/>
          <a:p>
            <a:pPr fontAlgn="base"/>
            <a:r>
              <a:rPr lang="en-GB" dirty="0"/>
              <a:t>The leaky bucket algorithm discovers its use in the context of network traffic shaping or rate-limiting. </a:t>
            </a:r>
          </a:p>
          <a:p>
            <a:pPr fontAlgn="base"/>
            <a:r>
              <a:rPr lang="en-GB" dirty="0"/>
              <a:t>A leaky bucket execution and a token bucket execution are predominantly used for traffic shaping algorithms.</a:t>
            </a:r>
          </a:p>
          <a:p>
            <a:pPr fontAlgn="base"/>
            <a:r>
              <a:rPr lang="en-GB" dirty="0"/>
              <a:t>This algorithm is used to control the rate at which traffic is sent to the network and shape the burst traffic to a steady traffic stream.</a:t>
            </a:r>
          </a:p>
          <a:p>
            <a:pPr fontAlgn="base"/>
            <a:r>
              <a:rPr lang="en-GB" dirty="0"/>
              <a:t>The disadvantages compared with the leaky-bucket algorithm are the inefficient use of available network resources.</a:t>
            </a:r>
          </a:p>
          <a:p>
            <a:pPr fontAlgn="base"/>
            <a:r>
              <a:rPr lang="en-GB" dirty="0"/>
              <a:t>The large area of network resources such as </a:t>
            </a:r>
            <a:r>
              <a:rPr lang="en-GB" u="sng" dirty="0">
                <a:hlinkClick r:id="rId2"/>
              </a:rPr>
              <a:t>bandwidth </a:t>
            </a:r>
            <a:r>
              <a:rPr lang="en-GB" dirty="0"/>
              <a:t>is not being used effectively.</a:t>
            </a:r>
          </a:p>
          <a:p>
            <a:endParaRPr lang="en-US" dirty="0"/>
          </a:p>
        </p:txBody>
      </p:sp>
    </p:spTree>
    <p:extLst>
      <p:ext uri="{BB962C8B-B14F-4D97-AF65-F5344CB8AC3E}">
        <p14:creationId xmlns:p14="http://schemas.microsoft.com/office/powerpoint/2010/main" val="2005063315"/>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84406"/>
          </a:xfrm>
        </p:spPr>
        <p:txBody>
          <a:bodyPr/>
          <a:lstStyle/>
          <a:p>
            <a:r>
              <a:rPr lang="en-GB" dirty="0" smtClean="0"/>
              <a:t>Cont..</a:t>
            </a:r>
            <a:endParaRPr lang="en-US" dirty="0"/>
          </a:p>
        </p:txBody>
      </p:sp>
      <p:sp>
        <p:nvSpPr>
          <p:cNvPr id="3" name="Content Placeholder 2"/>
          <p:cNvSpPr>
            <a:spLocks noGrp="1"/>
          </p:cNvSpPr>
          <p:nvPr>
            <p:ph idx="1"/>
          </p:nvPr>
        </p:nvSpPr>
        <p:spPr>
          <a:xfrm>
            <a:off x="838200" y="1149532"/>
            <a:ext cx="10515600" cy="5027431"/>
          </a:xfrm>
        </p:spPr>
        <p:txBody>
          <a:bodyPr/>
          <a:lstStyle/>
          <a:p>
            <a:r>
              <a:rPr lang="en-GB" dirty="0"/>
              <a:t>Let us consider an example to understand. </a:t>
            </a:r>
            <a:endParaRPr lang="en-GB" dirty="0" smtClean="0"/>
          </a:p>
          <a:p>
            <a:r>
              <a:rPr lang="en-GB" dirty="0" smtClean="0"/>
              <a:t>Imagine </a:t>
            </a:r>
            <a:r>
              <a:rPr lang="en-GB" dirty="0"/>
              <a:t>a bucket with a small hole in the bottom. </a:t>
            </a:r>
            <a:endParaRPr lang="en-GB" dirty="0" smtClean="0"/>
          </a:p>
          <a:p>
            <a:r>
              <a:rPr lang="en-GB" dirty="0" smtClean="0"/>
              <a:t>No </a:t>
            </a:r>
            <a:r>
              <a:rPr lang="en-GB" dirty="0"/>
              <a:t>matter at what rate water enters the bucket, the outflow is at constant rate</a:t>
            </a:r>
            <a:r>
              <a:rPr lang="en-GB" dirty="0" smtClean="0"/>
              <a:t>.</a:t>
            </a:r>
          </a:p>
          <a:p>
            <a:r>
              <a:rPr lang="en-GB" dirty="0" smtClean="0"/>
              <a:t> </a:t>
            </a:r>
            <a:r>
              <a:rPr lang="en-GB" dirty="0"/>
              <a:t>When the bucket is full with water additional water entering spills over the sides and is lost.</a:t>
            </a:r>
            <a:endParaRPr lang="en-US" dirty="0"/>
          </a:p>
        </p:txBody>
      </p:sp>
    </p:spTree>
    <p:extLst>
      <p:ext uri="{BB962C8B-B14F-4D97-AF65-F5344CB8AC3E}">
        <p14:creationId xmlns:p14="http://schemas.microsoft.com/office/powerpoint/2010/main" val="894135506"/>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953589" y="470263"/>
            <a:ext cx="9431382" cy="6217920"/>
          </a:xfrm>
          <a:prstGeom prst="rect">
            <a:avLst/>
          </a:prstGeom>
        </p:spPr>
      </p:pic>
    </p:spTree>
    <p:extLst>
      <p:ext uri="{BB962C8B-B14F-4D97-AF65-F5344CB8AC3E}">
        <p14:creationId xmlns:p14="http://schemas.microsoft.com/office/powerpoint/2010/main" val="1310062495"/>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45218"/>
          </a:xfrm>
        </p:spPr>
        <p:txBody>
          <a:bodyPr/>
          <a:lstStyle/>
          <a:p>
            <a:r>
              <a:rPr lang="en-GB" dirty="0" smtClean="0"/>
              <a:t>Cont..</a:t>
            </a:r>
            <a:endParaRPr lang="en-US" dirty="0"/>
          </a:p>
        </p:txBody>
      </p:sp>
      <p:sp>
        <p:nvSpPr>
          <p:cNvPr id="3" name="Content Placeholder 2"/>
          <p:cNvSpPr>
            <a:spLocks noGrp="1"/>
          </p:cNvSpPr>
          <p:nvPr>
            <p:ph idx="1"/>
          </p:nvPr>
        </p:nvSpPr>
        <p:spPr>
          <a:xfrm>
            <a:off x="838200" y="1110344"/>
            <a:ext cx="10515600" cy="5066619"/>
          </a:xfrm>
        </p:spPr>
        <p:txBody>
          <a:bodyPr/>
          <a:lstStyle/>
          <a:p>
            <a:pPr fontAlgn="base"/>
            <a:r>
              <a:rPr lang="en-GB" dirty="0"/>
              <a:t>Similarly, each network interface contains a leaky bucket and the following steps are involved in leaky bucket algorithm:</a:t>
            </a:r>
          </a:p>
          <a:p>
            <a:pPr fontAlgn="base"/>
            <a:r>
              <a:rPr lang="en-GB" dirty="0"/>
              <a:t>When host wants to send packet, packet is thrown into the bucket.</a:t>
            </a:r>
          </a:p>
          <a:p>
            <a:pPr fontAlgn="base"/>
            <a:r>
              <a:rPr lang="en-GB" dirty="0"/>
              <a:t>The bucket leaks at a constant rate, meaning the network interface transmits packets at a constant rate.</a:t>
            </a:r>
          </a:p>
          <a:p>
            <a:pPr fontAlgn="base"/>
            <a:r>
              <a:rPr lang="en-GB" dirty="0" err="1"/>
              <a:t>Bursty</a:t>
            </a:r>
            <a:r>
              <a:rPr lang="en-GB" dirty="0"/>
              <a:t> traffic is converted to a uniform traffic by the leaky bucket.</a:t>
            </a:r>
          </a:p>
          <a:p>
            <a:pPr fontAlgn="base"/>
            <a:r>
              <a:rPr lang="en-GB" dirty="0"/>
              <a:t>In practice the bucket is a finite queue that outputs at a finite rate. </a:t>
            </a:r>
          </a:p>
          <a:p>
            <a:endParaRPr lang="en-US" dirty="0"/>
          </a:p>
        </p:txBody>
      </p:sp>
    </p:spTree>
    <p:extLst>
      <p:ext uri="{BB962C8B-B14F-4D97-AF65-F5344CB8AC3E}">
        <p14:creationId xmlns:p14="http://schemas.microsoft.com/office/powerpoint/2010/main" val="3923528314"/>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3692"/>
            <a:ext cx="10515600" cy="444138"/>
          </a:xfrm>
        </p:spPr>
        <p:txBody>
          <a:bodyPr>
            <a:normAutofit fontScale="90000"/>
          </a:bodyPr>
          <a:lstStyle/>
          <a:p>
            <a:r>
              <a:rPr lang="en-US" b="1" dirty="0" smtClean="0"/>
              <a:t/>
            </a:r>
            <a:br>
              <a:rPr lang="en-US" b="1" dirty="0" smtClean="0"/>
            </a:br>
            <a:r>
              <a:rPr lang="en-US" b="1" dirty="0" smtClean="0"/>
              <a:t>Token </a:t>
            </a:r>
            <a:r>
              <a:rPr lang="en-US" b="1" dirty="0"/>
              <a:t>Bucket Algorithm</a:t>
            </a:r>
            <a:br>
              <a:rPr lang="en-US" b="1" dirty="0"/>
            </a:br>
            <a:endParaRPr lang="en-US" dirty="0"/>
          </a:p>
        </p:txBody>
      </p:sp>
      <p:sp>
        <p:nvSpPr>
          <p:cNvPr id="3" name="Content Placeholder 2"/>
          <p:cNvSpPr>
            <a:spLocks noGrp="1"/>
          </p:cNvSpPr>
          <p:nvPr>
            <p:ph idx="1"/>
          </p:nvPr>
        </p:nvSpPr>
        <p:spPr>
          <a:xfrm>
            <a:off x="838200" y="587830"/>
            <a:ext cx="10515600" cy="6270170"/>
          </a:xfrm>
        </p:spPr>
        <p:txBody>
          <a:bodyPr>
            <a:normAutofit fontScale="92500" lnSpcReduction="20000"/>
          </a:bodyPr>
          <a:lstStyle/>
          <a:p>
            <a:pPr fontAlgn="base"/>
            <a:r>
              <a:rPr lang="en-GB" dirty="0"/>
              <a:t>The leaky bucket algorithm has a rigid output design at an average rate independent of the </a:t>
            </a:r>
            <a:r>
              <a:rPr lang="en-GB" dirty="0" err="1"/>
              <a:t>bursty</a:t>
            </a:r>
            <a:r>
              <a:rPr lang="en-GB" dirty="0"/>
              <a:t> traffic.</a:t>
            </a:r>
          </a:p>
          <a:p>
            <a:pPr fontAlgn="base"/>
            <a:r>
              <a:rPr lang="en-GB" dirty="0"/>
              <a:t>In some applications, when large bursts arrive, the output is allowed to speed up. </a:t>
            </a:r>
            <a:endParaRPr lang="en-GB" dirty="0" smtClean="0"/>
          </a:p>
          <a:p>
            <a:pPr fontAlgn="base"/>
            <a:r>
              <a:rPr lang="en-GB" dirty="0" smtClean="0"/>
              <a:t>This </a:t>
            </a:r>
            <a:r>
              <a:rPr lang="en-GB" dirty="0"/>
              <a:t>calls for a more flexible algorithm, preferably one that never loses information. </a:t>
            </a:r>
            <a:endParaRPr lang="en-GB" dirty="0" smtClean="0"/>
          </a:p>
          <a:p>
            <a:pPr fontAlgn="base"/>
            <a:r>
              <a:rPr lang="en-GB" dirty="0" smtClean="0"/>
              <a:t>Therefore</a:t>
            </a:r>
            <a:r>
              <a:rPr lang="en-GB" dirty="0"/>
              <a:t>, a token bucket algorithm finds its uses in network traffic shaping or rate-limiting.</a:t>
            </a:r>
          </a:p>
          <a:p>
            <a:pPr fontAlgn="base"/>
            <a:r>
              <a:rPr lang="en-GB" dirty="0"/>
              <a:t>It is a control algorithm that indicates when traffic should be sent. This order comes based on the display of tokens in the bucket. </a:t>
            </a:r>
          </a:p>
          <a:p>
            <a:pPr fontAlgn="base"/>
            <a:r>
              <a:rPr lang="en-GB" dirty="0"/>
              <a:t>The bucket contains tokens. Each of the tokens defines a packet of predetermined size. </a:t>
            </a:r>
            <a:endParaRPr lang="en-GB" dirty="0" smtClean="0"/>
          </a:p>
          <a:p>
            <a:pPr fontAlgn="base"/>
            <a:r>
              <a:rPr lang="en-GB" dirty="0" smtClean="0"/>
              <a:t>Tokens </a:t>
            </a:r>
            <a:r>
              <a:rPr lang="en-GB" dirty="0"/>
              <a:t>in the bucket are deleted for the ability to share a packet.</a:t>
            </a:r>
          </a:p>
          <a:p>
            <a:pPr fontAlgn="base"/>
            <a:r>
              <a:rPr lang="en-GB" dirty="0"/>
              <a:t>When tokens are shown, a flow to transmit traffic appears in the display of tokens.</a:t>
            </a:r>
          </a:p>
          <a:p>
            <a:pPr fontAlgn="base"/>
            <a:r>
              <a:rPr lang="en-GB" dirty="0"/>
              <a:t> No token means no flow sends its packets. Hence, a flow transfers traffic up to its peak burst rate in good tokens in the bucket.</a:t>
            </a:r>
          </a:p>
          <a:p>
            <a:endParaRPr lang="en-US" dirty="0"/>
          </a:p>
        </p:txBody>
      </p:sp>
    </p:spTree>
    <p:extLst>
      <p:ext uri="{BB962C8B-B14F-4D97-AF65-F5344CB8AC3E}">
        <p14:creationId xmlns:p14="http://schemas.microsoft.com/office/powerpoint/2010/main" val="3844487814"/>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71344"/>
          </a:xfrm>
        </p:spPr>
        <p:txBody>
          <a:bodyPr>
            <a:normAutofit fontScale="90000"/>
          </a:bodyPr>
          <a:lstStyle/>
          <a:p>
            <a:r>
              <a:rPr lang="en-GB" b="1" dirty="0" smtClean="0"/>
              <a:t/>
            </a:r>
            <a:br>
              <a:rPr lang="en-GB" b="1" dirty="0" smtClean="0"/>
            </a:br>
            <a:r>
              <a:rPr lang="en-GB" b="1" dirty="0" smtClean="0"/>
              <a:t>Need </a:t>
            </a:r>
            <a:r>
              <a:rPr lang="en-GB" b="1" dirty="0"/>
              <a:t>of Token Bucket Algorithm</a:t>
            </a:r>
            <a:br>
              <a:rPr lang="en-GB" b="1" dirty="0"/>
            </a:br>
            <a:endParaRPr lang="en-US" dirty="0"/>
          </a:p>
        </p:txBody>
      </p:sp>
      <p:sp>
        <p:nvSpPr>
          <p:cNvPr id="3" name="Content Placeholder 2"/>
          <p:cNvSpPr>
            <a:spLocks noGrp="1"/>
          </p:cNvSpPr>
          <p:nvPr>
            <p:ph idx="1"/>
          </p:nvPr>
        </p:nvSpPr>
        <p:spPr>
          <a:xfrm>
            <a:off x="838200" y="1136470"/>
            <a:ext cx="10515600" cy="5630090"/>
          </a:xfrm>
        </p:spPr>
        <p:txBody>
          <a:bodyPr>
            <a:normAutofit/>
          </a:bodyPr>
          <a:lstStyle/>
          <a:p>
            <a:pPr fontAlgn="base"/>
            <a:r>
              <a:rPr lang="en-GB" dirty="0"/>
              <a:t>The leaky bucket algorithm enforces output pattern at the average rate, no matter how </a:t>
            </a:r>
            <a:r>
              <a:rPr lang="en-GB" dirty="0" err="1"/>
              <a:t>bursty</a:t>
            </a:r>
            <a:r>
              <a:rPr lang="en-GB" dirty="0"/>
              <a:t> the traffic is</a:t>
            </a:r>
            <a:r>
              <a:rPr lang="en-GB" dirty="0" smtClean="0"/>
              <a:t>.</a:t>
            </a:r>
          </a:p>
          <a:p>
            <a:pPr fontAlgn="base"/>
            <a:r>
              <a:rPr lang="en-GB" dirty="0" smtClean="0"/>
              <a:t> </a:t>
            </a:r>
            <a:r>
              <a:rPr lang="en-GB" dirty="0"/>
              <a:t>So in order to deal with the </a:t>
            </a:r>
            <a:r>
              <a:rPr lang="en-GB" dirty="0" err="1"/>
              <a:t>bursty</a:t>
            </a:r>
            <a:r>
              <a:rPr lang="en-GB" dirty="0"/>
              <a:t> traffic we need a flexible algorithm so that the data is not lost. </a:t>
            </a:r>
            <a:endParaRPr lang="en-GB" dirty="0" smtClean="0"/>
          </a:p>
          <a:p>
            <a:pPr fontAlgn="base"/>
            <a:r>
              <a:rPr lang="en-GB" dirty="0" smtClean="0"/>
              <a:t>One </a:t>
            </a:r>
            <a:r>
              <a:rPr lang="en-GB" dirty="0"/>
              <a:t>such algorithm is token bucket algorithm.</a:t>
            </a:r>
          </a:p>
          <a:p>
            <a:pPr fontAlgn="base"/>
            <a:r>
              <a:rPr lang="en-GB" dirty="0"/>
              <a:t>Steps of this algorithm can be described as follows:</a:t>
            </a:r>
          </a:p>
          <a:p>
            <a:pPr fontAlgn="base"/>
            <a:r>
              <a:rPr lang="en-GB" dirty="0"/>
              <a:t>In regular intervals tokens are thrown into the bucket.</a:t>
            </a:r>
          </a:p>
          <a:p>
            <a:pPr fontAlgn="base"/>
            <a:r>
              <a:rPr lang="en-GB" dirty="0"/>
              <a:t>The bucket has a maximum capacity.</a:t>
            </a:r>
          </a:p>
          <a:p>
            <a:pPr fontAlgn="base"/>
            <a:r>
              <a:rPr lang="en-GB" dirty="0"/>
              <a:t>If there is a ready packet, a token is removed from the bucket, and the packet is sent.</a:t>
            </a:r>
          </a:p>
          <a:p>
            <a:pPr fontAlgn="base"/>
            <a:r>
              <a:rPr lang="en-GB" dirty="0"/>
              <a:t>If there is no token in the bucket, the packet cannot be sent.</a:t>
            </a:r>
          </a:p>
          <a:p>
            <a:endParaRPr lang="en-US" dirty="0"/>
          </a:p>
        </p:txBody>
      </p:sp>
    </p:spTree>
    <p:extLst>
      <p:ext uri="{BB962C8B-B14F-4D97-AF65-F5344CB8AC3E}">
        <p14:creationId xmlns:p14="http://schemas.microsoft.com/office/powerpoint/2010/main" val="1399832901"/>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58281"/>
          </a:xfrm>
        </p:spPr>
        <p:txBody>
          <a:bodyPr>
            <a:normAutofit fontScale="90000"/>
          </a:bodyPr>
          <a:lstStyle/>
          <a:p>
            <a:r>
              <a:rPr lang="en-US" b="1" dirty="0" smtClean="0"/>
              <a:t/>
            </a:r>
            <a:br>
              <a:rPr lang="en-US" b="1" dirty="0" smtClean="0"/>
            </a:br>
            <a:r>
              <a:rPr lang="en-US" b="1" dirty="0" smtClean="0"/>
              <a:t>Token </a:t>
            </a:r>
            <a:r>
              <a:rPr lang="en-US" b="1" dirty="0"/>
              <a:t>Bucket vs Leaky Bucket</a:t>
            </a:r>
            <a:br>
              <a:rPr lang="en-US" b="1" dirty="0"/>
            </a:br>
            <a:endParaRPr lang="en-US" dirty="0"/>
          </a:p>
        </p:txBody>
      </p:sp>
      <p:sp>
        <p:nvSpPr>
          <p:cNvPr id="3" name="Content Placeholder 2"/>
          <p:cNvSpPr>
            <a:spLocks noGrp="1"/>
          </p:cNvSpPr>
          <p:nvPr>
            <p:ph idx="1"/>
          </p:nvPr>
        </p:nvSpPr>
        <p:spPr>
          <a:xfrm>
            <a:off x="838200" y="1123406"/>
            <a:ext cx="10515600" cy="5053557"/>
          </a:xfrm>
        </p:spPr>
        <p:txBody>
          <a:bodyPr/>
          <a:lstStyle/>
          <a:p>
            <a:r>
              <a:rPr lang="en-GB" dirty="0"/>
              <a:t>The </a:t>
            </a:r>
            <a:r>
              <a:rPr lang="en-GB" u="sng" dirty="0">
                <a:hlinkClick r:id="rId2"/>
              </a:rPr>
              <a:t>leaky bucket algorithm</a:t>
            </a:r>
            <a:r>
              <a:rPr lang="en-GB" dirty="0"/>
              <a:t> controls the rate at which the packets are introduced in the network, but it is very conservative in nature. </a:t>
            </a:r>
            <a:endParaRPr lang="en-GB" dirty="0" smtClean="0"/>
          </a:p>
          <a:p>
            <a:r>
              <a:rPr lang="en-GB" dirty="0" smtClean="0"/>
              <a:t>Some </a:t>
            </a:r>
            <a:r>
              <a:rPr lang="en-GB" dirty="0"/>
              <a:t>flexibility is introduced in the token bucket algorithm. </a:t>
            </a:r>
            <a:endParaRPr lang="en-GB" dirty="0" smtClean="0"/>
          </a:p>
          <a:p>
            <a:r>
              <a:rPr lang="en-GB" dirty="0" smtClean="0"/>
              <a:t>In </a:t>
            </a:r>
            <a:r>
              <a:rPr lang="en-GB" dirty="0"/>
              <a:t>the</a:t>
            </a:r>
            <a:r>
              <a:rPr lang="en-GB" u="sng" dirty="0">
                <a:hlinkClick r:id="rId3"/>
              </a:rPr>
              <a:t> token bucket algorithm</a:t>
            </a:r>
            <a:r>
              <a:rPr lang="en-GB" dirty="0"/>
              <a:t>, tokens are generated at each tick (up to a certain limit</a:t>
            </a:r>
            <a:r>
              <a:rPr lang="en-GB" dirty="0" smtClean="0"/>
              <a:t>).</a:t>
            </a:r>
          </a:p>
          <a:p>
            <a:r>
              <a:rPr lang="en-GB" dirty="0" smtClean="0"/>
              <a:t> </a:t>
            </a:r>
            <a:r>
              <a:rPr lang="en-GB" dirty="0"/>
              <a:t>For an incoming packet to be transmitted, it must capture a token and the transmission takes place at the same rate. </a:t>
            </a:r>
            <a:endParaRPr lang="en-GB" dirty="0" smtClean="0"/>
          </a:p>
          <a:p>
            <a:r>
              <a:rPr lang="en-GB" dirty="0" smtClean="0"/>
              <a:t>Hence </a:t>
            </a:r>
            <a:r>
              <a:rPr lang="en-GB" dirty="0"/>
              <a:t>some of the busty packets are transmitted at the same rate if tokens are available and thus introduces some amount of flexibility in the system.</a:t>
            </a:r>
            <a:endParaRPr lang="en-US" dirty="0"/>
          </a:p>
        </p:txBody>
      </p:sp>
    </p:spTree>
    <p:extLst>
      <p:ext uri="{BB962C8B-B14F-4D97-AF65-F5344CB8AC3E}">
        <p14:creationId xmlns:p14="http://schemas.microsoft.com/office/powerpoint/2010/main" val="3742117800"/>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097280" y="431074"/>
            <a:ext cx="10149839" cy="6335485"/>
          </a:xfrm>
          <a:prstGeom prst="rect">
            <a:avLst/>
          </a:prstGeom>
        </p:spPr>
      </p:pic>
    </p:spTree>
    <p:extLst>
      <p:ext uri="{BB962C8B-B14F-4D97-AF65-F5344CB8AC3E}">
        <p14:creationId xmlns:p14="http://schemas.microsoft.com/office/powerpoint/2010/main" val="2887449413"/>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19092"/>
          </a:xfrm>
        </p:spPr>
        <p:txBody>
          <a:bodyPr>
            <a:normAutofit fontScale="90000"/>
          </a:bodyPr>
          <a:lstStyle/>
          <a:p>
            <a:r>
              <a:rPr lang="en-US" b="1" dirty="0"/>
              <a:t>Advantages</a:t>
            </a:r>
            <a:br>
              <a:rPr lang="en-US" b="1" dirty="0"/>
            </a:br>
            <a:endParaRPr lang="en-US" dirty="0"/>
          </a:p>
        </p:txBody>
      </p:sp>
      <p:sp>
        <p:nvSpPr>
          <p:cNvPr id="3" name="Content Placeholder 2"/>
          <p:cNvSpPr>
            <a:spLocks noGrp="1"/>
          </p:cNvSpPr>
          <p:nvPr>
            <p:ph idx="1"/>
          </p:nvPr>
        </p:nvSpPr>
        <p:spPr>
          <a:xfrm>
            <a:off x="838200" y="783771"/>
            <a:ext cx="10515600" cy="5393192"/>
          </a:xfrm>
        </p:spPr>
        <p:txBody>
          <a:bodyPr/>
          <a:lstStyle/>
          <a:p>
            <a:pPr fontAlgn="base"/>
            <a:r>
              <a:rPr lang="en-GB" b="1" dirty="0"/>
              <a:t>Stable Network Operation</a:t>
            </a:r>
            <a:r>
              <a:rPr lang="en-GB" dirty="0"/>
              <a:t>: Congestion control ensures that networks remain stable and operational by preventing them from becoming overloaded with too much data traffic.</a:t>
            </a:r>
          </a:p>
          <a:p>
            <a:pPr fontAlgn="base"/>
            <a:r>
              <a:rPr lang="en-GB" b="1" dirty="0"/>
              <a:t>Reduced Delays</a:t>
            </a:r>
            <a:r>
              <a:rPr lang="en-GB" dirty="0"/>
              <a:t>: It minimizes delays in data transmission by managing traffic flow effectively, ensuring that data packets reach their destinations promptly.</a:t>
            </a:r>
          </a:p>
          <a:p>
            <a:pPr fontAlgn="base"/>
            <a:r>
              <a:rPr lang="en-GB" b="1" dirty="0"/>
              <a:t>Less Data Loss</a:t>
            </a:r>
            <a:r>
              <a:rPr lang="en-GB" dirty="0"/>
              <a:t>: By regulating the amount of data in the network at any given time, congestion control reduces the likelihood of data packets being lost or discarded.</a:t>
            </a:r>
          </a:p>
          <a:p>
            <a:pPr fontAlgn="base"/>
            <a:r>
              <a:rPr lang="en-GB" b="1" dirty="0"/>
              <a:t>Optimal Resource Utilization</a:t>
            </a:r>
            <a:r>
              <a:rPr lang="en-GB" dirty="0"/>
              <a:t>: It helps networks use their resources efficiently, allowing for better </a:t>
            </a:r>
            <a:r>
              <a:rPr lang="en-GB" u="sng" dirty="0">
                <a:hlinkClick r:id="rId2"/>
              </a:rPr>
              <a:t>throughput </a:t>
            </a:r>
            <a:r>
              <a:rPr lang="en-GB" dirty="0"/>
              <a:t>and ensuring that users can access data and services without interruptions.</a:t>
            </a:r>
          </a:p>
          <a:p>
            <a:endParaRPr lang="en-US" dirty="0"/>
          </a:p>
        </p:txBody>
      </p:sp>
    </p:spTree>
    <p:extLst>
      <p:ext uri="{BB962C8B-B14F-4D97-AF65-F5344CB8AC3E}">
        <p14:creationId xmlns:p14="http://schemas.microsoft.com/office/powerpoint/2010/main" val="946216397"/>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28098"/>
          </a:xfrm>
        </p:spPr>
        <p:txBody>
          <a:bodyPr/>
          <a:lstStyle/>
          <a:p>
            <a:r>
              <a:rPr lang="en-GB" dirty="0" smtClean="0"/>
              <a:t>Cont..</a:t>
            </a:r>
            <a:endParaRPr lang="en-US" dirty="0"/>
          </a:p>
        </p:txBody>
      </p:sp>
      <p:sp>
        <p:nvSpPr>
          <p:cNvPr id="3" name="Content Placeholder 2"/>
          <p:cNvSpPr>
            <a:spLocks noGrp="1"/>
          </p:cNvSpPr>
          <p:nvPr>
            <p:ph idx="1"/>
          </p:nvPr>
        </p:nvSpPr>
        <p:spPr/>
        <p:txBody>
          <a:bodyPr/>
          <a:lstStyle/>
          <a:p>
            <a:pPr fontAlgn="base"/>
            <a:r>
              <a:rPr lang="en-GB" b="1" dirty="0"/>
              <a:t>Scalability</a:t>
            </a:r>
            <a:r>
              <a:rPr lang="en-GB" dirty="0"/>
              <a:t>: Congestion control mechanisms are scalable, allowing networks to handle increasing volumes of data traffic as they grow without compromising performance.</a:t>
            </a:r>
          </a:p>
          <a:p>
            <a:pPr fontAlgn="base"/>
            <a:r>
              <a:rPr lang="en-GB" b="1" dirty="0"/>
              <a:t>Adaptability</a:t>
            </a:r>
            <a:r>
              <a:rPr lang="en-GB" dirty="0"/>
              <a:t>: Modern congestion control algorithms can adapt to changing network conditions, ensuring optimal performance even in dynamic and unpredictable environments.</a:t>
            </a:r>
          </a:p>
          <a:p>
            <a:endParaRPr lang="en-US" dirty="0"/>
          </a:p>
        </p:txBody>
      </p:sp>
    </p:spTree>
    <p:extLst>
      <p:ext uri="{BB962C8B-B14F-4D97-AF65-F5344CB8AC3E}">
        <p14:creationId xmlns:p14="http://schemas.microsoft.com/office/powerpoint/2010/main" val="3923287796"/>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88464"/>
          </a:xfrm>
        </p:spPr>
        <p:txBody>
          <a:bodyPr>
            <a:normAutofit fontScale="90000"/>
          </a:bodyPr>
          <a:lstStyle/>
          <a:p>
            <a:r>
              <a:rPr lang="en-US" b="1" dirty="0"/>
              <a:t>Disadvantages</a:t>
            </a:r>
            <a:br>
              <a:rPr lang="en-US" b="1" dirty="0"/>
            </a:br>
            <a:endParaRPr lang="en-US" dirty="0"/>
          </a:p>
        </p:txBody>
      </p:sp>
      <p:sp>
        <p:nvSpPr>
          <p:cNvPr id="3" name="Content Placeholder 2"/>
          <p:cNvSpPr>
            <a:spLocks noGrp="1"/>
          </p:cNvSpPr>
          <p:nvPr>
            <p:ph idx="1"/>
          </p:nvPr>
        </p:nvSpPr>
        <p:spPr>
          <a:xfrm>
            <a:off x="838200" y="718456"/>
            <a:ext cx="10515600" cy="5956663"/>
          </a:xfrm>
        </p:spPr>
        <p:txBody>
          <a:bodyPr>
            <a:normAutofit lnSpcReduction="10000"/>
          </a:bodyPr>
          <a:lstStyle/>
          <a:p>
            <a:pPr fontAlgn="base"/>
            <a:r>
              <a:rPr lang="en-GB" b="1" dirty="0"/>
              <a:t>Complexity</a:t>
            </a:r>
            <a:r>
              <a:rPr lang="en-GB" dirty="0"/>
              <a:t>: Implementing congestion control algorithms can add complexity to network management, requiring sophisticated systems and configurations.</a:t>
            </a:r>
          </a:p>
          <a:p>
            <a:pPr fontAlgn="base"/>
            <a:r>
              <a:rPr lang="en-GB" b="1" dirty="0"/>
              <a:t>Overhead</a:t>
            </a:r>
            <a:r>
              <a:rPr lang="en-GB" dirty="0"/>
              <a:t>: Some congestion control techniques introduce additional overhead, which can consume network resources and affect overall performance.</a:t>
            </a:r>
          </a:p>
          <a:p>
            <a:pPr fontAlgn="base"/>
            <a:r>
              <a:rPr lang="en-GB" b="1" dirty="0"/>
              <a:t>Algorithm Sensitivity</a:t>
            </a:r>
            <a:r>
              <a:rPr lang="en-GB" dirty="0"/>
              <a:t>: The effectiveness of congestion control algorithms can be sensitive to network conditions and configurations, requiring fine-tuning for optimal performance.</a:t>
            </a:r>
          </a:p>
          <a:p>
            <a:pPr fontAlgn="base"/>
            <a:r>
              <a:rPr lang="en-GB" b="1" dirty="0"/>
              <a:t>Resource Allocation Issues</a:t>
            </a:r>
            <a:r>
              <a:rPr lang="en-GB" dirty="0"/>
              <a:t>: Fairness in</a:t>
            </a:r>
            <a:r>
              <a:rPr lang="en-GB" u="sng" dirty="0">
                <a:hlinkClick r:id="rId2"/>
              </a:rPr>
              <a:t> resource allocation</a:t>
            </a:r>
            <a:r>
              <a:rPr lang="en-GB" dirty="0"/>
              <a:t>, while a benefit, can also pose challenges when trying to prioritize critical applications over less essential ones.</a:t>
            </a:r>
          </a:p>
          <a:p>
            <a:pPr fontAlgn="base"/>
            <a:r>
              <a:rPr lang="en-GB" b="1" dirty="0"/>
              <a:t>Dependency on Network Infrastructure</a:t>
            </a:r>
            <a:r>
              <a:rPr lang="en-GB" dirty="0"/>
              <a:t>: Congestion control relies on the underlying network infrastructure and may be less effective in environments with outdated or unreliable equipment.</a:t>
            </a:r>
          </a:p>
          <a:p>
            <a:endParaRPr lang="en-US" dirty="0"/>
          </a:p>
        </p:txBody>
      </p:sp>
    </p:spTree>
    <p:extLst>
      <p:ext uri="{BB962C8B-B14F-4D97-AF65-F5344CB8AC3E}">
        <p14:creationId xmlns:p14="http://schemas.microsoft.com/office/powerpoint/2010/main" val="1618636058"/>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92966"/>
          </a:xfrm>
        </p:spPr>
        <p:txBody>
          <a:bodyPr>
            <a:normAutofit fontScale="90000"/>
          </a:bodyPr>
          <a:lstStyle/>
          <a:p>
            <a:r>
              <a:rPr lang="en-GB" dirty="0" smtClean="0"/>
              <a:t>Quality of Service (</a:t>
            </a:r>
            <a:r>
              <a:rPr lang="en-GB" dirty="0" err="1" smtClean="0"/>
              <a:t>QoS</a:t>
            </a:r>
            <a:r>
              <a:rPr lang="en-GB" dirty="0"/>
              <a:t>)</a:t>
            </a:r>
            <a:endParaRPr lang="en-US" dirty="0"/>
          </a:p>
        </p:txBody>
      </p:sp>
      <p:sp>
        <p:nvSpPr>
          <p:cNvPr id="3" name="Content Placeholder 2"/>
          <p:cNvSpPr>
            <a:spLocks noGrp="1"/>
          </p:cNvSpPr>
          <p:nvPr>
            <p:ph idx="1"/>
          </p:nvPr>
        </p:nvSpPr>
        <p:spPr>
          <a:xfrm>
            <a:off x="838200" y="1058092"/>
            <a:ext cx="10515600" cy="5118871"/>
          </a:xfrm>
        </p:spPr>
        <p:txBody>
          <a:bodyPr/>
          <a:lstStyle/>
          <a:p>
            <a:r>
              <a:rPr lang="en-GB" dirty="0"/>
              <a:t>Quality of Service (</a:t>
            </a:r>
            <a:r>
              <a:rPr lang="en-GB" dirty="0" err="1"/>
              <a:t>QoS</a:t>
            </a:r>
            <a:r>
              <a:rPr lang="en-GB" dirty="0"/>
              <a:t>) is a set of network technologies that manage and prioritize data traffic to ensure the performance of critical applications by controlling factors like delay, jitter (delay variation), packet loss, and bandwidth. </a:t>
            </a:r>
            <a:endParaRPr lang="en-GB" dirty="0" smtClean="0"/>
          </a:p>
          <a:p>
            <a:r>
              <a:rPr lang="en-GB" dirty="0" smtClean="0"/>
              <a:t>To </a:t>
            </a:r>
            <a:r>
              <a:rPr lang="en-GB" dirty="0"/>
              <a:t>improve </a:t>
            </a:r>
            <a:r>
              <a:rPr lang="en-GB" dirty="0" err="1"/>
              <a:t>QoS</a:t>
            </a:r>
            <a:r>
              <a:rPr lang="en-GB" dirty="0"/>
              <a:t>, network administrators use methods such as packet marking, which identifies traffic types (voice, video, data); </a:t>
            </a:r>
            <a:r>
              <a:rPr lang="en-GB" dirty="0">
                <a:hlinkClick r:id="rId2"/>
              </a:rPr>
              <a:t>virtual queuing</a:t>
            </a:r>
            <a:r>
              <a:rPr lang="en-GB" dirty="0"/>
              <a:t> to create separate queues for different priorities; traffic shaping to control data flow rates; </a:t>
            </a:r>
            <a:r>
              <a:rPr lang="en-GB" dirty="0">
                <a:hlinkClick r:id="rId3"/>
              </a:rPr>
              <a:t>bandwidth allocation</a:t>
            </a:r>
            <a:r>
              <a:rPr lang="en-GB" dirty="0"/>
              <a:t> to reserve resources; and </a:t>
            </a:r>
            <a:r>
              <a:rPr lang="en-GB" dirty="0">
                <a:hlinkClick r:id="rId4"/>
              </a:rPr>
              <a:t>admission control</a:t>
            </a:r>
            <a:r>
              <a:rPr lang="en-GB" dirty="0"/>
              <a:t> to manage network capacity.  </a:t>
            </a:r>
            <a:endParaRPr lang="en-US" dirty="0"/>
          </a:p>
        </p:txBody>
      </p:sp>
    </p:spTree>
    <p:extLst>
      <p:ext uri="{BB962C8B-B14F-4D97-AF65-F5344CB8AC3E}">
        <p14:creationId xmlns:p14="http://schemas.microsoft.com/office/powerpoint/2010/main" val="3336166190"/>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7567"/>
            <a:ext cx="10515600" cy="613953"/>
          </a:xfrm>
        </p:spPr>
        <p:txBody>
          <a:bodyPr>
            <a:normAutofit fontScale="90000"/>
          </a:bodyPr>
          <a:lstStyle/>
          <a:p>
            <a:r>
              <a:rPr lang="en-GB" dirty="0"/>
              <a:t>What is Quality of Service (</a:t>
            </a:r>
            <a:r>
              <a:rPr lang="en-GB" dirty="0" err="1"/>
              <a:t>QoS</a:t>
            </a:r>
            <a:r>
              <a:rPr lang="en-GB" dirty="0"/>
              <a:t>)?</a:t>
            </a:r>
            <a:endParaRPr lang="en-US" dirty="0"/>
          </a:p>
        </p:txBody>
      </p:sp>
      <p:sp>
        <p:nvSpPr>
          <p:cNvPr id="3" name="Content Placeholder 2"/>
          <p:cNvSpPr>
            <a:spLocks noGrp="1"/>
          </p:cNvSpPr>
          <p:nvPr>
            <p:ph idx="1"/>
          </p:nvPr>
        </p:nvSpPr>
        <p:spPr>
          <a:xfrm>
            <a:off x="838200" y="731520"/>
            <a:ext cx="10515600" cy="6126480"/>
          </a:xfrm>
        </p:spPr>
        <p:txBody>
          <a:bodyPr>
            <a:normAutofit fontScale="92500" lnSpcReduction="20000"/>
          </a:bodyPr>
          <a:lstStyle/>
          <a:p>
            <a:pPr fontAlgn="ctr"/>
            <a:r>
              <a:rPr lang="en-GB" dirty="0" err="1"/>
              <a:t>QoS</a:t>
            </a:r>
            <a:r>
              <a:rPr lang="en-GB" dirty="0"/>
              <a:t> refers to the techniques and technologies used in computer networks to manage network traffic and ensure predictable performance for specific applications</a:t>
            </a:r>
            <a:r>
              <a:rPr lang="en-GB" dirty="0" smtClean="0"/>
              <a:t>.</a:t>
            </a:r>
          </a:p>
          <a:p>
            <a:pPr fontAlgn="ctr"/>
            <a:r>
              <a:rPr lang="en-GB" dirty="0"/>
              <a:t> It focuses on improving the overall user experience by preventing network congestion and performance degradation. The key characteristics that </a:t>
            </a:r>
            <a:r>
              <a:rPr lang="en-GB" dirty="0" err="1"/>
              <a:t>QoS</a:t>
            </a:r>
            <a:r>
              <a:rPr lang="en-GB" dirty="0"/>
              <a:t> aims to control are: </a:t>
            </a:r>
          </a:p>
          <a:p>
            <a:r>
              <a:rPr lang="en-GB" b="1" dirty="0"/>
              <a:t>Reliability</a:t>
            </a:r>
            <a:r>
              <a:rPr lang="en-GB" dirty="0"/>
              <a:t>: </a:t>
            </a:r>
          </a:p>
          <a:p>
            <a:pPr fontAlgn="ctr"/>
            <a:r>
              <a:rPr lang="en-GB" dirty="0"/>
              <a:t>Ensuring data is delivered without loss or significant errors. </a:t>
            </a:r>
          </a:p>
          <a:p>
            <a:r>
              <a:rPr lang="en-GB" b="1" dirty="0"/>
              <a:t>Delay</a:t>
            </a:r>
            <a:r>
              <a:rPr lang="en-GB" dirty="0"/>
              <a:t>: </a:t>
            </a:r>
          </a:p>
          <a:p>
            <a:pPr fontAlgn="ctr"/>
            <a:r>
              <a:rPr lang="en-GB" dirty="0"/>
              <a:t>Minimizing the time it takes for data packets to travel from sender to receiver. </a:t>
            </a:r>
          </a:p>
          <a:p>
            <a:r>
              <a:rPr lang="en-GB" b="1" dirty="0"/>
              <a:t>Jitter</a:t>
            </a:r>
            <a:r>
              <a:rPr lang="en-GB" dirty="0"/>
              <a:t>: </a:t>
            </a:r>
          </a:p>
          <a:p>
            <a:pPr fontAlgn="ctr"/>
            <a:r>
              <a:rPr lang="en-GB" dirty="0"/>
              <a:t>Reducing the variation in delay between packets to maintain smooth audio and video streams. </a:t>
            </a:r>
          </a:p>
          <a:p>
            <a:r>
              <a:rPr lang="en-GB" b="1" dirty="0"/>
              <a:t>Bandwidth</a:t>
            </a:r>
            <a:r>
              <a:rPr lang="en-GB" dirty="0"/>
              <a:t>: </a:t>
            </a:r>
          </a:p>
          <a:p>
            <a:r>
              <a:rPr lang="en-GB" dirty="0"/>
              <a:t>Managing the amount of data that can be transferred within a given time, which is crucial for high-demand applications. </a:t>
            </a:r>
          </a:p>
          <a:p>
            <a:endParaRPr lang="en-US" dirty="0"/>
          </a:p>
        </p:txBody>
      </p:sp>
    </p:spTree>
    <p:extLst>
      <p:ext uri="{BB962C8B-B14F-4D97-AF65-F5344CB8AC3E}">
        <p14:creationId xmlns:p14="http://schemas.microsoft.com/office/powerpoint/2010/main" val="2958930403"/>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66841"/>
          </a:xfrm>
        </p:spPr>
        <p:txBody>
          <a:bodyPr>
            <a:normAutofit fontScale="90000"/>
          </a:bodyPr>
          <a:lstStyle/>
          <a:p>
            <a:r>
              <a:rPr lang="en-US" dirty="0"/>
              <a:t>Methods to Improve </a:t>
            </a:r>
            <a:r>
              <a:rPr lang="en-US" dirty="0" err="1"/>
              <a:t>QoS</a:t>
            </a:r>
            <a:endParaRPr lang="en-US" dirty="0"/>
          </a:p>
        </p:txBody>
      </p:sp>
      <p:sp>
        <p:nvSpPr>
          <p:cNvPr id="3" name="Content Placeholder 2"/>
          <p:cNvSpPr>
            <a:spLocks noGrp="1"/>
          </p:cNvSpPr>
          <p:nvPr>
            <p:ph idx="1"/>
          </p:nvPr>
        </p:nvSpPr>
        <p:spPr>
          <a:xfrm>
            <a:off x="838200" y="1031966"/>
            <a:ext cx="10515600" cy="5144997"/>
          </a:xfrm>
        </p:spPr>
        <p:txBody>
          <a:bodyPr>
            <a:normAutofit lnSpcReduction="10000"/>
          </a:bodyPr>
          <a:lstStyle/>
          <a:p>
            <a:r>
              <a:rPr lang="en-GB" b="1" dirty="0">
                <a:hlinkClick r:id="rId2"/>
              </a:rPr>
              <a:t>Packet Marking</a:t>
            </a:r>
            <a:r>
              <a:rPr lang="en-GB" dirty="0"/>
              <a:t>: </a:t>
            </a:r>
          </a:p>
          <a:p>
            <a:pPr fontAlgn="ctr"/>
            <a:r>
              <a:rPr lang="en-GB" dirty="0"/>
              <a:t>This process assigns a priority tag to data packets, differentiating critical traffic (like voice and video) from less important data. </a:t>
            </a:r>
          </a:p>
          <a:p>
            <a:r>
              <a:rPr lang="en-GB" b="1" dirty="0"/>
              <a:t>Virtual Queues (or Queuing)</a:t>
            </a:r>
            <a:r>
              <a:rPr lang="en-GB" dirty="0"/>
              <a:t>: </a:t>
            </a:r>
          </a:p>
          <a:p>
            <a:pPr fontAlgn="ctr"/>
            <a:r>
              <a:rPr lang="en-GB" dirty="0"/>
              <a:t>Routers create separate, virtual queues for different types of traffic. Critical applications receive reserved bandwidth and preferential treatment in these queues, ensuring they get processed first. </a:t>
            </a:r>
          </a:p>
          <a:p>
            <a:r>
              <a:rPr lang="en-GB" b="1" dirty="0">
                <a:hlinkClick r:id="rId3"/>
              </a:rPr>
              <a:t>Traffic Shaping</a:t>
            </a:r>
            <a:r>
              <a:rPr lang="en-GB" dirty="0"/>
              <a:t>: </a:t>
            </a:r>
          </a:p>
          <a:p>
            <a:r>
              <a:rPr lang="en-GB" dirty="0"/>
              <a:t>This method controls the rate at which data packets are sent into the network. It helps to smooth out traffic bursts, preventing congestion and reducing delay. </a:t>
            </a:r>
          </a:p>
          <a:p>
            <a:endParaRPr lang="en-US" dirty="0"/>
          </a:p>
        </p:txBody>
      </p:sp>
    </p:spTree>
    <p:extLst>
      <p:ext uri="{BB962C8B-B14F-4D97-AF65-F5344CB8AC3E}">
        <p14:creationId xmlns:p14="http://schemas.microsoft.com/office/powerpoint/2010/main" val="41795613"/>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0630"/>
            <a:ext cx="10515600" cy="522514"/>
          </a:xfrm>
        </p:spPr>
        <p:txBody>
          <a:bodyPr>
            <a:normAutofit fontScale="90000"/>
          </a:bodyPr>
          <a:lstStyle/>
          <a:p>
            <a:r>
              <a:rPr lang="en-GB" dirty="0" smtClean="0"/>
              <a:t>Cont..</a:t>
            </a:r>
            <a:endParaRPr lang="en-US" dirty="0"/>
          </a:p>
        </p:txBody>
      </p:sp>
      <p:sp>
        <p:nvSpPr>
          <p:cNvPr id="3" name="Content Placeholder 2"/>
          <p:cNvSpPr>
            <a:spLocks noGrp="1"/>
          </p:cNvSpPr>
          <p:nvPr>
            <p:ph idx="1"/>
          </p:nvPr>
        </p:nvSpPr>
        <p:spPr>
          <a:xfrm>
            <a:off x="838200" y="483326"/>
            <a:ext cx="10515600" cy="6113417"/>
          </a:xfrm>
        </p:spPr>
        <p:txBody>
          <a:bodyPr>
            <a:normAutofit/>
          </a:bodyPr>
          <a:lstStyle/>
          <a:p>
            <a:r>
              <a:rPr lang="en-GB" b="1" dirty="0">
                <a:hlinkClick r:id="rId2"/>
              </a:rPr>
              <a:t>Bandwidth Allocation</a:t>
            </a:r>
            <a:r>
              <a:rPr lang="en-GB" dirty="0"/>
              <a:t>: </a:t>
            </a:r>
          </a:p>
          <a:p>
            <a:pPr fontAlgn="ctr"/>
            <a:r>
              <a:rPr lang="en-GB" dirty="0"/>
              <a:t>Specific portions of the network's bandwidth are reserved for certain applications or services. This guarantees that essential services have the resources they need, even when the network is busy. </a:t>
            </a:r>
          </a:p>
          <a:p>
            <a:r>
              <a:rPr lang="en-GB" b="1" dirty="0">
                <a:hlinkClick r:id="rId3"/>
              </a:rPr>
              <a:t>Resource Reservation</a:t>
            </a:r>
            <a:r>
              <a:rPr lang="en-GB" dirty="0"/>
              <a:t>: </a:t>
            </a:r>
          </a:p>
          <a:p>
            <a:pPr fontAlgn="ctr"/>
            <a:r>
              <a:rPr lang="en-GB" dirty="0"/>
              <a:t>This involves reserving network resources, such as bandwidth and processing power, for specific flows of data. </a:t>
            </a:r>
          </a:p>
          <a:p>
            <a:r>
              <a:rPr lang="en-GB" b="1" dirty="0">
                <a:hlinkClick r:id="rId4"/>
              </a:rPr>
              <a:t>Admission Control</a:t>
            </a:r>
            <a:r>
              <a:rPr lang="en-GB" dirty="0"/>
              <a:t>: </a:t>
            </a:r>
          </a:p>
          <a:p>
            <a:r>
              <a:rPr lang="en-GB" dirty="0"/>
              <a:t>A mechanism to control the amount of traffic entering the network. It ensures that new traffic flows do not exceed the network's capacity, preventing overload and maintaining service quality for existing flows. </a:t>
            </a:r>
          </a:p>
          <a:p>
            <a:endParaRPr lang="en-US" dirty="0"/>
          </a:p>
        </p:txBody>
      </p:sp>
    </p:spTree>
    <p:extLst>
      <p:ext uri="{BB962C8B-B14F-4D97-AF65-F5344CB8AC3E}">
        <p14:creationId xmlns:p14="http://schemas.microsoft.com/office/powerpoint/2010/main" val="1435922563"/>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45218"/>
          </a:xfrm>
        </p:spPr>
        <p:txBody>
          <a:bodyPr/>
          <a:lstStyle/>
          <a:p>
            <a:r>
              <a:rPr lang="en-GB" dirty="0" smtClean="0"/>
              <a:t>TCP and UDP for wireless network</a:t>
            </a:r>
            <a:endParaRPr lang="en-US" dirty="0"/>
          </a:p>
        </p:txBody>
      </p:sp>
      <p:sp>
        <p:nvSpPr>
          <p:cNvPr id="3" name="Content Placeholder 2"/>
          <p:cNvSpPr>
            <a:spLocks noGrp="1"/>
          </p:cNvSpPr>
          <p:nvPr>
            <p:ph idx="1"/>
          </p:nvPr>
        </p:nvSpPr>
        <p:spPr>
          <a:xfrm>
            <a:off x="838200" y="1110344"/>
            <a:ext cx="10515600" cy="5066619"/>
          </a:xfrm>
        </p:spPr>
        <p:txBody>
          <a:bodyPr/>
          <a:lstStyle/>
          <a:p>
            <a:r>
              <a:rPr lang="en-GB" dirty="0"/>
              <a:t>TCP and UDP can both be used over wireless networks, but the choice depends on application requirements. </a:t>
            </a:r>
            <a:endParaRPr lang="en-GB" dirty="0" smtClean="0"/>
          </a:p>
          <a:p>
            <a:r>
              <a:rPr lang="en-GB" dirty="0" smtClean="0"/>
              <a:t>TCP </a:t>
            </a:r>
            <a:r>
              <a:rPr lang="en-GB" dirty="0"/>
              <a:t>(Transmission Control Protocol) offers reliable, ordered, and error-checked data delivery, ideal for applications where accuracy is paramount, like web browsing and email. </a:t>
            </a:r>
            <a:endParaRPr lang="en-GB" dirty="0" smtClean="0"/>
          </a:p>
          <a:p>
            <a:r>
              <a:rPr lang="en-GB" dirty="0" smtClean="0"/>
              <a:t>UDP </a:t>
            </a:r>
            <a:r>
              <a:rPr lang="en-GB" dirty="0"/>
              <a:t>(User Datagram Protocol) provides fast, connectionless transmission with low overhead, but without guaranteed delivery, making it suitable for real-time applications like video streaming and online gaming where speed and low latency are prioritized. </a:t>
            </a:r>
            <a:endParaRPr lang="en-US" dirty="0"/>
          </a:p>
        </p:txBody>
      </p:sp>
    </p:spTree>
    <p:extLst>
      <p:ext uri="{BB962C8B-B14F-4D97-AF65-F5344CB8AC3E}">
        <p14:creationId xmlns:p14="http://schemas.microsoft.com/office/powerpoint/2010/main" val="3292996552"/>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53778"/>
          </a:xfrm>
        </p:spPr>
        <p:txBody>
          <a:bodyPr>
            <a:normAutofit fontScale="90000"/>
          </a:bodyPr>
          <a:lstStyle/>
          <a:p>
            <a:r>
              <a:rPr lang="en-GB" dirty="0"/>
              <a:t>When to Use TCP on a Wireless Network </a:t>
            </a:r>
            <a:endParaRPr lang="en-US" dirty="0"/>
          </a:p>
        </p:txBody>
      </p:sp>
      <p:sp>
        <p:nvSpPr>
          <p:cNvPr id="3" name="Content Placeholder 2"/>
          <p:cNvSpPr>
            <a:spLocks noGrp="1"/>
          </p:cNvSpPr>
          <p:nvPr>
            <p:ph idx="1"/>
          </p:nvPr>
        </p:nvSpPr>
        <p:spPr>
          <a:xfrm>
            <a:off x="838200" y="1018904"/>
            <a:ext cx="10515600" cy="5158059"/>
          </a:xfrm>
        </p:spPr>
        <p:txBody>
          <a:bodyPr/>
          <a:lstStyle/>
          <a:p>
            <a:r>
              <a:rPr lang="en-GB" b="1"/>
              <a:t>Data Integrity is Critical:</a:t>
            </a:r>
            <a:r>
              <a:rPr lang="en-GB"/>
              <a:t> </a:t>
            </a:r>
          </a:p>
          <a:p>
            <a:r>
              <a:rPr lang="en-GB"/>
              <a:t>TCP ensures that all data packets are received in the correct order and without errors, which is crucial for applications like file transfers, secure data transfers, and sending emails.</a:t>
            </a:r>
          </a:p>
          <a:p>
            <a:r>
              <a:rPr lang="en-GB" b="1"/>
              <a:t>Reliable Connection Needed:</a:t>
            </a:r>
            <a:r>
              <a:rPr lang="en-GB"/>
              <a:t> </a:t>
            </a:r>
          </a:p>
          <a:p>
            <a:r>
              <a:rPr lang="en-GB"/>
              <a:t>TCP establishes a connection before data transmission, maintaining a stable flow and retransmitting lost packets, ensuring that the application has complete and accurate information.</a:t>
            </a:r>
          </a:p>
        </p:txBody>
      </p:sp>
    </p:spTree>
    <p:extLst>
      <p:ext uri="{BB962C8B-B14F-4D97-AF65-F5344CB8AC3E}">
        <p14:creationId xmlns:p14="http://schemas.microsoft.com/office/powerpoint/2010/main" val="1557575931"/>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88463"/>
          </a:xfrm>
        </p:spPr>
        <p:txBody>
          <a:bodyPr>
            <a:normAutofit fontScale="90000"/>
          </a:bodyPr>
          <a:lstStyle/>
          <a:p>
            <a:r>
              <a:rPr lang="en-GB" dirty="0" smtClean="0"/>
              <a:t/>
            </a:r>
            <a:br>
              <a:rPr lang="en-GB" dirty="0" smtClean="0"/>
            </a:br>
            <a:r>
              <a:rPr lang="en-GB" dirty="0" smtClean="0"/>
              <a:t/>
            </a:r>
            <a:br>
              <a:rPr lang="en-GB" dirty="0" smtClean="0"/>
            </a:br>
            <a:r>
              <a:rPr lang="en-GB" dirty="0" smtClean="0"/>
              <a:t>When </a:t>
            </a:r>
            <a:r>
              <a:rPr lang="en-GB" dirty="0"/>
              <a:t>to Use UDP on a Wireless Network</a:t>
            </a:r>
            <a:br>
              <a:rPr lang="en-GB" dirty="0"/>
            </a:br>
            <a:r>
              <a:rPr lang="en-GB" dirty="0"/>
              <a:t/>
            </a:r>
            <a:br>
              <a:rPr lang="en-GB" dirty="0"/>
            </a:br>
            <a:endParaRPr lang="en-US" dirty="0"/>
          </a:p>
        </p:txBody>
      </p:sp>
      <p:sp>
        <p:nvSpPr>
          <p:cNvPr id="3" name="Content Placeholder 2"/>
          <p:cNvSpPr>
            <a:spLocks noGrp="1"/>
          </p:cNvSpPr>
          <p:nvPr>
            <p:ph idx="1"/>
          </p:nvPr>
        </p:nvSpPr>
        <p:spPr>
          <a:xfrm>
            <a:off x="838200" y="1175657"/>
            <a:ext cx="10515600" cy="5355772"/>
          </a:xfrm>
        </p:spPr>
        <p:txBody>
          <a:bodyPr>
            <a:normAutofit/>
          </a:bodyPr>
          <a:lstStyle/>
          <a:p>
            <a:r>
              <a:rPr lang="en-GB" b="1" dirty="0"/>
              <a:t>Speed and Low Latency Are Key:</a:t>
            </a:r>
            <a:r>
              <a:rPr lang="en-GB" dirty="0"/>
              <a:t> </a:t>
            </a:r>
          </a:p>
          <a:p>
            <a:pPr fontAlgn="ctr"/>
            <a:r>
              <a:rPr lang="en-GB" dirty="0"/>
              <a:t>UDP's connectionless nature reduces overhead, resulting in faster data transmission and lower latency, which is essential for real-time applications like live broadcasts, voice calls (VoIP), and online gaming. </a:t>
            </a:r>
          </a:p>
          <a:p>
            <a:r>
              <a:rPr lang="en-GB" b="1" dirty="0"/>
              <a:t>Application Tolerates Data Loss:</a:t>
            </a:r>
            <a:r>
              <a:rPr lang="en-GB" dirty="0"/>
              <a:t> </a:t>
            </a:r>
          </a:p>
          <a:p>
            <a:pPr fontAlgn="ctr"/>
            <a:r>
              <a:rPr lang="en-GB" dirty="0"/>
              <a:t>Since UDP does not guarantee delivery or order, applications using it must be designed to handle potential data loss or out-of-order packets. </a:t>
            </a:r>
          </a:p>
          <a:p>
            <a:r>
              <a:rPr lang="en-GB" b="1" dirty="0"/>
              <a:t>Efficient for Broadcasts:</a:t>
            </a:r>
            <a:r>
              <a:rPr lang="en-GB" dirty="0"/>
              <a:t> </a:t>
            </a:r>
          </a:p>
          <a:p>
            <a:r>
              <a:rPr lang="en-GB" dirty="0"/>
              <a:t>UDP is well-suited for broadcasting and multicast transmissions because it does not need to establish a connection with every recipient. </a:t>
            </a:r>
          </a:p>
          <a:p>
            <a:endParaRPr lang="en-US" dirty="0"/>
          </a:p>
        </p:txBody>
      </p:sp>
    </p:spTree>
    <p:extLst>
      <p:ext uri="{BB962C8B-B14F-4D97-AF65-F5344CB8AC3E}">
        <p14:creationId xmlns:p14="http://schemas.microsoft.com/office/powerpoint/2010/main" val="3894958768"/>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836022"/>
          </a:xfrm>
        </p:spPr>
        <p:txBody>
          <a:bodyPr>
            <a:normAutofit fontScale="90000"/>
          </a:bodyPr>
          <a:lstStyle/>
          <a:p>
            <a:r>
              <a:rPr lang="en-GB" dirty="0"/>
              <a:t>Challenges for TCP and UDP on Wireless Networks</a:t>
            </a:r>
            <a:endParaRPr lang="en-US" dirty="0"/>
          </a:p>
        </p:txBody>
      </p:sp>
      <p:sp>
        <p:nvSpPr>
          <p:cNvPr id="3" name="Content Placeholder 2"/>
          <p:cNvSpPr>
            <a:spLocks noGrp="1"/>
          </p:cNvSpPr>
          <p:nvPr>
            <p:ph idx="1"/>
          </p:nvPr>
        </p:nvSpPr>
        <p:spPr>
          <a:xfrm>
            <a:off x="838200" y="718457"/>
            <a:ext cx="10515600" cy="5982789"/>
          </a:xfrm>
        </p:spPr>
        <p:txBody>
          <a:bodyPr>
            <a:normAutofit lnSpcReduction="10000"/>
          </a:bodyPr>
          <a:lstStyle/>
          <a:p>
            <a:r>
              <a:rPr lang="en-GB" b="1" dirty="0"/>
              <a:t>Performance Issues:</a:t>
            </a:r>
            <a:r>
              <a:rPr lang="en-GB" dirty="0"/>
              <a:t> </a:t>
            </a:r>
          </a:p>
          <a:p>
            <a:pPr fontAlgn="ctr"/>
            <a:r>
              <a:rPr lang="en-GB" dirty="0"/>
              <a:t>Both TCP and UDP can encounter performance issues over wireless networks due to factors like varying radio hardware, device drivers, and network congestion. </a:t>
            </a:r>
          </a:p>
          <a:p>
            <a:r>
              <a:rPr lang="en-GB" b="1" dirty="0"/>
              <a:t>Packet Loss in Wireless Environments:</a:t>
            </a:r>
            <a:r>
              <a:rPr lang="en-GB" dirty="0"/>
              <a:t> </a:t>
            </a:r>
          </a:p>
          <a:p>
            <a:pPr fontAlgn="ctr"/>
            <a:r>
              <a:rPr lang="en-GB" dirty="0"/>
              <a:t>Wireless networks are inherently prone to packet loss, which can significantly impact TCP's performance because it may attempt to retransmit packets excessively, while applications relying on UDP must already be prepared for this loss. </a:t>
            </a:r>
          </a:p>
          <a:p>
            <a:r>
              <a:rPr lang="en-GB" b="1" dirty="0"/>
              <a:t>Bandwidth Management:</a:t>
            </a:r>
            <a:r>
              <a:rPr lang="en-GB" dirty="0"/>
              <a:t> </a:t>
            </a:r>
          </a:p>
          <a:p>
            <a:r>
              <a:rPr lang="en-GB" dirty="0"/>
              <a:t>Managing the shared bandwidth between the more aggressive but reliable TCP and the faster UDP can be challenging, with some networks employing TCP acceleration techniques to optimize performance. </a:t>
            </a:r>
          </a:p>
          <a:p>
            <a:endParaRPr lang="en-US" dirty="0"/>
          </a:p>
        </p:txBody>
      </p:sp>
    </p:spTree>
    <p:extLst>
      <p:ext uri="{BB962C8B-B14F-4D97-AF65-F5344CB8AC3E}">
        <p14:creationId xmlns:p14="http://schemas.microsoft.com/office/powerpoint/2010/main" val="1566363209"/>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32155"/>
          </a:xfrm>
        </p:spPr>
        <p:txBody>
          <a:bodyPr>
            <a:normAutofit fontScale="90000"/>
          </a:bodyPr>
          <a:lstStyle/>
          <a:p>
            <a:r>
              <a:rPr lang="en-GB" dirty="0"/>
              <a:t>Challenges for TCP and UDP on Wireless Networks</a:t>
            </a:r>
            <a:endParaRPr lang="en-US" dirty="0"/>
          </a:p>
        </p:txBody>
      </p:sp>
      <p:sp>
        <p:nvSpPr>
          <p:cNvPr id="3" name="Content Placeholder 2"/>
          <p:cNvSpPr>
            <a:spLocks noGrp="1"/>
          </p:cNvSpPr>
          <p:nvPr>
            <p:ph idx="1"/>
          </p:nvPr>
        </p:nvSpPr>
        <p:spPr>
          <a:xfrm>
            <a:off x="838200" y="992777"/>
            <a:ext cx="10515600" cy="5734594"/>
          </a:xfrm>
        </p:spPr>
        <p:txBody>
          <a:bodyPr>
            <a:normAutofit lnSpcReduction="10000"/>
          </a:bodyPr>
          <a:lstStyle/>
          <a:p>
            <a:r>
              <a:rPr lang="en-GB" b="1" dirty="0"/>
              <a:t>Performance Issues:</a:t>
            </a:r>
            <a:r>
              <a:rPr lang="en-GB" dirty="0"/>
              <a:t> </a:t>
            </a:r>
          </a:p>
          <a:p>
            <a:pPr fontAlgn="ctr"/>
            <a:r>
              <a:rPr lang="en-GB" dirty="0"/>
              <a:t>Both TCP and UDP can encounter performance issues over wireless networks due to factors like varying radio hardware, device drivers, and network congestion. </a:t>
            </a:r>
          </a:p>
          <a:p>
            <a:r>
              <a:rPr lang="en-GB" b="1" dirty="0"/>
              <a:t>Packet Loss in Wireless Environments:</a:t>
            </a:r>
            <a:r>
              <a:rPr lang="en-GB" dirty="0"/>
              <a:t> </a:t>
            </a:r>
          </a:p>
          <a:p>
            <a:pPr fontAlgn="ctr"/>
            <a:r>
              <a:rPr lang="en-GB" dirty="0"/>
              <a:t>Wireless networks are inherently prone to packet loss, which can significantly impact TCP's performance because it may attempt to retransmit packets excessively, while applications relying on UDP must already be prepared for this loss. </a:t>
            </a:r>
          </a:p>
          <a:p>
            <a:r>
              <a:rPr lang="en-GB" b="1" dirty="0"/>
              <a:t>Bandwidth Management:</a:t>
            </a:r>
            <a:r>
              <a:rPr lang="en-GB" dirty="0"/>
              <a:t> </a:t>
            </a:r>
          </a:p>
          <a:p>
            <a:r>
              <a:rPr lang="en-GB" dirty="0"/>
              <a:t>Managing the shared bandwidth between the more aggressive but reliable TCP and the faster UDP can be challenging, with some networks employing TCP acceleration techniques to optimize performance. </a:t>
            </a:r>
          </a:p>
          <a:p>
            <a:endParaRPr lang="en-US" dirty="0"/>
          </a:p>
        </p:txBody>
      </p:sp>
    </p:spTree>
    <p:extLst>
      <p:ext uri="{BB962C8B-B14F-4D97-AF65-F5344CB8AC3E}">
        <p14:creationId xmlns:p14="http://schemas.microsoft.com/office/powerpoint/2010/main" val="454496933"/>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7567"/>
            <a:ext cx="10515600" cy="561702"/>
          </a:xfrm>
        </p:spPr>
        <p:txBody>
          <a:bodyPr>
            <a:normAutofit fontScale="90000"/>
          </a:bodyPr>
          <a:lstStyle/>
          <a:p>
            <a:r>
              <a:rPr lang="en-GB" dirty="0" smtClean="0"/>
              <a:t>Socket in Computer Networks</a:t>
            </a:r>
            <a:endParaRPr lang="en-US" dirty="0"/>
          </a:p>
        </p:txBody>
      </p:sp>
      <p:sp>
        <p:nvSpPr>
          <p:cNvPr id="3" name="Content Placeholder 2"/>
          <p:cNvSpPr>
            <a:spLocks noGrp="1"/>
          </p:cNvSpPr>
          <p:nvPr>
            <p:ph idx="1"/>
          </p:nvPr>
        </p:nvSpPr>
        <p:spPr>
          <a:xfrm>
            <a:off x="838200" y="679269"/>
            <a:ext cx="10515600" cy="6021977"/>
          </a:xfrm>
        </p:spPr>
        <p:txBody>
          <a:bodyPr>
            <a:normAutofit lnSpcReduction="10000"/>
          </a:bodyPr>
          <a:lstStyle/>
          <a:p>
            <a:pPr fontAlgn="base"/>
            <a:r>
              <a:rPr lang="en-GB" dirty="0"/>
              <a:t>A </a:t>
            </a:r>
            <a:r>
              <a:rPr lang="en-GB" b="1" dirty="0"/>
              <a:t>socket</a:t>
            </a:r>
            <a:r>
              <a:rPr lang="en-GB" dirty="0"/>
              <a:t> is one endpoint of a two way communication link between two programs running on the network. </a:t>
            </a:r>
            <a:endParaRPr lang="en-GB" dirty="0" smtClean="0"/>
          </a:p>
          <a:p>
            <a:pPr fontAlgn="base"/>
            <a:r>
              <a:rPr lang="en-GB" dirty="0" smtClean="0"/>
              <a:t>The </a:t>
            </a:r>
            <a:r>
              <a:rPr lang="en-GB" dirty="0"/>
              <a:t>socket mechanism provides a means of inter-process communication (IPC) by establishing named contact points between which the communication take place. </a:t>
            </a:r>
          </a:p>
          <a:p>
            <a:r>
              <a:rPr lang="en-GB" dirty="0"/>
              <a:t>In computer networks, a socket is a software endpoint for two-way communication between applications, analogous to a door for sending and receiving data over a network. </a:t>
            </a:r>
            <a:endParaRPr lang="en-GB" dirty="0" smtClean="0"/>
          </a:p>
          <a:p>
            <a:r>
              <a:rPr lang="en-GB" dirty="0" smtClean="0"/>
              <a:t>It </a:t>
            </a:r>
            <a:r>
              <a:rPr lang="en-GB" dirty="0"/>
              <a:t>uniquely identifies an application by combining a machine's IP address and a port number. </a:t>
            </a:r>
            <a:endParaRPr lang="en-GB" dirty="0" smtClean="0"/>
          </a:p>
          <a:p>
            <a:r>
              <a:rPr lang="en-GB" dirty="0" smtClean="0"/>
              <a:t>Sockets </a:t>
            </a:r>
            <a:r>
              <a:rPr lang="en-GB" dirty="0"/>
              <a:t>are essential for inter-process communication and are heavily used in </a:t>
            </a:r>
            <a:r>
              <a:rPr lang="en-GB" dirty="0">
                <a:hlinkClick r:id="rId2"/>
              </a:rPr>
              <a:t>client-server</a:t>
            </a:r>
            <a:r>
              <a:rPr lang="en-GB" dirty="0"/>
              <a:t> architectures, enabling programs to send and receive data reliably or unreliably over the network using various protocols like TCP or UDP.  </a:t>
            </a:r>
            <a:r>
              <a:rPr lang="en-GB" dirty="0"/>
              <a:t/>
            </a:r>
            <a:br>
              <a:rPr lang="en-GB" dirty="0"/>
            </a:br>
            <a:endParaRPr lang="en-US" dirty="0"/>
          </a:p>
        </p:txBody>
      </p:sp>
    </p:spTree>
    <p:extLst>
      <p:ext uri="{BB962C8B-B14F-4D97-AF65-F5344CB8AC3E}">
        <p14:creationId xmlns:p14="http://schemas.microsoft.com/office/powerpoint/2010/main" val="2377334193"/>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32155"/>
          </a:xfrm>
        </p:spPr>
        <p:txBody>
          <a:bodyPr/>
          <a:lstStyle/>
          <a:p>
            <a:r>
              <a:rPr lang="en-US" dirty="0"/>
              <a:t>How Sockets Work</a:t>
            </a:r>
            <a:endParaRPr lang="en-US" dirty="0"/>
          </a:p>
        </p:txBody>
      </p:sp>
      <p:sp>
        <p:nvSpPr>
          <p:cNvPr id="3" name="Content Placeholder 2"/>
          <p:cNvSpPr>
            <a:spLocks noGrp="1"/>
          </p:cNvSpPr>
          <p:nvPr>
            <p:ph idx="1"/>
          </p:nvPr>
        </p:nvSpPr>
        <p:spPr>
          <a:xfrm>
            <a:off x="838200" y="953590"/>
            <a:ext cx="10515600" cy="5643154"/>
          </a:xfrm>
        </p:spPr>
        <p:txBody>
          <a:bodyPr/>
          <a:lstStyle/>
          <a:p>
            <a:pPr fontAlgn="base"/>
            <a:r>
              <a:rPr lang="en-GB" dirty="0"/>
              <a:t>A socket connecting to the network is created at each end of the communication.</a:t>
            </a:r>
          </a:p>
          <a:p>
            <a:pPr fontAlgn="base"/>
            <a:r>
              <a:rPr lang="en-GB" dirty="0"/>
              <a:t>Each socket has a specific address.</a:t>
            </a:r>
          </a:p>
          <a:p>
            <a:pPr fontAlgn="base"/>
            <a:r>
              <a:rPr lang="en-GB" dirty="0"/>
              <a:t>This address is composed of an IP address and a port number.</a:t>
            </a:r>
          </a:p>
          <a:p>
            <a:pPr fontAlgn="base"/>
            <a:r>
              <a:rPr lang="en-GB" dirty="0"/>
              <a:t>Socket are generally employed in client server applications.</a:t>
            </a:r>
          </a:p>
          <a:p>
            <a:pPr fontAlgn="base"/>
            <a:r>
              <a:rPr lang="en-GB" dirty="0"/>
              <a:t>The server creates a socket, attaches it to a network port addresses then waits for the client to contact it.</a:t>
            </a:r>
          </a:p>
          <a:p>
            <a:pPr fontAlgn="base"/>
            <a:r>
              <a:rPr lang="en-GB" dirty="0"/>
              <a:t>The client creates a socket and then attempts to connect to the server socket.</a:t>
            </a:r>
          </a:p>
          <a:p>
            <a:pPr fontAlgn="base"/>
            <a:r>
              <a:rPr lang="en-GB" dirty="0"/>
              <a:t>When the connection is established, transfer of data takes place.</a:t>
            </a:r>
          </a:p>
          <a:p>
            <a:endParaRPr lang="en-US" dirty="0"/>
          </a:p>
        </p:txBody>
      </p:sp>
    </p:spTree>
    <p:extLst>
      <p:ext uri="{BB962C8B-B14F-4D97-AF65-F5344CB8AC3E}">
        <p14:creationId xmlns:p14="http://schemas.microsoft.com/office/powerpoint/2010/main" val="1832417367"/>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75401"/>
          </a:xfrm>
        </p:spPr>
        <p:txBody>
          <a:bodyPr>
            <a:normAutofit fontScale="90000"/>
          </a:bodyPr>
          <a:lstStyle/>
          <a:p>
            <a:r>
              <a:rPr lang="en-GB" dirty="0" smtClean="0"/>
              <a:t>Cont..</a:t>
            </a:r>
            <a:endParaRPr lang="en-US" dirty="0"/>
          </a:p>
        </p:txBody>
      </p:sp>
      <p:sp>
        <p:nvSpPr>
          <p:cNvPr id="3" name="Content Placeholder 2"/>
          <p:cNvSpPr>
            <a:spLocks noGrp="1"/>
          </p:cNvSpPr>
          <p:nvPr>
            <p:ph idx="1"/>
          </p:nvPr>
        </p:nvSpPr>
        <p:spPr>
          <a:xfrm>
            <a:off x="838200" y="940526"/>
            <a:ext cx="10515600" cy="5747657"/>
          </a:xfrm>
        </p:spPr>
        <p:txBody>
          <a:bodyPr>
            <a:normAutofit/>
          </a:bodyPr>
          <a:lstStyle/>
          <a:p>
            <a:r>
              <a:rPr lang="en-GB" dirty="0" smtClean="0"/>
              <a:t>Creation</a:t>
            </a:r>
            <a:r>
              <a:rPr lang="en-GB" dirty="0"/>
              <a:t>: A socket is created by an application, typically using a system call provided by the operating system. </a:t>
            </a:r>
          </a:p>
          <a:p>
            <a:r>
              <a:rPr lang="en-GB" dirty="0"/>
              <a:t>Binding: The socket is bound to a specific IP address and port number, which act as its address on the network. </a:t>
            </a:r>
          </a:p>
          <a:p>
            <a:r>
              <a:rPr lang="en-GB" dirty="0"/>
              <a:t>Connection (for TCP): In client-server communication, the server creates a socket and listens on a port, while the client creates its own socket and attempts to connect to the server's address and port. </a:t>
            </a:r>
          </a:p>
          <a:p>
            <a:r>
              <a:rPr lang="en-GB" dirty="0"/>
              <a:t>Data Transfer: Once a connection is established, data can be sent and received by reading from or writing to the connected sockets. </a:t>
            </a:r>
          </a:p>
          <a:p>
            <a:r>
              <a:rPr lang="en-GB" dirty="0"/>
              <a:t>Closure: The communication link remains active until the socket is closed by either the client or the server. </a:t>
            </a:r>
            <a:endParaRPr lang="en-US" dirty="0"/>
          </a:p>
        </p:txBody>
      </p:sp>
    </p:spTree>
    <p:extLst>
      <p:ext uri="{BB962C8B-B14F-4D97-AF65-F5344CB8AC3E}">
        <p14:creationId xmlns:p14="http://schemas.microsoft.com/office/powerpoint/2010/main" val="2572134760"/>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23595"/>
          </a:xfrm>
        </p:spPr>
        <p:txBody>
          <a:bodyPr/>
          <a:lstStyle/>
          <a:p>
            <a:r>
              <a:rPr lang="en-GB" dirty="0"/>
              <a:t>Analogy to a Phone System</a:t>
            </a:r>
            <a:endParaRPr lang="en-US" dirty="0"/>
          </a:p>
        </p:txBody>
      </p:sp>
      <p:sp>
        <p:nvSpPr>
          <p:cNvPr id="3" name="Content Placeholder 2"/>
          <p:cNvSpPr>
            <a:spLocks noGrp="1"/>
          </p:cNvSpPr>
          <p:nvPr>
            <p:ph idx="1"/>
          </p:nvPr>
        </p:nvSpPr>
        <p:spPr>
          <a:xfrm>
            <a:off x="838200" y="1293223"/>
            <a:ext cx="10515600" cy="4883740"/>
          </a:xfrm>
        </p:spPr>
        <p:txBody>
          <a:bodyPr/>
          <a:lstStyle/>
          <a:p>
            <a:r>
              <a:rPr lang="en-GB" dirty="0"/>
              <a:t>IP Address: Like a street address, it identifies the specific device (computer) on the network. </a:t>
            </a:r>
          </a:p>
          <a:p>
            <a:r>
              <a:rPr lang="en-GB" dirty="0"/>
              <a:t>Port Number: Like a specific phone number within that building, it directs the data to the correct application or service on the device. </a:t>
            </a:r>
          </a:p>
          <a:p>
            <a:r>
              <a:rPr lang="en-GB" dirty="0"/>
              <a:t>Socket: The combination of the IP address and port number acts as the specific phone line for communication between applications. </a:t>
            </a:r>
            <a:endParaRPr lang="en-US" dirty="0"/>
          </a:p>
        </p:txBody>
      </p:sp>
    </p:spTree>
    <p:extLst>
      <p:ext uri="{BB962C8B-B14F-4D97-AF65-F5344CB8AC3E}">
        <p14:creationId xmlns:p14="http://schemas.microsoft.com/office/powerpoint/2010/main" val="212617199"/>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06029"/>
          </a:xfrm>
        </p:spPr>
        <p:txBody>
          <a:bodyPr/>
          <a:lstStyle/>
          <a:p>
            <a:r>
              <a:rPr lang="en-US" dirty="0"/>
              <a:t>Key Characteristics</a:t>
            </a:r>
            <a:endParaRPr lang="en-US" dirty="0"/>
          </a:p>
        </p:txBody>
      </p:sp>
      <p:sp>
        <p:nvSpPr>
          <p:cNvPr id="3" name="Content Placeholder 2"/>
          <p:cNvSpPr>
            <a:spLocks noGrp="1"/>
          </p:cNvSpPr>
          <p:nvPr>
            <p:ph idx="1"/>
          </p:nvPr>
        </p:nvSpPr>
        <p:spPr>
          <a:xfrm>
            <a:off x="838200" y="1071154"/>
            <a:ext cx="10515600" cy="5105809"/>
          </a:xfrm>
        </p:spPr>
        <p:txBody>
          <a:bodyPr/>
          <a:lstStyle/>
          <a:p>
            <a:r>
              <a:rPr lang="en-GB"/>
              <a:t>Bidirectional: Sockets provide a two-way channel for data flow. </a:t>
            </a:r>
          </a:p>
          <a:p>
            <a:r>
              <a:rPr lang="en-GB"/>
              <a:t>Abstraction: They offer an API (Application Programming Interface) that abstracts the complexities of network protocols, making it easier for developers to implement network communication. </a:t>
            </a:r>
          </a:p>
          <a:p>
            <a:r>
              <a:rPr lang="en-GB"/>
              <a:t>Inter-Process Communication (IPC): They facilitate communication between processes, whether they are on the same machine or different machines across a network. </a:t>
            </a:r>
            <a:endParaRPr lang="en-US" dirty="0"/>
          </a:p>
        </p:txBody>
      </p:sp>
    </p:spTree>
    <p:extLst>
      <p:ext uri="{BB962C8B-B14F-4D97-AF65-F5344CB8AC3E}">
        <p14:creationId xmlns:p14="http://schemas.microsoft.com/office/powerpoint/2010/main" val="4260417422"/>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71344"/>
          </a:xfrm>
        </p:spPr>
        <p:txBody>
          <a:bodyPr>
            <a:normAutofit fontScale="90000"/>
          </a:bodyPr>
          <a:lstStyle/>
          <a:p>
            <a:r>
              <a:rPr lang="en-US" b="1" dirty="0"/>
              <a:t>Types of Sockets</a:t>
            </a:r>
            <a:br>
              <a:rPr lang="en-US" b="1" dirty="0"/>
            </a:br>
            <a:endParaRPr lang="en-US" dirty="0"/>
          </a:p>
        </p:txBody>
      </p:sp>
      <p:sp>
        <p:nvSpPr>
          <p:cNvPr id="3" name="Content Placeholder 2"/>
          <p:cNvSpPr>
            <a:spLocks noGrp="1"/>
          </p:cNvSpPr>
          <p:nvPr>
            <p:ph idx="1"/>
          </p:nvPr>
        </p:nvSpPr>
        <p:spPr>
          <a:xfrm>
            <a:off x="838200" y="901336"/>
            <a:ext cx="10515600" cy="5839097"/>
          </a:xfrm>
        </p:spPr>
        <p:txBody>
          <a:bodyPr>
            <a:normAutofit/>
          </a:bodyPr>
          <a:lstStyle/>
          <a:p>
            <a:pPr fontAlgn="base"/>
            <a:r>
              <a:rPr lang="en-GB" b="1" dirty="0"/>
              <a:t>Datagram Socket :</a:t>
            </a:r>
            <a:r>
              <a:rPr lang="en-GB" dirty="0"/>
              <a:t> This is a type of network which has connection less point for sending and receiving packets</a:t>
            </a:r>
            <a:r>
              <a:rPr lang="en-GB" dirty="0" smtClean="0"/>
              <a:t>.</a:t>
            </a:r>
          </a:p>
          <a:p>
            <a:pPr fontAlgn="base"/>
            <a:r>
              <a:rPr lang="en-GB" dirty="0" smtClean="0"/>
              <a:t> </a:t>
            </a:r>
            <a:r>
              <a:rPr lang="en-GB" dirty="0"/>
              <a:t>It is similar to mailbox. The letters (data) posted into the box are collected and delivered (transmitted) to a letterbox (receiving socket).</a:t>
            </a:r>
          </a:p>
          <a:p>
            <a:pPr fontAlgn="base"/>
            <a:r>
              <a:rPr lang="en-GB" b="1" dirty="0"/>
              <a:t>Stream </a:t>
            </a:r>
            <a:r>
              <a:rPr lang="en-GB" b="1" dirty="0" smtClean="0"/>
              <a:t>Socket:</a:t>
            </a:r>
          </a:p>
          <a:p>
            <a:pPr fontAlgn="base"/>
            <a:r>
              <a:rPr lang="en-GB" dirty="0"/>
              <a:t> In Computer operating system, a stream socket is type of </a:t>
            </a:r>
            <a:r>
              <a:rPr lang="en-GB" u="sng" dirty="0" err="1">
                <a:hlinkClick r:id="rId2"/>
              </a:rPr>
              <a:t>interprocess</a:t>
            </a:r>
            <a:r>
              <a:rPr lang="en-GB" u="sng" dirty="0">
                <a:hlinkClick r:id="rId2"/>
              </a:rPr>
              <a:t> communications</a:t>
            </a:r>
            <a:r>
              <a:rPr lang="en-GB" dirty="0"/>
              <a:t> socket or network socket which provides a connection-oriented, sequenced, and unique flow of data without record boundaries with well defined mechanisms for creating and destroying connections and for detecting errors. </a:t>
            </a:r>
            <a:endParaRPr lang="en-GB" dirty="0" smtClean="0"/>
          </a:p>
          <a:p>
            <a:pPr fontAlgn="base"/>
            <a:r>
              <a:rPr lang="en-GB" dirty="0" smtClean="0"/>
              <a:t>It </a:t>
            </a:r>
            <a:r>
              <a:rPr lang="en-GB" dirty="0"/>
              <a:t>is similar to phone. </a:t>
            </a:r>
            <a:endParaRPr lang="en-GB" dirty="0" smtClean="0"/>
          </a:p>
          <a:p>
            <a:pPr fontAlgn="base"/>
            <a:r>
              <a:rPr lang="en-GB" dirty="0" smtClean="0"/>
              <a:t>A </a:t>
            </a:r>
            <a:r>
              <a:rPr lang="en-GB" dirty="0"/>
              <a:t>connection is established between the phones (two ends) and a conversation (transfer of data) takes place.</a:t>
            </a:r>
          </a:p>
          <a:p>
            <a:endParaRPr lang="en-US" dirty="0"/>
          </a:p>
        </p:txBody>
      </p:sp>
    </p:spTree>
    <p:extLst>
      <p:ext uri="{BB962C8B-B14F-4D97-AF65-F5344CB8AC3E}">
        <p14:creationId xmlns:p14="http://schemas.microsoft.com/office/powerpoint/2010/main" val="747211194"/>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40715"/>
          </a:xfrm>
        </p:spPr>
        <p:txBody>
          <a:bodyPr>
            <a:normAutofit fontScale="90000"/>
          </a:bodyPr>
          <a:lstStyle/>
          <a:p>
            <a:r>
              <a:rPr lang="en-GB" b="1" dirty="0"/>
              <a:t>Common Function Calls in Socket Programming</a:t>
            </a:r>
            <a:br>
              <a:rPr lang="en-GB" b="1" dirty="0"/>
            </a:b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229052427"/>
              </p:ext>
            </p:extLst>
          </p:nvPr>
        </p:nvGraphicFramePr>
        <p:xfrm>
          <a:off x="838200" y="757646"/>
          <a:ext cx="10515600" cy="5969724"/>
        </p:xfrm>
        <a:graphic>
          <a:graphicData uri="http://schemas.openxmlformats.org/drawingml/2006/table">
            <a:tbl>
              <a:tblPr/>
              <a:tblGrid>
                <a:gridCol w="5257800">
                  <a:extLst>
                    <a:ext uri="{9D8B030D-6E8A-4147-A177-3AD203B41FA5}">
                      <a16:colId xmlns:a16="http://schemas.microsoft.com/office/drawing/2014/main" val="274023112"/>
                    </a:ext>
                  </a:extLst>
                </a:gridCol>
                <a:gridCol w="5257800">
                  <a:extLst>
                    <a:ext uri="{9D8B030D-6E8A-4147-A177-3AD203B41FA5}">
                      <a16:colId xmlns:a16="http://schemas.microsoft.com/office/drawing/2014/main" val="1227514015"/>
                    </a:ext>
                  </a:extLst>
                </a:gridCol>
              </a:tblGrid>
              <a:tr h="593612">
                <a:tc>
                  <a:txBody>
                    <a:bodyPr/>
                    <a:lstStyle/>
                    <a:p>
                      <a:pPr algn="ctr" fontAlgn="base"/>
                      <a:r>
                        <a:rPr lang="en-US" sz="1400" b="1">
                          <a:effectLst/>
                        </a:rPr>
                        <a:t>Function Call</a:t>
                      </a:r>
                    </a:p>
                  </a:txBody>
                  <a:tcPr marL="38100" marR="3810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base"/>
                      <a:r>
                        <a:rPr lang="en-US" sz="1400" b="1">
                          <a:effectLst/>
                        </a:rPr>
                        <a:t> Description </a:t>
                      </a:r>
                    </a:p>
                  </a:txBody>
                  <a:tcPr marL="95250" marR="9525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3959736921"/>
                  </a:ext>
                </a:extLst>
              </a:tr>
              <a:tr h="672014">
                <a:tc>
                  <a:txBody>
                    <a:bodyPr/>
                    <a:lstStyle/>
                    <a:p>
                      <a:pPr algn="ctr" fontAlgn="ctr"/>
                      <a:r>
                        <a:rPr lang="en-US" sz="1250" b="0">
                          <a:effectLst/>
                        </a:rPr>
                        <a:t>Socket()</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0">
                          <a:effectLst/>
                        </a:rPr>
                        <a:t>To create a socket</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854730950"/>
                  </a:ext>
                </a:extLst>
              </a:tr>
              <a:tr h="672014">
                <a:tc>
                  <a:txBody>
                    <a:bodyPr/>
                    <a:lstStyle/>
                    <a:p>
                      <a:pPr algn="ctr" fontAlgn="ctr"/>
                      <a:r>
                        <a:rPr lang="en-US" sz="1250" b="0">
                          <a:effectLst/>
                        </a:rPr>
                        <a:t>Bind()</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GB" sz="1250" b="0">
                          <a:effectLst/>
                        </a:rPr>
                        <a:t>It's a socket identification like a telephone number to contact</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004093881"/>
                  </a:ext>
                </a:extLst>
              </a:tr>
              <a:tr h="672014">
                <a:tc>
                  <a:txBody>
                    <a:bodyPr/>
                    <a:lstStyle/>
                    <a:p>
                      <a:pPr algn="ctr" fontAlgn="ctr"/>
                      <a:r>
                        <a:rPr lang="en-US" sz="1250" b="0">
                          <a:effectLst/>
                        </a:rPr>
                        <a:t>Listen()</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GB" sz="1250" b="0">
                          <a:effectLst/>
                        </a:rPr>
                        <a:t>Ready to receive a connection </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758385843"/>
                  </a:ext>
                </a:extLst>
              </a:tr>
              <a:tr h="672014">
                <a:tc>
                  <a:txBody>
                    <a:bodyPr/>
                    <a:lstStyle/>
                    <a:p>
                      <a:pPr algn="ctr" fontAlgn="ctr"/>
                      <a:r>
                        <a:rPr lang="en-US" sz="1250" b="0">
                          <a:effectLst/>
                        </a:rPr>
                        <a:t>Connect()</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GB" sz="1250" b="0">
                          <a:effectLst/>
                        </a:rPr>
                        <a:t>Ready to act as a sender </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833217290"/>
                  </a:ext>
                </a:extLst>
              </a:tr>
              <a:tr h="672014">
                <a:tc>
                  <a:txBody>
                    <a:bodyPr/>
                    <a:lstStyle/>
                    <a:p>
                      <a:pPr algn="ctr" fontAlgn="ctr"/>
                      <a:r>
                        <a:rPr lang="en-US" sz="1250" b="0">
                          <a:effectLst/>
                        </a:rPr>
                        <a:t>Accept()</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GB" sz="1250" b="0">
                          <a:effectLst/>
                        </a:rPr>
                        <a:t>Confirmation, it is like accepting to receive a call from a sender </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371094054"/>
                  </a:ext>
                </a:extLst>
              </a:tr>
              <a:tr h="672014">
                <a:tc>
                  <a:txBody>
                    <a:bodyPr/>
                    <a:lstStyle/>
                    <a:p>
                      <a:pPr algn="ctr" fontAlgn="ctr"/>
                      <a:r>
                        <a:rPr lang="en-US" sz="1250" b="0">
                          <a:effectLst/>
                        </a:rPr>
                        <a:t>Write()</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0">
                          <a:effectLst/>
                        </a:rPr>
                        <a:t>To send data </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681108329"/>
                  </a:ext>
                </a:extLst>
              </a:tr>
              <a:tr h="672014">
                <a:tc>
                  <a:txBody>
                    <a:bodyPr/>
                    <a:lstStyle/>
                    <a:p>
                      <a:pPr algn="ctr" fontAlgn="ctr"/>
                      <a:r>
                        <a:rPr lang="en-US" sz="1250" b="0">
                          <a:effectLst/>
                        </a:rPr>
                        <a:t>Read()</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0">
                          <a:effectLst/>
                        </a:rPr>
                        <a:t>To receive data </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4191008214"/>
                  </a:ext>
                </a:extLst>
              </a:tr>
              <a:tr h="672014">
                <a:tc>
                  <a:txBody>
                    <a:bodyPr/>
                    <a:lstStyle/>
                    <a:p>
                      <a:pPr algn="ctr" fontAlgn="ctr"/>
                      <a:r>
                        <a:rPr lang="en-US" sz="1250" b="0">
                          <a:effectLst/>
                        </a:rPr>
                        <a:t>Close()</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0" dirty="0">
                          <a:effectLst/>
                        </a:rPr>
                        <a:t>To close a connection</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816487850"/>
                  </a:ext>
                </a:extLst>
              </a:tr>
            </a:tbl>
          </a:graphicData>
        </a:graphic>
      </p:graphicFrame>
      <p:sp>
        <p:nvSpPr>
          <p:cNvPr id="5" name="Rectangle 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chemeClr val="tx1"/>
                </a:solidFill>
                <a:effectLst/>
                <a:latin typeface="Arial" panose="020B0604020202020204" pitchFamily="34" charset="0"/>
              </a:rPr>
              <a:t/>
            </a:r>
            <a:br>
              <a:rPr kumimoji="0" lang="en-US" altLang="en-US" sz="1800" b="0" i="0" u="none" strike="noStrike" cap="none" normalizeH="0" baseline="0" smtClean="0">
                <a:ln>
                  <a:noFill/>
                </a:ln>
                <a:solidFill>
                  <a:schemeClr val="tx1"/>
                </a:solidFill>
                <a:effectLst/>
                <a:latin typeface="Arial" panose="020B0604020202020204" pitchFamily="34" charset="0"/>
              </a:rPr>
            </a:b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6168010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214997141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318462187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203429540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416218454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5445894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24620</TotalTime>
  <Words>2882</Words>
  <Application>Microsoft Office PowerPoint</Application>
  <PresentationFormat>Widescreen</PresentationFormat>
  <Paragraphs>475</Paragraphs>
  <Slides>89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89</vt:i4>
      </vt:variant>
    </vt:vector>
  </HeadingPairs>
  <TitlesOfParts>
    <vt:vector size="93" baseType="lpstr">
      <vt:lpstr>Arial</vt:lpstr>
      <vt:lpstr>Calibri</vt:lpstr>
      <vt:lpstr>Calibri Light</vt:lpstr>
      <vt:lpstr>Office Theme</vt:lpstr>
      <vt:lpstr>Transport Layer</vt:lpstr>
      <vt:lpstr>Introduction</vt:lpstr>
      <vt:lpstr>PowerPoint Presentation</vt:lpstr>
      <vt:lpstr>Cont..</vt:lpstr>
      <vt:lpstr>Cont..</vt:lpstr>
      <vt:lpstr>Elements of Transport Layer Protocol</vt:lpstr>
      <vt:lpstr>1.Addressing</vt:lpstr>
      <vt:lpstr>Cont..</vt:lpstr>
      <vt:lpstr> 2. Connection Establishment and Release: </vt:lpstr>
      <vt:lpstr>Cont..</vt:lpstr>
      <vt:lpstr>3. Flow Control:</vt:lpstr>
      <vt:lpstr>Cont..</vt:lpstr>
      <vt:lpstr>4. Error Handling and Retransmission:</vt:lpstr>
      <vt:lpstr>Cont..</vt:lpstr>
      <vt:lpstr>Transport Layer Protocols </vt:lpstr>
      <vt:lpstr>TCP-Transmission Control Protocol</vt:lpstr>
      <vt:lpstr>PowerPoint Presentation</vt:lpstr>
      <vt:lpstr> TCP Segment </vt:lpstr>
      <vt:lpstr>PowerPoint Presentation</vt:lpstr>
      <vt:lpstr>Cont..</vt:lpstr>
      <vt:lpstr>Cont..</vt:lpstr>
      <vt:lpstr>Cont..</vt:lpstr>
      <vt:lpstr>Cont..</vt:lpstr>
      <vt:lpstr>Cont..</vt:lpstr>
      <vt:lpstr>Cont..</vt:lpstr>
      <vt:lpstr>UDP-User Datagram Protocol</vt:lpstr>
      <vt:lpstr>PowerPoint Presentation</vt:lpstr>
      <vt:lpstr> UDP Segment </vt:lpstr>
      <vt:lpstr>PowerPoint Presentation</vt:lpstr>
      <vt:lpstr>Cont..</vt:lpstr>
      <vt:lpstr>Cont..</vt:lpstr>
      <vt:lpstr>Cont..</vt:lpstr>
      <vt:lpstr>PowerPoint Presentation</vt:lpstr>
      <vt:lpstr> Real-Life Example to Understand TCP vs UDP Protocols </vt:lpstr>
      <vt:lpstr>SCTP-Stream Control Transmission Protocol </vt:lpstr>
      <vt:lpstr>Cont..</vt:lpstr>
      <vt:lpstr>PowerPoint Presentation</vt:lpstr>
      <vt:lpstr>Cont..</vt:lpstr>
      <vt:lpstr>Cont..</vt:lpstr>
      <vt:lpstr> RTP-Real Time Transport Protocol </vt:lpstr>
      <vt:lpstr>Cont..</vt:lpstr>
      <vt:lpstr>Cont..</vt:lpstr>
      <vt:lpstr>Cont..</vt:lpstr>
      <vt:lpstr>Cont..</vt:lpstr>
      <vt:lpstr>RTP Header Format</vt:lpstr>
      <vt:lpstr>Cont..</vt:lpstr>
      <vt:lpstr>Cont..</vt:lpstr>
      <vt:lpstr>Cont..</vt:lpstr>
      <vt:lpstr>Cont..</vt:lpstr>
      <vt:lpstr>Congestion Control and Quality of Service (QoS)</vt:lpstr>
      <vt:lpstr>Congestion Control </vt:lpstr>
      <vt:lpstr>Cont..</vt:lpstr>
      <vt:lpstr>Cont..</vt:lpstr>
      <vt:lpstr> Effects of Congestion Control </vt:lpstr>
      <vt:lpstr>Cont..</vt:lpstr>
      <vt:lpstr>Cont..</vt:lpstr>
      <vt:lpstr> Congestion Control Algorithm </vt:lpstr>
      <vt:lpstr> Leaky Bucket Algorithm </vt:lpstr>
      <vt:lpstr>Cont..</vt:lpstr>
      <vt:lpstr>PowerPoint Presentation</vt:lpstr>
      <vt:lpstr>Cont..</vt:lpstr>
      <vt:lpstr> Token Bucket Algorithm </vt:lpstr>
      <vt:lpstr> Need of Token Bucket Algorithm </vt:lpstr>
      <vt:lpstr> Token Bucket vs Leaky Bucket </vt:lpstr>
      <vt:lpstr>PowerPoint Presentation</vt:lpstr>
      <vt:lpstr>Advantages </vt:lpstr>
      <vt:lpstr>Cont..</vt:lpstr>
      <vt:lpstr>Disadvantages </vt:lpstr>
      <vt:lpstr>Quality of Service (QoS)</vt:lpstr>
      <vt:lpstr>What is Quality of Service (QoS)?</vt:lpstr>
      <vt:lpstr>Methods to Improve QoS</vt:lpstr>
      <vt:lpstr>Cont..</vt:lpstr>
      <vt:lpstr>TCP and UDP for wireless network</vt:lpstr>
      <vt:lpstr>When to Use TCP on a Wireless Network </vt:lpstr>
      <vt:lpstr>  When to Use UDP on a Wireless Network  </vt:lpstr>
      <vt:lpstr>Challenges for TCP and UDP on Wireless Networks</vt:lpstr>
      <vt:lpstr>Challenges for TCP and UDP on Wireless Networks</vt:lpstr>
      <vt:lpstr>Socket in Computer Networks</vt:lpstr>
      <vt:lpstr>How Sockets Work</vt:lpstr>
      <vt:lpstr>Cont..</vt:lpstr>
      <vt:lpstr>Analogy to a Phone System</vt:lpstr>
      <vt:lpstr>Key Characteristics</vt:lpstr>
      <vt:lpstr>Types of Sockets </vt:lpstr>
      <vt:lpstr>Common Function Calls in Socket Programming </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Transport Layer</dc:title>
  <dc:creator>HP</dc:creator>
  <cp:lastModifiedBy>HP</cp:lastModifiedBy>
  <cp:revision>37</cp:revision>
  <dcterms:created xsi:type="dcterms:W3CDTF">2025-09-18T03:39:08Z</dcterms:created>
  <dcterms:modified xsi:type="dcterms:W3CDTF">2025-10-08T04:30:31Z</dcterms:modified>
</cp:coreProperties>
</file>