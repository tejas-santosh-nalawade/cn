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1" r:id="rId11"/>
    <p:sldId id="282" r:id="rId12"/>
    <p:sldId id="283" r:id="rId13"/>
    <p:sldId id="28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6"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542F6C0-147B-413F-99CE-2B71BF42C4D8}"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1546226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42F6C0-147B-413F-99CE-2B71BF42C4D8}"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216205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542F6C0-147B-413F-99CE-2B71BF42C4D8}"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2656045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542F6C0-147B-413F-99CE-2B71BF42C4D8}" type="datetimeFigureOut">
              <a:rPr lang="en-US" smtClean="0"/>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378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542F6C0-147B-413F-99CE-2B71BF42C4D8}" type="datetimeFigureOut">
              <a:rPr lang="en-US" smtClean="0"/>
              <a:t>9/25/2025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95593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542F6C0-147B-413F-99CE-2B71BF42C4D8}" type="datetimeFigureOut">
              <a:rPr lang="en-US" smtClean="0"/>
              <a:t>9/25/2025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3718864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42F6C0-147B-413F-99CE-2B71BF42C4D8}" type="datetimeFigureOut">
              <a:rPr lang="en-US" smtClean="0"/>
              <a:t>9/25/2025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2770179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42F6C0-147B-413F-99CE-2B71BF42C4D8}" type="datetimeFigureOut">
              <a:rPr lang="en-US" smtClean="0"/>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3480253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542F6C0-147B-413F-99CE-2B71BF42C4D8}" type="datetimeFigureOut">
              <a:rPr lang="en-US" smtClean="0"/>
              <a:t>9/25/2025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190851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42F6C0-147B-413F-99CE-2B71BF42C4D8}"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62763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42F6C0-147B-413F-99CE-2B71BF42C4D8}" type="datetimeFigureOut">
              <a:rPr lang="en-US" smtClean="0"/>
              <a:t>9/25/2025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6DDF7C-5338-4EBE-86EE-517D273839EC}" type="slidenum">
              <a:rPr lang="en-US" smtClean="0"/>
              <a:t>‹#›</a:t>
            </a:fld>
            <a:endParaRPr lang="en-US"/>
          </a:p>
        </p:txBody>
      </p:sp>
    </p:spTree>
    <p:extLst>
      <p:ext uri="{BB962C8B-B14F-4D97-AF65-F5344CB8AC3E}">
        <p14:creationId xmlns:p14="http://schemas.microsoft.com/office/powerpoint/2010/main" val="2313975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42F6C0-147B-413F-99CE-2B71BF42C4D8}" type="datetimeFigureOut">
              <a:rPr lang="en-US" smtClean="0"/>
              <a:t>9/25/2025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6DDF7C-5338-4EBE-86EE-517D273839EC}" type="slidenum">
              <a:rPr lang="en-US" smtClean="0"/>
              <a:t>‹#›</a:t>
            </a:fld>
            <a:endParaRPr lang="en-US"/>
          </a:p>
        </p:txBody>
      </p:sp>
    </p:spTree>
    <p:extLst>
      <p:ext uri="{BB962C8B-B14F-4D97-AF65-F5344CB8AC3E}">
        <p14:creationId xmlns:p14="http://schemas.microsoft.com/office/powerpoint/2010/main" val="1703462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oogle.com/search?safe=active&amp;sca_esv=e2c71ab81425b6e6&amp;q=regulatory+requirements&amp;sa=X&amp;sqi=2&amp;ved=2ahUKEwiZqIXNhfOPAxVKXmwGHQ4dBekQxccNegQIBhAB&amp;mstk=AUtExfB68C2ePOwO6Sig4Fv5zWqkoNWSf4_fcBUwLF88_7dWcLR48KRY6aCfMrTRY9yjR2pbGpLhgOBAlNtAqI1uBlB43sq-phuUBMYynpljT2cJgi8vlA0i8Qo5fkNy00OJQjU&amp;csui=3"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www.geeksforgeeks.org/ethical-hacking/active-and-passive-attacks-in-information-security/"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computer-networks/what-is-packet-sniffing/" TargetMode="External"/><Relationship Id="rId2" Type="http://schemas.openxmlformats.org/officeDocument/2006/relationships/hyperlink" Target="https://www.geeksforgeeks.org/computer-networks/what-is-an-eavesdropping-attack/"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geeksforgeeks.org/computer-networks/deniel-service-prevention/"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geeksforgeeks.org/computer-networks/what-is-data-encryption/" TargetMode="External"/><Relationship Id="rId2" Type="http://schemas.openxmlformats.org/officeDocument/2006/relationships/hyperlink" Target="https://www.geeksforgeeks.org/computer-science-fundamentals/computer-security-threats/" TargetMode="External"/><Relationship Id="rId1" Type="http://schemas.openxmlformats.org/officeDocument/2006/relationships/slideLayout" Target="../slideLayouts/slideLayout2.xml"/><Relationship Id="rId4" Type="http://schemas.openxmlformats.org/officeDocument/2006/relationships/hyperlink" Target="https://www.geeksforgeeks.org/computer-networks/digital-signatures-certificates/"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ww.geeksforgeeks.org/computer-networks/what-is-routing/" TargetMode="External"/><Relationship Id="rId2" Type="http://schemas.openxmlformats.org/officeDocument/2006/relationships/hyperlink" Target="https://www.geeksforgeeks.org/python/scraping-data-in-network-traffic-using-python/"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geeksforgeeks.org/computer-networks/access-control-in-computer-network/" TargetMode="External"/><Relationship Id="rId2" Type="http://schemas.openxmlformats.org/officeDocument/2006/relationships/hyperlink" Target="https://www.geeksforgeeks.org/computer-networks/difference-between-authentication-and-authorization/" TargetMode="External"/><Relationship Id="rId1" Type="http://schemas.openxmlformats.org/officeDocument/2006/relationships/slideLayout" Target="../slideLayouts/slideLayout2.xml"/><Relationship Id="rId5" Type="http://schemas.openxmlformats.org/officeDocument/2006/relationships/hyperlink" Target="https://www.geeksforgeeks.org/computer-networks/what-is-non-repudiation/" TargetMode="External"/><Relationship Id="rId4" Type="http://schemas.openxmlformats.org/officeDocument/2006/relationships/hyperlink" Target="https://www.geeksforgeeks.org/dbms/dbms-integrity-constraints/"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s://www.geeksforgeeks.org/computer-science-fundamentals/computer-hardware/" TargetMode="External"/><Relationship Id="rId2" Type="http://schemas.openxmlformats.org/officeDocument/2006/relationships/hyperlink" Target="https://www.geeksforgeeks.org/computer-networks/difference-between-threat-vulnerability-and-risk-in-computer-network/" TargetMode="External"/><Relationship Id="rId1" Type="http://schemas.openxmlformats.org/officeDocument/2006/relationships/slideLayout" Target="../slideLayouts/slideLayout2.xml"/><Relationship Id="rId4" Type="http://schemas.openxmlformats.org/officeDocument/2006/relationships/hyperlink" Target="https://www.geeksforgeeks.org/computer-science-fundamentals/software-and-its-types/"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google.com/search?safe=active&amp;cs=0&amp;sca_esv=afd1fcd61dcda96b&amp;q=Firewalls&amp;sa=X&amp;ved=2ahUKEwiTwcfxpP2PAxX5U2wGHU2HFykQxccNegQIQRAB&amp;mstk=AUtExfDGumCzwrwbtE4tQB4mCC9cKDw-O9Ubcpu8G2t5js_PdzYtpq3AsXhqhYt1xmmJXG_x4h0a2wO-8CuwDU9FiK57kWCbMwL_r0Q60gKSpI_TfoKoaSCEHuCktjKqDOrSnDg&amp;csui=3" TargetMode="External"/><Relationship Id="rId2" Type="http://schemas.openxmlformats.org/officeDocument/2006/relationships/hyperlink" Target="https://www.google.com/search?safe=active&amp;cs=0&amp;sca_esv=afd1fcd61dcda96b&amp;q=Encryption&amp;sa=X&amp;ved=2ahUKEwiTwcfxpP2PAxX5U2wGHU2HFykQxccNegQIOhAB&amp;mstk=AUtExfDGumCzwrwbtE4tQB4mCC9cKDw-O9Ubcpu8G2t5js_PdzYtpq3AsXhqhYt1xmmJXG_x4h0a2wO-8CuwDU9FiK57kWCbMwL_r0Q60gKSpI_TfoKoaSCEHuCktjKqDOrSnDg&amp;csui=3" TargetMode="External"/><Relationship Id="rId1" Type="http://schemas.openxmlformats.org/officeDocument/2006/relationships/slideLayout" Target="../slideLayouts/slideLayout2.xml"/><Relationship Id="rId6" Type="http://schemas.openxmlformats.org/officeDocument/2006/relationships/hyperlink" Target="https://www.google.com/search?safe=active&amp;cs=0&amp;sca_esv=afd1fcd61dcda96b&amp;q=Digital+Signatures&amp;sa=X&amp;ved=2ahUKEwiTwcfxpP2PAxX5U2wGHU2HFykQxccNegQITRAB&amp;mstk=AUtExfDGumCzwrwbtE4tQB4mCC9cKDw-O9Ubcpu8G2t5js_PdzYtpq3AsXhqhYt1xmmJXG_x4h0a2wO-8CuwDU9FiK57kWCbMwL_r0Q60gKSpI_TfoKoaSCEHuCktjKqDOrSnDg&amp;csui=3" TargetMode="External"/><Relationship Id="rId5" Type="http://schemas.openxmlformats.org/officeDocument/2006/relationships/hyperlink" Target="https://www.google.com/search?safe=active&amp;cs=0&amp;sca_esv=afd1fcd61dcda96b&amp;q=Authentication&amp;sa=X&amp;ved=2ahUKEwiTwcfxpP2PAxX5U2wGHU2HFykQxccNegQISRAB&amp;mstk=AUtExfDGumCzwrwbtE4tQB4mCC9cKDw-O9Ubcpu8G2t5js_PdzYtpq3AsXhqhYt1xmmJXG_x4h0a2wO-8CuwDU9FiK57kWCbMwL_r0Q60gKSpI_TfoKoaSCEHuCktjKqDOrSnDg&amp;csui=3" TargetMode="External"/><Relationship Id="rId4" Type="http://schemas.openxmlformats.org/officeDocument/2006/relationships/hyperlink" Target="https://www.google.com/search?safe=active&amp;cs=0&amp;sca_esv=afd1fcd61dcda96b&amp;q=Access+Control&amp;sa=X&amp;ved=2ahUKEwiTwcfxpP2PAxX5U2wGHU2HFykQxccNegQIRhAB&amp;mstk=AUtExfDGumCzwrwbtE4tQB4mCC9cKDw-O9Ubcpu8G2t5js_PdzYtpq3AsXhqhYt1xmmJXG_x4h0a2wO-8CuwDU9FiK57kWCbMwL_r0Q60gKSpI_TfoKoaSCEHuCktjKqDOrSnDg&amp;csui=3"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www.google.com/search?safe=active&amp;sca_esv=afd1fcd61dcda96b&amp;q=plaintext&amp;sa=X&amp;ved=2ahUKEwjUnM7akIKQAxUu4zgGHXC2OyMQxccNegQIJBAC&amp;mstk=AUtExfBKEJ5tUlFq6vnf6_UrMGUiJUa61mxzIam_9aRKg0dCrAqACJeU75UuRwsyFVhSZYyVfxxraQ9xlP4K56OeuLy3mdXvzRwlpFNNmtyYs43QVKK6Y52v2evtuocN_YNCtp0&amp;csui=3" TargetMode="External"/><Relationship Id="rId2" Type="http://schemas.openxmlformats.org/officeDocument/2006/relationships/hyperlink" Target="https://www.google.com/search?safe=active&amp;sca_esv=afd1fcd61dcda96b&amp;q=ciphertext&amp;sa=X&amp;ved=2ahUKEwjUnM7akIKQAxUu4zgGHXC2OyMQxccNegQIJBAB&amp;mstk=AUtExfBKEJ5tUlFq6vnf6_UrMGUiJUa61mxzIam_9aRKg0dCrAqACJeU75UuRwsyFVhSZYyVfxxraQ9xlP4K56OeuLy3mdXvzRwlpFNNmtyYs43QVKK6Y52v2evtuocN_YNCtp0&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sca_esv=afd1fcd61dcda96b&amp;q=data+confidentiality&amp;sa=X&amp;ved=2ahUKEwjUnM7akIKQAxUu4zgGHXC2OyMQxccNegQIJxAB&amp;mstk=AUtExfBKEJ5tUlFq6vnf6_UrMGUiJUa61mxzIam_9aRKg0dCrAqACJeU75UuRwsyFVhSZYyVfxxraQ9xlP4K56OeuLy3mdXvzRwlpFNNmtyYs43QVKK6Y52v2evtuocN_YNCtp0&amp;csui=3"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hyperlink" Target="https://www.geeksforgeeks.org/computer-networks/public-key-encryption/" TargetMode="Externa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google.com/search?safe=active&amp;sca_esv=c9bfdf3b8cae865b&amp;q=Authentication+Header+%28AH%29&amp;sa=X&amp;ved=2ahUKEwi-3qCMlIKQAxWs1zgGHRTFExEQxccNegQIHRAC&amp;mstk=AUtExfDVHGKhBqMlGPVHxcbMpgNiIeL977o8iuBKHhAX4aQAviJ2GThrSmucQJQSrnCnzpK_NGKvyhjPKQlqZNkd7kiRnsOTMjAy9-WVXMmZUTf-BBRZWoMV2YSnRSWtRmO8MZU&amp;csui=3" TargetMode="External"/><Relationship Id="rId2" Type="http://schemas.openxmlformats.org/officeDocument/2006/relationships/hyperlink" Target="https://www.google.com/search?safe=active&amp;sca_esv=c9bfdf3b8cae865b&amp;q=Internet+Key+Exchange+%28IKE%29&amp;sa=X&amp;ved=2ahUKEwi-3qCMlIKQAxWs1zgGHRTFExEQxccNegQIHRAB&amp;mstk=AUtExfDVHGKhBqMlGPVHxcbMpgNiIeL977o8iuBKHhAX4aQAviJ2GThrSmucQJQSrnCnzpK_NGKvyhjPKQlqZNkd7kiRnsOTMjAy9-WVXMmZUTf-BBRZWoMV2YSnRSWtRmO8MZU&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sca_esv=c9bfdf3b8cae865b&amp;q=Encapsulating+Security+Payload+%28ESP%29&amp;sa=X&amp;ved=2ahUKEwi-3qCMlIKQAxWs1zgGHRTFExEQxccNegQIHRAD&amp;mstk=AUtExfDVHGKhBqMlGPVHxcbMpgNiIeL977o8iuBKHhAX4aQAviJ2GThrSmucQJQSrnCnzpK_NGKvyhjPKQlqZNkd7kiRnsOTMjAy9-WVXMmZUTf-BBRZWoMV2YSnRSWtRmO8MZU&amp;csui=3"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s://www.google.com/search?safe=active&amp;sca_esv=e2c71ab81425b6e6&amp;q=SSL%2FTLS&amp;sa=X&amp;ved=2ahUKEwiT-fLV45OQAxX1TWcHHbt0BskQxccNegQIKxAD&amp;mstk=AUtExfBjl_DBGlBmsOjCGx00hDAHuENBcqrutD4dw8xMJOUtNtGCao3dfrw1L3eibfhzRzhTSnSzU7b8PNFsthxsOIQywC4MNFy8wzj4t5O5hZGKAy8ljRRlJmY1s77Xl_SN5q8&amp;csui=3" TargetMode="External"/><Relationship Id="rId2" Type="http://schemas.openxmlformats.org/officeDocument/2006/relationships/hyperlink" Target="https://www.google.com/search?safe=active&amp;sca_esv=e2c71ab81425b6e6&amp;q=HyperText+Transfer+Protocol+Secure&amp;sa=X&amp;ved=2ahUKEwiT-fLV45OQAxX1TWcHHbt0BskQxccNegQIKxAB&amp;mstk=AUtExfBjl_DBGlBmsOjCGx00hDAHuENBcqrutD4dw8xMJOUtNtGCao3dfrw1L3eibfhzRzhTSnSzU7b8PNFsthxsOIQywC4MNFy8wzj4t5O5hZGKAy8ljRRlJmY1s77Xl_SN5q8&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sca_esv=e2c71ab81425b6e6&amp;q=padlock+icon&amp;sa=X&amp;ved=2ahUKEwiT-fLV45OQAxX1TWcHHbt0BskQxccNegQILRAB&amp;mstk=AUtExfBjl_DBGlBmsOjCGx00hDAHuENBcqrutD4dw8xMJOUtNtGCao3dfrw1L3eibfhzRzhTSnSzU7b8PNFsthxsOIQywC4MNFy8wzj4t5O5hZGKAy8ljRRlJmY1s77Xl_SN5q8&amp;csui=3" TargetMode="External"/></Relationships>
</file>

<file path=ppt/slides/_rels/slide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www.geeksforgeeks.org/computer-networks/understanding-http-using-browsers/"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www.geeksforgeeks.org/computer-networks/transport-layer-responsibilities/" TargetMode="External"/><Relationship Id="rId2" Type="http://schemas.openxmlformats.org/officeDocument/2006/relationships/hyperlink" Target="https://www.geeksforgeeks.org/computer-networks/application-layer-in-osi-model/"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s://www.google.com/search?safe=active&amp;sca_esv=afd1fcd61dcda96b&amp;q=Secure%2FMultipurpose+Internet+Mail+Extensions&amp;sa=X&amp;ved=2ahUKEwi4-tjI5ZOQAxXFSWwGHd3wDqcQxccNegQIBhAB&amp;mstk=AUtExfBuBO3WPIhW5_wulotpFQEp6xvhGOy0dQD9ubmqrGKvKMa68arGkjIFisAbNH3Y6DWNnf4m1sg3nA9hXHcaMxGRHArIvRz8N5i0W3Aqhi-gxdnb7Tl-jk2qCYiyb4oMh0I&amp;csui=3"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Security</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7237536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t>Introduction</a:t>
            </a:r>
            <a:endParaRPr lang="en-US" dirty="0"/>
          </a:p>
        </p:txBody>
      </p:sp>
      <p:sp>
        <p:nvSpPr>
          <p:cNvPr id="3" name="Content Placeholder 2"/>
          <p:cNvSpPr>
            <a:spLocks noGrp="1"/>
          </p:cNvSpPr>
          <p:nvPr>
            <p:ph idx="1"/>
          </p:nvPr>
        </p:nvSpPr>
        <p:spPr>
          <a:xfrm>
            <a:off x="838200" y="1097280"/>
            <a:ext cx="10515600" cy="5079683"/>
          </a:xfrm>
        </p:spPr>
        <p:txBody>
          <a:bodyPr/>
          <a:lstStyle/>
          <a:p>
            <a:r>
              <a:rPr lang="en-GB" dirty="0"/>
              <a:t>Network security is a set of practices and technologies that protect computer networks and data from unauthorized access, misuse, or damage by implementing policies and controls for hardware, software, and user activity. </a:t>
            </a:r>
            <a:endParaRPr lang="en-GB" dirty="0" smtClean="0"/>
          </a:p>
          <a:p>
            <a:r>
              <a:rPr lang="en-GB" dirty="0" smtClean="0"/>
              <a:t>Its </a:t>
            </a:r>
            <a:r>
              <a:rPr lang="en-GB" dirty="0"/>
              <a:t>goal is to maintain the confidentiality, integrity, and availability (the "CIA triad") of the network and its resources by preventing, detecting, and monitoring threats like malware, hacking, and denial-of-service attacks. </a:t>
            </a:r>
            <a:endParaRPr lang="en-US" dirty="0"/>
          </a:p>
        </p:txBody>
      </p:sp>
    </p:spTree>
    <p:extLst>
      <p:ext uri="{BB962C8B-B14F-4D97-AF65-F5344CB8AC3E}">
        <p14:creationId xmlns:p14="http://schemas.microsoft.com/office/powerpoint/2010/main" val="149506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66652"/>
            <a:ext cx="10515600" cy="5210311"/>
          </a:xfrm>
        </p:spPr>
        <p:txBody>
          <a:bodyPr/>
          <a:lstStyle/>
          <a:p>
            <a:r>
              <a:rPr lang="en-GB" dirty="0"/>
              <a:t>Key Aspects of Network Security</a:t>
            </a:r>
          </a:p>
          <a:p>
            <a:r>
              <a:rPr lang="en-GB" dirty="0" smtClean="0"/>
              <a:t>Hardware and Software: Involves a combination of both physical and digital tools, such as firewalls, intrusion detection systems, antivirus software, and access control tools. </a:t>
            </a:r>
          </a:p>
          <a:p>
            <a:r>
              <a:rPr lang="en-GB" dirty="0" smtClean="0"/>
              <a:t>Policies and Practices: Establishes rules for network access, user </a:t>
            </a:r>
            <a:r>
              <a:rPr lang="en-GB" dirty="0" err="1" smtClean="0"/>
              <a:t>behavior</a:t>
            </a:r>
            <a:r>
              <a:rPr lang="en-GB" dirty="0" smtClean="0"/>
              <a:t>, and data handling to create a secure environment. </a:t>
            </a:r>
          </a:p>
          <a:p>
            <a:r>
              <a:rPr lang="en-GB" dirty="0" smtClean="0"/>
              <a:t>Threat Protection: Aims to block various cyber threats, including malware (like ransomware), phishing attempts, and denial-of-service (</a:t>
            </a:r>
            <a:r>
              <a:rPr lang="en-GB" dirty="0" err="1" smtClean="0"/>
              <a:t>DDoS</a:t>
            </a:r>
            <a:r>
              <a:rPr lang="en-GB" dirty="0" smtClean="0"/>
              <a:t>) attacks that can disrupt services. </a:t>
            </a:r>
          </a:p>
          <a:p>
            <a:r>
              <a:rPr lang="en-GB" dirty="0" smtClean="0"/>
              <a:t>Data Protection: Focuses on safeguarding sensitive information from being stolen, altered, or made unavailable to authorized users. </a:t>
            </a:r>
            <a:r>
              <a:rPr lang="en-GB" dirty="0"/>
              <a:t/>
            </a:r>
            <a:br>
              <a:rPr lang="en-GB" dirty="0"/>
            </a:br>
            <a:endParaRPr lang="en-US" dirty="0"/>
          </a:p>
        </p:txBody>
      </p:sp>
    </p:spTree>
    <p:extLst>
      <p:ext uri="{BB962C8B-B14F-4D97-AF65-F5344CB8AC3E}">
        <p14:creationId xmlns:p14="http://schemas.microsoft.com/office/powerpoint/2010/main" val="2401147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t>Cont..</a:t>
            </a:r>
            <a:endParaRPr lang="en-US" dirty="0"/>
          </a:p>
        </p:txBody>
      </p:sp>
      <p:sp>
        <p:nvSpPr>
          <p:cNvPr id="3" name="Content Placeholder 2"/>
          <p:cNvSpPr>
            <a:spLocks noGrp="1"/>
          </p:cNvSpPr>
          <p:nvPr>
            <p:ph idx="1"/>
          </p:nvPr>
        </p:nvSpPr>
        <p:spPr>
          <a:xfrm>
            <a:off x="838200" y="1097280"/>
            <a:ext cx="10515600" cy="5079683"/>
          </a:xfrm>
        </p:spPr>
        <p:txBody>
          <a:bodyPr/>
          <a:lstStyle/>
          <a:p>
            <a:r>
              <a:rPr lang="en-GB" dirty="0"/>
              <a:t>Network security is built around the principles of the CIA triad: </a:t>
            </a:r>
            <a:endParaRPr lang="en-GB" dirty="0" smtClean="0"/>
          </a:p>
          <a:p>
            <a:r>
              <a:rPr lang="en-GB" dirty="0" smtClean="0"/>
              <a:t>Confidentiality: Ensures that sensitive information is accessible only to authorized users.</a:t>
            </a:r>
          </a:p>
          <a:p>
            <a:r>
              <a:rPr lang="en-GB" dirty="0" smtClean="0"/>
              <a:t>Integrity: Guarantees that data is accurate, complete, and hasn't been tampered with during transmission or storage.</a:t>
            </a:r>
          </a:p>
          <a:p>
            <a:r>
              <a:rPr lang="en-GB" dirty="0" smtClean="0"/>
              <a:t>Availability: Ensures that network services and resources are accessible and available to authorized users when they need them.</a:t>
            </a:r>
            <a:endParaRPr lang="en-US" dirty="0"/>
          </a:p>
        </p:txBody>
      </p:sp>
    </p:spTree>
    <p:extLst>
      <p:ext uri="{BB962C8B-B14F-4D97-AF65-F5344CB8AC3E}">
        <p14:creationId xmlns:p14="http://schemas.microsoft.com/office/powerpoint/2010/main" val="1007933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66652"/>
            <a:ext cx="10515600" cy="5210311"/>
          </a:xfrm>
        </p:spPr>
        <p:txBody>
          <a:bodyPr/>
          <a:lstStyle/>
          <a:p>
            <a:r>
              <a:rPr lang="en-GB" dirty="0"/>
              <a:t>Why Network Security is </a:t>
            </a:r>
            <a:r>
              <a:rPr lang="en-GB" dirty="0" smtClean="0"/>
              <a:t>Important</a:t>
            </a:r>
          </a:p>
          <a:p>
            <a:r>
              <a:rPr lang="en-GB" dirty="0" smtClean="0"/>
              <a:t>Protecting Sensitive Data: Prevents the theft of personal, financial, and intellectual property. </a:t>
            </a:r>
          </a:p>
          <a:p>
            <a:r>
              <a:rPr lang="en-GB" dirty="0" smtClean="0"/>
              <a:t>Ensuring Business Continuity: Safeguards against disruptions and downtime caused by cyberattacks, allowing businesses to operate uninterrupted. </a:t>
            </a:r>
          </a:p>
          <a:p>
            <a:r>
              <a:rPr lang="en-GB" dirty="0" smtClean="0"/>
              <a:t>Maintaining Reputation: Builds trust with customers and partners by demonstrating a commitment to protecting their data. </a:t>
            </a:r>
          </a:p>
          <a:p>
            <a:r>
              <a:rPr lang="en-GB" dirty="0" smtClean="0"/>
              <a:t>Meeting Compliance: Helps organizations comply with regulations that mandate the protection of data, avoiding legal and financial penalties. </a:t>
            </a:r>
            <a:endParaRPr lang="en-US" dirty="0"/>
          </a:p>
        </p:txBody>
      </p:sp>
    </p:spTree>
    <p:extLst>
      <p:ext uri="{BB962C8B-B14F-4D97-AF65-F5344CB8AC3E}">
        <p14:creationId xmlns:p14="http://schemas.microsoft.com/office/powerpoint/2010/main" val="38872797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b="1" dirty="0"/>
              <a:t>How Does Network Security Work?</a:t>
            </a:r>
            <a:br>
              <a:rPr lang="en-GB" b="1" dirty="0"/>
            </a:br>
            <a:endParaRPr lang="en-US" dirty="0"/>
          </a:p>
        </p:txBody>
      </p:sp>
      <p:sp>
        <p:nvSpPr>
          <p:cNvPr id="3" name="Content Placeholder 2"/>
          <p:cNvSpPr>
            <a:spLocks noGrp="1"/>
          </p:cNvSpPr>
          <p:nvPr>
            <p:ph idx="1"/>
          </p:nvPr>
        </p:nvSpPr>
        <p:spPr>
          <a:xfrm>
            <a:off x="838200" y="796834"/>
            <a:ext cx="10515600" cy="5380129"/>
          </a:xfrm>
        </p:spPr>
        <p:txBody>
          <a:bodyPr/>
          <a:lstStyle/>
          <a:p>
            <a:pPr fontAlgn="base"/>
            <a:r>
              <a:rPr lang="en-GB" dirty="0"/>
              <a:t>Network security uses multiple layers of protection, both at the network edge and within the internal environment</a:t>
            </a:r>
            <a:r>
              <a:rPr lang="en-GB" dirty="0" smtClean="0"/>
              <a:t>.</a:t>
            </a:r>
          </a:p>
          <a:p>
            <a:pPr fontAlgn="base"/>
            <a:r>
              <a:rPr lang="en-GB" dirty="0" smtClean="0"/>
              <a:t> </a:t>
            </a:r>
            <a:r>
              <a:rPr lang="en-GB" dirty="0"/>
              <a:t>Each layer enforces specific rules and controls to regulate access to network resources</a:t>
            </a:r>
            <a:r>
              <a:rPr lang="en-GB" dirty="0" smtClean="0"/>
              <a:t>.</a:t>
            </a:r>
          </a:p>
          <a:p>
            <a:pPr fontAlgn="base"/>
            <a:r>
              <a:rPr lang="en-GB" dirty="0" smtClean="0"/>
              <a:t> </a:t>
            </a:r>
            <a:r>
              <a:rPr lang="en-GB" dirty="0"/>
              <a:t>Authorized users can safely utilize the network, while malicious actors and threats are blocked from causing harm.</a:t>
            </a:r>
          </a:p>
          <a:p>
            <a:pPr fontAlgn="base"/>
            <a:r>
              <a:rPr lang="en-GB" dirty="0"/>
              <a:t>The basic principle of network security is protecting huge stored data and networks in layers that ensure the enforcement of rules and regulations that have to be acknowledged before performing any activity on the data</a:t>
            </a:r>
            <a:r>
              <a:rPr lang="en-GB" dirty="0" smtClean="0"/>
              <a:t>.</a:t>
            </a:r>
          </a:p>
          <a:p>
            <a:pPr fontAlgn="base"/>
            <a:r>
              <a:rPr lang="en-GB" dirty="0"/>
              <a:t> These levels are:</a:t>
            </a:r>
          </a:p>
        </p:txBody>
      </p:sp>
    </p:spTree>
    <p:extLst>
      <p:ext uri="{BB962C8B-B14F-4D97-AF65-F5344CB8AC3E}">
        <p14:creationId xmlns:p14="http://schemas.microsoft.com/office/powerpoint/2010/main" val="28043916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07177" y="1097279"/>
            <a:ext cx="8386354" cy="5342709"/>
          </a:xfrm>
          <a:prstGeom prst="rect">
            <a:avLst/>
          </a:prstGeom>
        </p:spPr>
      </p:pic>
    </p:spTree>
    <p:extLst>
      <p:ext uri="{BB962C8B-B14F-4D97-AF65-F5344CB8AC3E}">
        <p14:creationId xmlns:p14="http://schemas.microsoft.com/office/powerpoint/2010/main" val="13652338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31966"/>
            <a:ext cx="10515600" cy="5826034"/>
          </a:xfrm>
        </p:spPr>
        <p:txBody>
          <a:bodyPr>
            <a:normAutofit lnSpcReduction="10000"/>
          </a:bodyPr>
          <a:lstStyle/>
          <a:p>
            <a:pPr fontAlgn="base"/>
            <a:r>
              <a:rPr lang="en-GB" b="1" dirty="0"/>
              <a:t>Physical Network Security</a:t>
            </a:r>
            <a:r>
              <a:rPr lang="en-GB" b="1" dirty="0" smtClean="0"/>
              <a:t>:</a:t>
            </a:r>
          </a:p>
          <a:p>
            <a:pPr fontAlgn="base"/>
            <a:r>
              <a:rPr lang="en-GB" b="1" dirty="0"/>
              <a:t> </a:t>
            </a:r>
            <a:r>
              <a:rPr lang="en-GB" dirty="0"/>
              <a:t>It is the foundational level of network protection, focused on preventing unauthorized individuals from gaining physical access to networking equipment and compromising the confidentiality of the network. </a:t>
            </a:r>
            <a:endParaRPr lang="en-GB" dirty="0" smtClean="0"/>
          </a:p>
          <a:p>
            <a:pPr fontAlgn="base"/>
            <a:r>
              <a:rPr lang="en-GB" dirty="0" smtClean="0"/>
              <a:t>This </a:t>
            </a:r>
            <a:r>
              <a:rPr lang="en-GB" dirty="0"/>
              <a:t>can be achieved through measures such as biometric systems, access cards, and other physical security devices.</a:t>
            </a:r>
          </a:p>
          <a:p>
            <a:pPr fontAlgn="base"/>
            <a:r>
              <a:rPr lang="en-GB" b="1" dirty="0"/>
              <a:t>Technical Network Security</a:t>
            </a:r>
            <a:r>
              <a:rPr lang="en-GB" b="1" dirty="0" smtClean="0"/>
              <a:t>:</a:t>
            </a:r>
          </a:p>
          <a:p>
            <a:pPr fontAlgn="base"/>
            <a:r>
              <a:rPr lang="en-GB" dirty="0"/>
              <a:t> It primarily focuses on protecting the data stored in the network or data involved in transitions through the network</a:t>
            </a:r>
            <a:r>
              <a:rPr lang="en-GB" dirty="0" smtClean="0"/>
              <a:t>.</a:t>
            </a:r>
          </a:p>
          <a:p>
            <a:pPr fontAlgn="base"/>
            <a:r>
              <a:rPr lang="en-GB" dirty="0" smtClean="0"/>
              <a:t> </a:t>
            </a:r>
            <a:r>
              <a:rPr lang="en-GB" dirty="0"/>
              <a:t>This type serves two purposes. </a:t>
            </a:r>
            <a:endParaRPr lang="en-GB" dirty="0" smtClean="0"/>
          </a:p>
          <a:p>
            <a:pPr fontAlgn="base"/>
            <a:r>
              <a:rPr lang="en-GB" dirty="0" smtClean="0"/>
              <a:t>One </a:t>
            </a:r>
            <a:r>
              <a:rPr lang="en-GB" dirty="0"/>
              <a:t>is protected from unauthorized users, and the other is protected from malicious activities.</a:t>
            </a:r>
          </a:p>
          <a:p>
            <a:endParaRPr lang="en-US" dirty="0"/>
          </a:p>
        </p:txBody>
      </p:sp>
    </p:spTree>
    <p:extLst>
      <p:ext uri="{BB962C8B-B14F-4D97-AF65-F5344CB8AC3E}">
        <p14:creationId xmlns:p14="http://schemas.microsoft.com/office/powerpoint/2010/main" val="30533995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162594"/>
            <a:ext cx="10515600" cy="5014369"/>
          </a:xfrm>
        </p:spPr>
        <p:txBody>
          <a:bodyPr/>
          <a:lstStyle/>
          <a:p>
            <a:r>
              <a:rPr lang="en-GB" b="1" dirty="0" smtClean="0"/>
              <a:t>Administrative Network Security:</a:t>
            </a:r>
            <a:r>
              <a:rPr lang="en-GB" dirty="0" smtClean="0"/>
              <a:t> </a:t>
            </a:r>
          </a:p>
          <a:p>
            <a:r>
              <a:rPr lang="en-GB" dirty="0" smtClean="0"/>
              <a:t>This level of network security protects user </a:t>
            </a:r>
            <a:r>
              <a:rPr lang="en-GB" dirty="0" err="1" smtClean="0"/>
              <a:t>behavior</a:t>
            </a:r>
            <a:r>
              <a:rPr lang="en-GB" dirty="0" smtClean="0"/>
              <a:t> like how the permission has been granted and how the authorization process takes place. </a:t>
            </a:r>
          </a:p>
          <a:p>
            <a:r>
              <a:rPr lang="en-GB" dirty="0" smtClean="0"/>
              <a:t>This also ensures the level of sophistication the network might need for protecting it through all the attacks. </a:t>
            </a:r>
          </a:p>
          <a:p>
            <a:r>
              <a:rPr lang="en-GB" dirty="0" smtClean="0"/>
              <a:t>This level also suggests necessary amendments that have to be done to the infrastructure.</a:t>
            </a:r>
          </a:p>
          <a:p>
            <a:endParaRPr lang="en-US" dirty="0"/>
          </a:p>
        </p:txBody>
      </p:sp>
    </p:spTree>
    <p:extLst>
      <p:ext uri="{BB962C8B-B14F-4D97-AF65-F5344CB8AC3E}">
        <p14:creationId xmlns:p14="http://schemas.microsoft.com/office/powerpoint/2010/main" val="18059701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GB" dirty="0" smtClean="0"/>
              <a:t>Need of Network Security</a:t>
            </a:r>
            <a:endParaRPr lang="en-US" dirty="0"/>
          </a:p>
        </p:txBody>
      </p:sp>
      <p:sp>
        <p:nvSpPr>
          <p:cNvPr id="3" name="Content Placeholder 2"/>
          <p:cNvSpPr>
            <a:spLocks noGrp="1"/>
          </p:cNvSpPr>
          <p:nvPr>
            <p:ph idx="1"/>
          </p:nvPr>
        </p:nvSpPr>
        <p:spPr>
          <a:xfrm>
            <a:off x="838200" y="1136470"/>
            <a:ext cx="10515600" cy="5040493"/>
          </a:xfrm>
        </p:spPr>
        <p:txBody>
          <a:bodyPr/>
          <a:lstStyle/>
          <a:p>
            <a:r>
              <a:rPr lang="en-GB" dirty="0"/>
              <a:t>Network security is essential to protect an organization's digital assets, such as sensitive data and operations, from cyber threats like data breaches and unauthorized access. </a:t>
            </a:r>
            <a:endParaRPr lang="en-GB" dirty="0" smtClean="0"/>
          </a:p>
          <a:p>
            <a:r>
              <a:rPr lang="en-GB" dirty="0" smtClean="0"/>
              <a:t>Its </a:t>
            </a:r>
            <a:r>
              <a:rPr lang="en-GB" dirty="0"/>
              <a:t>importance stems from the need to ensure data confidentiality and integrity, maintain business continuity by preventing operational downtime, and comply with </a:t>
            </a:r>
            <a:r>
              <a:rPr lang="en-GB" dirty="0">
                <a:hlinkClick r:id="rId2"/>
              </a:rPr>
              <a:t>regulatory requirements</a:t>
            </a:r>
            <a:r>
              <a:rPr lang="en-GB" dirty="0" smtClean="0"/>
              <a:t>.</a:t>
            </a:r>
          </a:p>
          <a:p>
            <a:r>
              <a:rPr lang="en-GB" dirty="0"/>
              <a:t> Strong network security also builds customer trust, enhances brand reputation, and safeguards a company's intellectual property, ultimately protecting its overall financial health and operational efficiency.  </a:t>
            </a:r>
            <a:endParaRPr lang="en-US" dirty="0"/>
          </a:p>
        </p:txBody>
      </p:sp>
    </p:spTree>
    <p:extLst>
      <p:ext uri="{BB962C8B-B14F-4D97-AF65-F5344CB8AC3E}">
        <p14:creationId xmlns:p14="http://schemas.microsoft.com/office/powerpoint/2010/main" val="13944236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9092"/>
          </a:xfrm>
        </p:spPr>
        <p:txBody>
          <a:bodyPr/>
          <a:lstStyle/>
          <a:p>
            <a:r>
              <a:rPr lang="en-GB"/>
              <a:t>Key Reasons for Network Security</a:t>
            </a:r>
            <a:endParaRPr lang="en-US" dirty="0"/>
          </a:p>
        </p:txBody>
      </p:sp>
      <p:sp>
        <p:nvSpPr>
          <p:cNvPr id="3" name="Content Placeholder 2"/>
          <p:cNvSpPr>
            <a:spLocks noGrp="1"/>
          </p:cNvSpPr>
          <p:nvPr>
            <p:ph idx="1"/>
          </p:nvPr>
        </p:nvSpPr>
        <p:spPr>
          <a:xfrm>
            <a:off x="838200" y="1084218"/>
            <a:ext cx="10515600" cy="5092745"/>
          </a:xfrm>
        </p:spPr>
        <p:txBody>
          <a:bodyPr/>
          <a:lstStyle/>
          <a:p>
            <a:r>
              <a:rPr lang="en-GB" b="1" dirty="0" smtClean="0"/>
              <a:t>Protecting Sensitive Data: </a:t>
            </a:r>
            <a:r>
              <a:rPr lang="en-GB" dirty="0" smtClean="0"/>
              <a:t>To prevent unauthorized access to confidential information, including personal data, customer details, financial records, and intellectual property. </a:t>
            </a:r>
          </a:p>
          <a:p>
            <a:r>
              <a:rPr lang="en-GB" b="1" dirty="0" smtClean="0"/>
              <a:t>Ensuring Data Integrity: </a:t>
            </a:r>
            <a:r>
              <a:rPr lang="en-GB" dirty="0" smtClean="0"/>
              <a:t>To maintain the reliability of network operations and ensure data is not modified, stolen, or damaged. </a:t>
            </a:r>
          </a:p>
          <a:p>
            <a:r>
              <a:rPr lang="en-GB" b="1" dirty="0" smtClean="0"/>
              <a:t>Maintaining Business Continuity: </a:t>
            </a:r>
            <a:r>
              <a:rPr lang="en-GB" dirty="0" smtClean="0"/>
              <a:t>To prevent operational disruptions and downtime caused by cyberattacks, ensuring that critical business operations can continue smoothly. </a:t>
            </a:r>
          </a:p>
          <a:p>
            <a:r>
              <a:rPr lang="en-GB" b="1" dirty="0" smtClean="0"/>
              <a:t>Compliance with Regulations: </a:t>
            </a:r>
            <a:r>
              <a:rPr lang="en-GB" dirty="0" smtClean="0"/>
              <a:t>To adhere to industry-specific and governmental regulations, such as GDPR and HIPAA, avoiding legal and financial penalties for data breaches. </a:t>
            </a:r>
          </a:p>
          <a:p>
            <a:endParaRPr lang="en-US" dirty="0"/>
          </a:p>
        </p:txBody>
      </p:sp>
    </p:spTree>
    <p:extLst>
      <p:ext uri="{BB962C8B-B14F-4D97-AF65-F5344CB8AC3E}">
        <p14:creationId xmlns:p14="http://schemas.microsoft.com/office/powerpoint/2010/main" val="26798162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45030"/>
            <a:ext cx="10515600" cy="5131933"/>
          </a:xfrm>
        </p:spPr>
        <p:txBody>
          <a:bodyPr/>
          <a:lstStyle/>
          <a:p>
            <a:r>
              <a:rPr lang="en-GB" b="1" dirty="0" smtClean="0"/>
              <a:t>Preventing Cyber Threats: </a:t>
            </a:r>
            <a:r>
              <a:rPr lang="en-GB" dirty="0" smtClean="0"/>
              <a:t>To mitigate risks from various threats, including malware, ransomware, and unauthorized probing, by implementing proactive security measures. </a:t>
            </a:r>
          </a:p>
          <a:p>
            <a:r>
              <a:rPr lang="en-GB" b="1" dirty="0" smtClean="0"/>
              <a:t>Building Customer Trust and Brand Reputation: </a:t>
            </a:r>
            <a:r>
              <a:rPr lang="en-GB" dirty="0" smtClean="0"/>
              <a:t>To demonstrate a commitment to protecting client data, which enhances customer loyalty and strengthens the organization's reputation. </a:t>
            </a:r>
          </a:p>
          <a:p>
            <a:r>
              <a:rPr lang="en-GB" b="1" dirty="0" smtClean="0"/>
              <a:t>Protecting Intellectual Property: </a:t>
            </a:r>
            <a:r>
              <a:rPr lang="en-GB" dirty="0" smtClean="0"/>
              <a:t>To safeguard a company's unique intellectual assets, such as trade secrets and business strategies, from theft and misuse. </a:t>
            </a:r>
          </a:p>
          <a:p>
            <a:r>
              <a:rPr lang="en-GB" b="1" dirty="0" smtClean="0"/>
              <a:t>Controlling Network Performance: </a:t>
            </a:r>
            <a:r>
              <a:rPr lang="en-GB" dirty="0" smtClean="0"/>
              <a:t>To ensure high network functionality and performance by preventing intrusions and maintaining system efficiency. </a:t>
            </a:r>
            <a:endParaRPr lang="en-US" dirty="0"/>
          </a:p>
        </p:txBody>
      </p:sp>
    </p:spTree>
    <p:extLst>
      <p:ext uri="{BB962C8B-B14F-4D97-AF65-F5344CB8AC3E}">
        <p14:creationId xmlns:p14="http://schemas.microsoft.com/office/powerpoint/2010/main" val="13044088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lstStyle/>
          <a:p>
            <a:r>
              <a:rPr lang="en-GB"/>
              <a:t>Benefits of Effective Network Security</a:t>
            </a:r>
            <a:endParaRPr lang="en-US" dirty="0"/>
          </a:p>
        </p:txBody>
      </p:sp>
      <p:sp>
        <p:nvSpPr>
          <p:cNvPr id="3" name="Content Placeholder 2"/>
          <p:cNvSpPr>
            <a:spLocks noGrp="1"/>
          </p:cNvSpPr>
          <p:nvPr>
            <p:ph idx="1"/>
          </p:nvPr>
        </p:nvSpPr>
        <p:spPr>
          <a:xfrm>
            <a:off x="838200" y="1162594"/>
            <a:ext cx="10515600" cy="5014369"/>
          </a:xfrm>
        </p:spPr>
        <p:txBody>
          <a:bodyPr/>
          <a:lstStyle/>
          <a:p>
            <a:r>
              <a:rPr lang="en-GB" dirty="0" smtClean="0"/>
              <a:t>Reduced Financial Losses: Minimizes financial losses resulting from security breaches, data theft, and operational downtime. </a:t>
            </a:r>
          </a:p>
          <a:p>
            <a:r>
              <a:rPr lang="en-GB" dirty="0" smtClean="0"/>
              <a:t>Enhanced Operational Efficiency: Fewer interruptions and intrusions lead to improved network efficiency and increased business productivity. </a:t>
            </a:r>
          </a:p>
          <a:p>
            <a:r>
              <a:rPr lang="en-GB" dirty="0" smtClean="0"/>
              <a:t>Stronger Competitive Advantage: A robust security posture can attract and retain top talent, especially for roles handling sensitive information. </a:t>
            </a:r>
          </a:p>
          <a:p>
            <a:r>
              <a:rPr lang="en-GB" dirty="0" smtClean="0"/>
              <a:t>Attracting and Retaining Talent: Demonstrating strong security practices can influence potential and current employees to choose one employer over another. </a:t>
            </a:r>
            <a:endParaRPr lang="en-US" dirty="0"/>
          </a:p>
        </p:txBody>
      </p:sp>
    </p:spTree>
    <p:extLst>
      <p:ext uri="{BB962C8B-B14F-4D97-AF65-F5344CB8AC3E}">
        <p14:creationId xmlns:p14="http://schemas.microsoft.com/office/powerpoint/2010/main" val="34193408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normAutofit fontScale="90000"/>
          </a:bodyPr>
          <a:lstStyle/>
          <a:p>
            <a:r>
              <a:rPr lang="en-US" b="1" dirty="0"/>
              <a:t>Types of Network Security</a:t>
            </a:r>
            <a:br>
              <a:rPr lang="en-US" b="1" dirty="0"/>
            </a:br>
            <a:endParaRPr lang="en-US" dirty="0"/>
          </a:p>
        </p:txBody>
      </p:sp>
      <p:sp>
        <p:nvSpPr>
          <p:cNvPr id="3" name="Content Placeholder 2"/>
          <p:cNvSpPr>
            <a:spLocks noGrp="1"/>
          </p:cNvSpPr>
          <p:nvPr>
            <p:ph idx="1"/>
          </p:nvPr>
        </p:nvSpPr>
        <p:spPr>
          <a:xfrm>
            <a:off x="838200" y="731520"/>
            <a:ext cx="10515600" cy="5445443"/>
          </a:xfrm>
        </p:spPr>
        <p:txBody>
          <a:bodyPr>
            <a:normAutofit fontScale="85000" lnSpcReduction="20000"/>
          </a:bodyPr>
          <a:lstStyle/>
          <a:p>
            <a:r>
              <a:rPr lang="en-US" b="1" dirty="0"/>
              <a:t>Email Security</a:t>
            </a:r>
          </a:p>
          <a:p>
            <a:r>
              <a:rPr lang="en-US" b="1" dirty="0"/>
              <a:t>Network Segmentation</a:t>
            </a:r>
          </a:p>
          <a:p>
            <a:r>
              <a:rPr lang="en-US" b="1" dirty="0"/>
              <a:t>Access Control</a:t>
            </a:r>
          </a:p>
          <a:p>
            <a:r>
              <a:rPr lang="en-US" b="1" dirty="0"/>
              <a:t>Sandboxing</a:t>
            </a:r>
          </a:p>
          <a:p>
            <a:r>
              <a:rPr lang="en-US" b="1" dirty="0"/>
              <a:t>Cloud Network Security</a:t>
            </a:r>
          </a:p>
          <a:p>
            <a:r>
              <a:rPr lang="en-US" b="1" dirty="0"/>
              <a:t>Web Security</a:t>
            </a:r>
          </a:p>
          <a:p>
            <a:r>
              <a:rPr lang="en-US" b="1" dirty="0"/>
              <a:t>Intrusion Prevention System (IPS)</a:t>
            </a:r>
          </a:p>
          <a:p>
            <a:r>
              <a:rPr lang="en-US" b="1" dirty="0"/>
              <a:t>Antivirus and Anti-Malware Software</a:t>
            </a:r>
          </a:p>
          <a:p>
            <a:r>
              <a:rPr lang="en-US" b="1" dirty="0"/>
              <a:t>Firewall Security</a:t>
            </a:r>
          </a:p>
          <a:p>
            <a:r>
              <a:rPr lang="en-GB" b="1" dirty="0" smtClean="0"/>
              <a:t>Application Security</a:t>
            </a:r>
          </a:p>
          <a:p>
            <a:r>
              <a:rPr lang="en-GB" b="1" dirty="0" smtClean="0"/>
              <a:t>Wireless Security</a:t>
            </a:r>
          </a:p>
          <a:p>
            <a:r>
              <a:rPr lang="en-GB" b="1" dirty="0" smtClean="0"/>
              <a:t>Mobile Device Security</a:t>
            </a:r>
          </a:p>
          <a:p>
            <a:r>
              <a:rPr lang="en-GB" b="1" dirty="0" smtClean="0"/>
              <a:t>Industrial Network Security</a:t>
            </a:r>
          </a:p>
          <a:p>
            <a:r>
              <a:rPr lang="en-GB" b="1" dirty="0" smtClean="0"/>
              <a:t>VPN Security</a:t>
            </a:r>
            <a:endParaRPr lang="en-US" b="1" dirty="0"/>
          </a:p>
        </p:txBody>
      </p:sp>
    </p:spTree>
    <p:extLst>
      <p:ext uri="{BB962C8B-B14F-4D97-AF65-F5344CB8AC3E}">
        <p14:creationId xmlns:p14="http://schemas.microsoft.com/office/powerpoint/2010/main" val="42904817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US" b="1" dirty="0"/>
              <a:t>Email Security</a:t>
            </a:r>
            <a:br>
              <a:rPr lang="en-US" b="1" dirty="0"/>
            </a:br>
            <a:endParaRPr lang="en-US" dirty="0"/>
          </a:p>
        </p:txBody>
      </p:sp>
      <p:sp>
        <p:nvSpPr>
          <p:cNvPr id="3" name="Content Placeholder 2"/>
          <p:cNvSpPr>
            <a:spLocks noGrp="1"/>
          </p:cNvSpPr>
          <p:nvPr>
            <p:ph idx="1"/>
          </p:nvPr>
        </p:nvSpPr>
        <p:spPr>
          <a:xfrm>
            <a:off x="838200" y="718456"/>
            <a:ext cx="10515600" cy="6139543"/>
          </a:xfrm>
        </p:spPr>
        <p:txBody>
          <a:bodyPr>
            <a:normAutofit/>
          </a:bodyPr>
          <a:lstStyle/>
          <a:p>
            <a:pPr fontAlgn="base"/>
            <a:r>
              <a:rPr lang="en-GB" dirty="0"/>
              <a:t>Email security refers to the processes and technologies designed to protect email accounts and their contents from unauthorized access, loss, or compromise</a:t>
            </a:r>
            <a:r>
              <a:rPr lang="en-GB" dirty="0" smtClean="0"/>
              <a:t>.</a:t>
            </a:r>
          </a:p>
          <a:p>
            <a:pPr fontAlgn="base"/>
            <a:r>
              <a:rPr lang="en-GB" dirty="0" smtClean="0"/>
              <a:t> </a:t>
            </a:r>
            <a:r>
              <a:rPr lang="en-GB" dirty="0"/>
              <a:t>For example, fraudulent or suspicious emails are often filtered into the spam folder, as most email service providers include built-in protection features.</a:t>
            </a:r>
          </a:p>
          <a:p>
            <a:pPr fontAlgn="base"/>
            <a:r>
              <a:rPr lang="en-GB" dirty="0"/>
              <a:t>One of the most common attack vectors for security breaches is the email gateway. </a:t>
            </a:r>
            <a:endParaRPr lang="en-GB" dirty="0" smtClean="0"/>
          </a:p>
          <a:p>
            <a:pPr fontAlgn="base"/>
            <a:r>
              <a:rPr lang="en-GB" dirty="0" smtClean="0"/>
              <a:t>Cybercriminals </a:t>
            </a:r>
            <a:r>
              <a:rPr lang="en-GB" dirty="0"/>
              <a:t>frequently launch phishing campaigns that leverage personal information and social engineering techniques to deceive recipients and redirect them to malicious websites. </a:t>
            </a:r>
            <a:endParaRPr lang="en-GB" dirty="0" smtClean="0"/>
          </a:p>
          <a:p>
            <a:pPr fontAlgn="base"/>
            <a:r>
              <a:rPr lang="en-GB" dirty="0" smtClean="0"/>
              <a:t>To </a:t>
            </a:r>
            <a:r>
              <a:rPr lang="en-GB" dirty="0"/>
              <a:t>prevent data loss and protect sensitive information, email security solutions block incoming threats and restrict unauthorized or risky outgoing messages.</a:t>
            </a:r>
          </a:p>
          <a:p>
            <a:endParaRPr lang="en-US" dirty="0"/>
          </a:p>
        </p:txBody>
      </p:sp>
    </p:spTree>
    <p:extLst>
      <p:ext uri="{BB962C8B-B14F-4D97-AF65-F5344CB8AC3E}">
        <p14:creationId xmlns:p14="http://schemas.microsoft.com/office/powerpoint/2010/main" val="19004088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5401"/>
          </a:xfrm>
        </p:spPr>
        <p:txBody>
          <a:bodyPr>
            <a:normAutofit fontScale="90000"/>
          </a:bodyPr>
          <a:lstStyle/>
          <a:p>
            <a:r>
              <a:rPr lang="en-US" b="1" dirty="0"/>
              <a:t>Network Segmentation</a:t>
            </a:r>
            <a:br>
              <a:rPr lang="en-US" b="1" dirty="0"/>
            </a:br>
            <a:endParaRPr lang="en-US" dirty="0"/>
          </a:p>
        </p:txBody>
      </p:sp>
      <p:sp>
        <p:nvSpPr>
          <p:cNvPr id="3" name="Content Placeholder 2"/>
          <p:cNvSpPr>
            <a:spLocks noGrp="1"/>
          </p:cNvSpPr>
          <p:nvPr>
            <p:ph idx="1"/>
          </p:nvPr>
        </p:nvSpPr>
        <p:spPr>
          <a:xfrm>
            <a:off x="838200" y="744583"/>
            <a:ext cx="10515600" cy="5432380"/>
          </a:xfrm>
        </p:spPr>
        <p:txBody>
          <a:bodyPr/>
          <a:lstStyle/>
          <a:p>
            <a:r>
              <a:rPr lang="en-GB" dirty="0"/>
              <a:t>Network Segmentation involves dividing network traffic into different categories through software-defined mechanisms, which also support the enforcement of security policies</a:t>
            </a:r>
            <a:r>
              <a:rPr lang="en-GB" dirty="0" smtClean="0"/>
              <a:t>.</a:t>
            </a:r>
          </a:p>
          <a:p>
            <a:r>
              <a:rPr lang="en-GB" dirty="0" smtClean="0"/>
              <a:t> </a:t>
            </a:r>
            <a:r>
              <a:rPr lang="en-GB" dirty="0"/>
              <a:t>Instead of relying solely on IP addresses, classifications are ideally based on endpoint identity. </a:t>
            </a:r>
            <a:endParaRPr lang="en-GB" dirty="0" smtClean="0"/>
          </a:p>
          <a:p>
            <a:r>
              <a:rPr lang="en-GB" dirty="0" smtClean="0"/>
              <a:t>Access </a:t>
            </a:r>
            <a:r>
              <a:rPr lang="en-GB" dirty="0"/>
              <a:t>permissions can then be assigned according to role, location, or other factors, ensuring that individuals receive the appropriate level of access while suspicious devices are isolated and remediated</a:t>
            </a:r>
            <a:endParaRPr lang="en-US" dirty="0"/>
          </a:p>
        </p:txBody>
      </p:sp>
    </p:spTree>
    <p:extLst>
      <p:ext uri="{BB962C8B-B14F-4D97-AF65-F5344CB8AC3E}">
        <p14:creationId xmlns:p14="http://schemas.microsoft.com/office/powerpoint/2010/main" val="22409980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024"/>
          </a:xfrm>
        </p:spPr>
        <p:txBody>
          <a:bodyPr>
            <a:normAutofit fontScale="90000"/>
          </a:bodyPr>
          <a:lstStyle/>
          <a:p>
            <a:r>
              <a:rPr lang="en-US" b="1" dirty="0"/>
              <a:t>Access Control</a:t>
            </a:r>
            <a:br>
              <a:rPr lang="en-US" b="1" dirty="0"/>
            </a:br>
            <a:endParaRPr lang="en-US" dirty="0"/>
          </a:p>
        </p:txBody>
      </p:sp>
      <p:sp>
        <p:nvSpPr>
          <p:cNvPr id="3" name="Content Placeholder 2"/>
          <p:cNvSpPr>
            <a:spLocks noGrp="1"/>
          </p:cNvSpPr>
          <p:nvPr>
            <p:ph idx="1"/>
          </p:nvPr>
        </p:nvSpPr>
        <p:spPr>
          <a:xfrm>
            <a:off x="838200" y="744583"/>
            <a:ext cx="10515600" cy="5432380"/>
          </a:xfrm>
        </p:spPr>
        <p:txBody>
          <a:bodyPr/>
          <a:lstStyle/>
          <a:p>
            <a:r>
              <a:rPr lang="en-GB" dirty="0"/>
              <a:t>Your network should not be openly accessible to all users. </a:t>
            </a:r>
            <a:endParaRPr lang="en-GB" dirty="0" smtClean="0"/>
          </a:p>
          <a:p>
            <a:r>
              <a:rPr lang="en-GB" dirty="0" smtClean="0"/>
              <a:t>To </a:t>
            </a:r>
            <a:r>
              <a:rPr lang="en-GB" dirty="0"/>
              <a:t>prevent unauthorized access, it is essential to identify every user and device attempting to connect. </a:t>
            </a:r>
            <a:endParaRPr lang="en-GB" dirty="0" smtClean="0"/>
          </a:p>
          <a:p>
            <a:r>
              <a:rPr lang="en-GB" dirty="0" smtClean="0"/>
              <a:t>Once </a:t>
            </a:r>
            <a:r>
              <a:rPr lang="en-GB" dirty="0"/>
              <a:t>identified, security policies can be enforced to ensure compliance. </a:t>
            </a:r>
            <a:endParaRPr lang="en-GB" dirty="0" smtClean="0"/>
          </a:p>
          <a:p>
            <a:r>
              <a:rPr lang="en-GB" dirty="0" smtClean="0"/>
              <a:t>Noncompliant </a:t>
            </a:r>
            <a:r>
              <a:rPr lang="en-GB" dirty="0"/>
              <a:t>endpoint devices may have their access restricted or blocked entirely. </a:t>
            </a:r>
            <a:endParaRPr lang="en-GB" dirty="0" smtClean="0"/>
          </a:p>
          <a:p>
            <a:r>
              <a:rPr lang="en-GB" dirty="0" smtClean="0"/>
              <a:t>This </a:t>
            </a:r>
            <a:r>
              <a:rPr lang="en-GB" dirty="0"/>
              <a:t>process is known as Network Access Control (NAC).</a:t>
            </a:r>
            <a:endParaRPr lang="en-US" dirty="0"/>
          </a:p>
        </p:txBody>
      </p:sp>
    </p:spTree>
    <p:extLst>
      <p:ext uri="{BB962C8B-B14F-4D97-AF65-F5344CB8AC3E}">
        <p14:creationId xmlns:p14="http://schemas.microsoft.com/office/powerpoint/2010/main" val="25718021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normAutofit fontScale="90000"/>
          </a:bodyPr>
          <a:lstStyle/>
          <a:p>
            <a:r>
              <a:rPr lang="en-US" b="1" dirty="0"/>
              <a:t>Sandboxing</a:t>
            </a:r>
            <a:br>
              <a:rPr lang="en-US" b="1" dirty="0"/>
            </a:br>
            <a:endParaRPr lang="en-US" dirty="0"/>
          </a:p>
        </p:txBody>
      </p:sp>
      <p:sp>
        <p:nvSpPr>
          <p:cNvPr id="3" name="Content Placeholder 2"/>
          <p:cNvSpPr>
            <a:spLocks noGrp="1"/>
          </p:cNvSpPr>
          <p:nvPr>
            <p:ph idx="1"/>
          </p:nvPr>
        </p:nvSpPr>
        <p:spPr>
          <a:xfrm>
            <a:off x="838200" y="953589"/>
            <a:ext cx="10515600" cy="5223374"/>
          </a:xfrm>
        </p:spPr>
        <p:txBody>
          <a:bodyPr/>
          <a:lstStyle/>
          <a:p>
            <a:r>
              <a:rPr lang="en-GB" dirty="0"/>
              <a:t>Sandboxing is a cybersecurity technique in which files are opened or code is executed within a secure, isolated environment that simulates an end-user operating system. </a:t>
            </a:r>
            <a:endParaRPr lang="en-GB" dirty="0" smtClean="0"/>
          </a:p>
          <a:p>
            <a:r>
              <a:rPr lang="en-GB" dirty="0" smtClean="0"/>
              <a:t>This </a:t>
            </a:r>
            <a:r>
              <a:rPr lang="en-GB" dirty="0"/>
              <a:t>approach prevents potential threats from reaching the network by monitoring the </a:t>
            </a:r>
            <a:r>
              <a:rPr lang="en-GB" dirty="0" err="1"/>
              <a:t>behavior</a:t>
            </a:r>
            <a:r>
              <a:rPr lang="en-GB" dirty="0"/>
              <a:t> of code or files as they run and detecting any malicious activity.</a:t>
            </a:r>
            <a:endParaRPr lang="en-US" dirty="0"/>
          </a:p>
        </p:txBody>
      </p:sp>
    </p:spTree>
    <p:extLst>
      <p:ext uri="{BB962C8B-B14F-4D97-AF65-F5344CB8AC3E}">
        <p14:creationId xmlns:p14="http://schemas.microsoft.com/office/powerpoint/2010/main" val="21398741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pPr fontAlgn="base"/>
            <a:r>
              <a:rPr lang="en-US" b="1"/>
              <a:t>Cloud Network Security</a:t>
            </a:r>
          </a:p>
        </p:txBody>
      </p:sp>
      <p:sp>
        <p:nvSpPr>
          <p:cNvPr id="3" name="Content Placeholder 2"/>
          <p:cNvSpPr>
            <a:spLocks noGrp="1"/>
          </p:cNvSpPr>
          <p:nvPr>
            <p:ph idx="1"/>
          </p:nvPr>
        </p:nvSpPr>
        <p:spPr>
          <a:xfrm>
            <a:off x="838200" y="1031966"/>
            <a:ext cx="10515600" cy="5826034"/>
          </a:xfrm>
        </p:spPr>
        <p:txBody>
          <a:bodyPr/>
          <a:lstStyle/>
          <a:p>
            <a:pPr fontAlgn="base"/>
            <a:r>
              <a:rPr lang="en-GB" dirty="0"/>
              <a:t>Cloud environments are highly vulnerable to misuse by unauthorized parties, making it essential to protect stored data and ensure that such protection is never compromised. </a:t>
            </a:r>
            <a:endParaRPr lang="en-GB" dirty="0" smtClean="0"/>
          </a:p>
          <a:p>
            <a:pPr fontAlgn="base"/>
            <a:r>
              <a:rPr lang="en-GB" dirty="0" smtClean="0"/>
              <a:t>Many </a:t>
            </a:r>
            <a:r>
              <a:rPr lang="en-GB" dirty="0"/>
              <a:t>organizations adopt Software-as-a-Service (SaaS) applications, which allow certain employees to access cloud-stored data. </a:t>
            </a:r>
            <a:endParaRPr lang="en-GB" dirty="0" smtClean="0"/>
          </a:p>
          <a:p>
            <a:pPr fontAlgn="base"/>
            <a:r>
              <a:rPr lang="en-GB" dirty="0" smtClean="0"/>
              <a:t>However</a:t>
            </a:r>
            <a:r>
              <a:rPr lang="en-GB" dirty="0"/>
              <a:t>, this often creates gaps in data visibility and control.</a:t>
            </a:r>
          </a:p>
          <a:p>
            <a:pPr fontAlgn="base"/>
            <a:r>
              <a:rPr lang="en-GB" dirty="0"/>
              <a:t>Workloads and applications are no longer confined to on-site data </a:t>
            </a:r>
            <a:r>
              <a:rPr lang="en-GB" dirty="0" err="1"/>
              <a:t>centers</a:t>
            </a:r>
            <a:r>
              <a:rPr lang="en-GB" dirty="0"/>
              <a:t>; instead, they are increasingly deployed in the cloud</a:t>
            </a:r>
            <a:r>
              <a:rPr lang="en-GB" dirty="0" smtClean="0"/>
              <a:t>.</a:t>
            </a:r>
          </a:p>
          <a:p>
            <a:pPr fontAlgn="base"/>
            <a:r>
              <a:rPr lang="en-GB" dirty="0" smtClean="0"/>
              <a:t> </a:t>
            </a:r>
            <a:r>
              <a:rPr lang="en-GB" dirty="0"/>
              <a:t>As a result, protecting the modern data </a:t>
            </a:r>
            <a:r>
              <a:rPr lang="en-GB" dirty="0" err="1"/>
              <a:t>center</a:t>
            </a:r>
            <a:r>
              <a:rPr lang="en-GB" dirty="0"/>
              <a:t> requires greater adaptability and innovation to secure dynamic, cloud-based application workloads</a:t>
            </a:r>
          </a:p>
          <a:p>
            <a:endParaRPr lang="en-US" dirty="0"/>
          </a:p>
        </p:txBody>
      </p:sp>
    </p:spTree>
    <p:extLst>
      <p:ext uri="{BB962C8B-B14F-4D97-AF65-F5344CB8AC3E}">
        <p14:creationId xmlns:p14="http://schemas.microsoft.com/office/powerpoint/2010/main" val="36240527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lstStyle/>
          <a:p>
            <a:r>
              <a:rPr lang="en-GB" dirty="0" smtClean="0"/>
              <a:t>Web Security</a:t>
            </a:r>
            <a:endParaRPr lang="en-US" dirty="0"/>
          </a:p>
        </p:txBody>
      </p:sp>
      <p:sp>
        <p:nvSpPr>
          <p:cNvPr id="3" name="Content Placeholder 2"/>
          <p:cNvSpPr>
            <a:spLocks noGrp="1"/>
          </p:cNvSpPr>
          <p:nvPr>
            <p:ph idx="1"/>
          </p:nvPr>
        </p:nvSpPr>
        <p:spPr>
          <a:xfrm>
            <a:off x="838200" y="1384663"/>
            <a:ext cx="10515600" cy="4792300"/>
          </a:xfrm>
        </p:spPr>
        <p:txBody>
          <a:bodyPr/>
          <a:lstStyle/>
          <a:p>
            <a:r>
              <a:rPr lang="en-GB" dirty="0"/>
              <a:t>Web security solutions manage employee internet usage, block access to malicious websites, and prevent web-based threats. </a:t>
            </a:r>
            <a:endParaRPr lang="en-GB" dirty="0" smtClean="0"/>
          </a:p>
          <a:p>
            <a:r>
              <a:rPr lang="en-GB" dirty="0" smtClean="0"/>
              <a:t>They </a:t>
            </a:r>
            <a:r>
              <a:rPr lang="en-GB" dirty="0"/>
              <a:t>protect web gateways both on-site and in the cloud</a:t>
            </a:r>
            <a:r>
              <a:rPr lang="en-GB" dirty="0" smtClean="0"/>
              <a:t>.</a:t>
            </a:r>
          </a:p>
          <a:p>
            <a:r>
              <a:rPr lang="en-GB" dirty="0" smtClean="0"/>
              <a:t> </a:t>
            </a:r>
            <a:r>
              <a:rPr lang="en-GB" dirty="0"/>
              <a:t>In addition, web security also involves safeguarding personal or organizational websites from attacks and vulnerabilities.</a:t>
            </a:r>
            <a:endParaRPr lang="en-US" dirty="0"/>
          </a:p>
        </p:txBody>
      </p:sp>
    </p:spTree>
    <p:extLst>
      <p:ext uri="{BB962C8B-B14F-4D97-AF65-F5344CB8AC3E}">
        <p14:creationId xmlns:p14="http://schemas.microsoft.com/office/powerpoint/2010/main" val="3963522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GB" dirty="0" smtClean="0"/>
              <a:t>Intrusion Prevention System </a:t>
            </a:r>
            <a:endParaRPr lang="en-US" dirty="0"/>
          </a:p>
        </p:txBody>
      </p:sp>
      <p:sp>
        <p:nvSpPr>
          <p:cNvPr id="3" name="Content Placeholder 2"/>
          <p:cNvSpPr>
            <a:spLocks noGrp="1"/>
          </p:cNvSpPr>
          <p:nvPr>
            <p:ph idx="1"/>
          </p:nvPr>
        </p:nvSpPr>
        <p:spPr>
          <a:xfrm>
            <a:off x="838200" y="1214846"/>
            <a:ext cx="10515600" cy="4962117"/>
          </a:xfrm>
        </p:spPr>
        <p:txBody>
          <a:bodyPr/>
          <a:lstStyle/>
          <a:p>
            <a:r>
              <a:rPr lang="en-GB" dirty="0"/>
              <a:t>An Intrusion Prevention System (IPS), also known as an Intrusion Detection and Prevention System (IDPS), is a network security tool that monitors network or system activity for malicious </a:t>
            </a:r>
            <a:r>
              <a:rPr lang="en-GB" dirty="0" err="1"/>
              <a:t>behavior</a:t>
            </a:r>
            <a:r>
              <a:rPr lang="en-GB" dirty="0" smtClean="0"/>
              <a:t>.</a:t>
            </a:r>
          </a:p>
          <a:p>
            <a:r>
              <a:rPr lang="en-GB" dirty="0" smtClean="0"/>
              <a:t> </a:t>
            </a:r>
            <a:r>
              <a:rPr lang="en-GB" dirty="0"/>
              <a:t>Its key functions include detecting malicious activity, collecting information, generating reports, and blocking or mitigating threats in real time.</a:t>
            </a:r>
            <a:endParaRPr lang="en-US" dirty="0"/>
          </a:p>
        </p:txBody>
      </p:sp>
    </p:spTree>
    <p:extLst>
      <p:ext uri="{BB962C8B-B14F-4D97-AF65-F5344CB8AC3E}">
        <p14:creationId xmlns:p14="http://schemas.microsoft.com/office/powerpoint/2010/main" val="30179689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Antivirus and Anti-Malware Software</a:t>
            </a:r>
            <a:br>
              <a:rPr lang="en-US" b="1" dirty="0"/>
            </a:br>
            <a:endParaRPr lang="en-US" dirty="0"/>
          </a:p>
        </p:txBody>
      </p:sp>
      <p:sp>
        <p:nvSpPr>
          <p:cNvPr id="3" name="Content Placeholder 2"/>
          <p:cNvSpPr>
            <a:spLocks noGrp="1"/>
          </p:cNvSpPr>
          <p:nvPr>
            <p:ph idx="1"/>
          </p:nvPr>
        </p:nvSpPr>
        <p:spPr/>
        <p:txBody>
          <a:bodyPr/>
          <a:lstStyle/>
          <a:p>
            <a:r>
              <a:rPr lang="en-GB" dirty="0"/>
              <a:t>Antivirus and anti-malware solutions prevent malicious software such as viruses, Trojans, and worms from entering a network</a:t>
            </a:r>
            <a:r>
              <a:rPr lang="en-GB" dirty="0" smtClean="0"/>
              <a:t>.</a:t>
            </a:r>
          </a:p>
          <a:p>
            <a:r>
              <a:rPr lang="en-GB" dirty="0" smtClean="0"/>
              <a:t> </a:t>
            </a:r>
            <a:r>
              <a:rPr lang="en-GB" dirty="0"/>
              <a:t>These tools not only stop malware from infiltrating but also provide </a:t>
            </a:r>
            <a:r>
              <a:rPr lang="en-GB" dirty="0" err="1"/>
              <a:t>defense</a:t>
            </a:r>
            <a:r>
              <a:rPr lang="en-GB" dirty="0"/>
              <a:t> mechanisms to detect, remove, and remediate infections if they occur.</a:t>
            </a:r>
            <a:endParaRPr lang="en-US" dirty="0"/>
          </a:p>
        </p:txBody>
      </p:sp>
    </p:spTree>
    <p:extLst>
      <p:ext uri="{BB962C8B-B14F-4D97-AF65-F5344CB8AC3E}">
        <p14:creationId xmlns:p14="http://schemas.microsoft.com/office/powerpoint/2010/main" val="20918857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4224"/>
          </a:xfrm>
        </p:spPr>
        <p:txBody>
          <a:bodyPr/>
          <a:lstStyle/>
          <a:p>
            <a:r>
              <a:rPr lang="en-GB" dirty="0" smtClean="0"/>
              <a:t>Firewall Security</a:t>
            </a:r>
            <a:endParaRPr lang="en-US" dirty="0"/>
          </a:p>
        </p:txBody>
      </p:sp>
      <p:sp>
        <p:nvSpPr>
          <p:cNvPr id="3" name="Content Placeholder 2"/>
          <p:cNvSpPr>
            <a:spLocks noGrp="1"/>
          </p:cNvSpPr>
          <p:nvPr>
            <p:ph idx="1"/>
          </p:nvPr>
        </p:nvSpPr>
        <p:spPr/>
        <p:txBody>
          <a:bodyPr/>
          <a:lstStyle/>
          <a:p>
            <a:r>
              <a:rPr lang="en-GB" b="1" dirty="0"/>
              <a:t>Firewalls</a:t>
            </a:r>
            <a:r>
              <a:rPr lang="en-GB" dirty="0"/>
              <a:t> act as a barrier between trusted and untrusted networks by monitoring and filtering incoming and outgoing traffic based on predefined rules. </a:t>
            </a:r>
            <a:endParaRPr lang="en-GB" dirty="0" smtClean="0"/>
          </a:p>
          <a:p>
            <a:r>
              <a:rPr lang="en-GB" dirty="0" smtClean="0"/>
              <a:t>They </a:t>
            </a:r>
            <a:r>
              <a:rPr lang="en-GB" dirty="0"/>
              <a:t>play a critical role in preventing unauthorized access while permitting legitimate communication.</a:t>
            </a:r>
            <a:endParaRPr lang="en-US" dirty="0"/>
          </a:p>
        </p:txBody>
      </p:sp>
    </p:spTree>
    <p:extLst>
      <p:ext uri="{BB962C8B-B14F-4D97-AF65-F5344CB8AC3E}">
        <p14:creationId xmlns:p14="http://schemas.microsoft.com/office/powerpoint/2010/main" val="10133635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47850" y="535577"/>
            <a:ext cx="8496300" cy="5826034"/>
          </a:xfrm>
          <a:prstGeom prst="rect">
            <a:avLst/>
          </a:prstGeom>
        </p:spPr>
      </p:pic>
    </p:spTree>
    <p:extLst>
      <p:ext uri="{BB962C8B-B14F-4D97-AF65-F5344CB8AC3E}">
        <p14:creationId xmlns:p14="http://schemas.microsoft.com/office/powerpoint/2010/main" val="795912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Application Security</a:t>
            </a:r>
            <a:endParaRPr lang="en-US" dirty="0"/>
          </a:p>
        </p:txBody>
      </p:sp>
      <p:sp>
        <p:nvSpPr>
          <p:cNvPr id="3" name="Content Placeholder 2"/>
          <p:cNvSpPr>
            <a:spLocks noGrp="1"/>
          </p:cNvSpPr>
          <p:nvPr>
            <p:ph idx="1"/>
          </p:nvPr>
        </p:nvSpPr>
        <p:spPr/>
        <p:txBody>
          <a:bodyPr/>
          <a:lstStyle/>
          <a:p>
            <a:r>
              <a:rPr lang="en-GB" dirty="0"/>
              <a:t>Application security refers to measures taken at the application level to protect sensitive data and code from theft or manipulation. </a:t>
            </a:r>
            <a:endParaRPr lang="en-GB" dirty="0" smtClean="0"/>
          </a:p>
          <a:p>
            <a:r>
              <a:rPr lang="en-GB" dirty="0" smtClean="0"/>
              <a:t>This </a:t>
            </a:r>
            <a:r>
              <a:rPr lang="en-GB" dirty="0"/>
              <a:t>includes security practices applied during the design, development, and deployment of applications, as well as ongoing techniques to secure applications against evolving threats.</a:t>
            </a:r>
            <a:endParaRPr lang="en-US" dirty="0"/>
          </a:p>
        </p:txBody>
      </p:sp>
    </p:spTree>
    <p:extLst>
      <p:ext uri="{BB962C8B-B14F-4D97-AF65-F5344CB8AC3E}">
        <p14:creationId xmlns:p14="http://schemas.microsoft.com/office/powerpoint/2010/main" val="36417343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Wireless Security</a:t>
            </a:r>
            <a:endParaRPr lang="en-US" dirty="0"/>
          </a:p>
        </p:txBody>
      </p:sp>
      <p:sp>
        <p:nvSpPr>
          <p:cNvPr id="3" name="Content Placeholder 2"/>
          <p:cNvSpPr>
            <a:spLocks noGrp="1"/>
          </p:cNvSpPr>
          <p:nvPr>
            <p:ph idx="1"/>
          </p:nvPr>
        </p:nvSpPr>
        <p:spPr/>
        <p:txBody>
          <a:bodyPr/>
          <a:lstStyle/>
          <a:p>
            <a:r>
              <a:rPr lang="en-GB" dirty="0"/>
              <a:t>Wireless networks are inherently less secure than wired ones. Without proper safeguards, a wireless LAN can act like open Ethernet ports accessible from anywhere including outside the building. </a:t>
            </a:r>
            <a:endParaRPr lang="en-GB" dirty="0" smtClean="0"/>
          </a:p>
          <a:p>
            <a:r>
              <a:rPr lang="en-GB" dirty="0" smtClean="0"/>
              <a:t>Wireless </a:t>
            </a:r>
            <a:r>
              <a:rPr lang="en-GB" dirty="0"/>
              <a:t>security solutions are specifically designed to prevent unauthorized access and protect against exploits targeting wireless communication.</a:t>
            </a:r>
            <a:endParaRPr lang="en-US" dirty="0"/>
          </a:p>
        </p:txBody>
      </p:sp>
    </p:spTree>
    <p:extLst>
      <p:ext uri="{BB962C8B-B14F-4D97-AF65-F5344CB8AC3E}">
        <p14:creationId xmlns:p14="http://schemas.microsoft.com/office/powerpoint/2010/main" val="21213583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Mobile Device Security</a:t>
            </a:r>
            <a:endParaRPr lang="en-US" dirty="0"/>
          </a:p>
        </p:txBody>
      </p:sp>
      <p:sp>
        <p:nvSpPr>
          <p:cNvPr id="3" name="Content Placeholder 2"/>
          <p:cNvSpPr>
            <a:spLocks noGrp="1"/>
          </p:cNvSpPr>
          <p:nvPr>
            <p:ph idx="1"/>
          </p:nvPr>
        </p:nvSpPr>
        <p:spPr/>
        <p:txBody>
          <a:bodyPr/>
          <a:lstStyle/>
          <a:p>
            <a:r>
              <a:rPr lang="en-GB" dirty="0"/>
              <a:t>With the rise of Bring Your Own Device (BYOD) practices, cybercriminals increasingly target mobile devices and applications. </a:t>
            </a:r>
            <a:endParaRPr lang="en-GB" dirty="0" smtClean="0"/>
          </a:p>
          <a:p>
            <a:r>
              <a:rPr lang="en-GB" dirty="0" smtClean="0"/>
              <a:t>To </a:t>
            </a:r>
            <a:r>
              <a:rPr lang="en-GB" dirty="0"/>
              <a:t>mitigate risks, organizations must regulate which devices can connect to the network, enforce secure connection protocols, and monitor mobile traffic to protect against unauthorized access.</a:t>
            </a:r>
            <a:endParaRPr lang="en-US" dirty="0"/>
          </a:p>
        </p:txBody>
      </p:sp>
    </p:spTree>
    <p:extLst>
      <p:ext uri="{BB962C8B-B14F-4D97-AF65-F5344CB8AC3E}">
        <p14:creationId xmlns:p14="http://schemas.microsoft.com/office/powerpoint/2010/main" val="31412957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Industrial Network Security</a:t>
            </a:r>
            <a:endParaRPr lang="en-US" dirty="0"/>
          </a:p>
        </p:txBody>
      </p:sp>
      <p:sp>
        <p:nvSpPr>
          <p:cNvPr id="3" name="Content Placeholder 2"/>
          <p:cNvSpPr>
            <a:spLocks noGrp="1"/>
          </p:cNvSpPr>
          <p:nvPr>
            <p:ph idx="1"/>
          </p:nvPr>
        </p:nvSpPr>
        <p:spPr/>
        <p:txBody>
          <a:bodyPr/>
          <a:lstStyle/>
          <a:p>
            <a:r>
              <a:rPr lang="en-GB" dirty="0"/>
              <a:t>As industries adopt digital transformation and integrate IT with Operational Technology (OT), Industrial Control Systems (ICS) face growing cyber threats</a:t>
            </a:r>
            <a:r>
              <a:rPr lang="en-GB" dirty="0" smtClean="0"/>
              <a:t>.</a:t>
            </a:r>
          </a:p>
          <a:p>
            <a:r>
              <a:rPr lang="en-GB" dirty="0" smtClean="0"/>
              <a:t> </a:t>
            </a:r>
            <a:r>
              <a:rPr lang="en-GB" dirty="0"/>
              <a:t>Industrial network security involves segmenting OT networks, maintaining visibility into device </a:t>
            </a:r>
            <a:r>
              <a:rPr lang="en-GB" dirty="0" err="1"/>
              <a:t>behavior</a:t>
            </a:r>
            <a:r>
              <a:rPr lang="en-GB" dirty="0"/>
              <a:t>, and integrating OT insights into IT security tools. </a:t>
            </a:r>
            <a:endParaRPr lang="en-GB" dirty="0" smtClean="0"/>
          </a:p>
          <a:p>
            <a:r>
              <a:rPr lang="en-GB" dirty="0" smtClean="0"/>
              <a:t>This </a:t>
            </a:r>
            <a:r>
              <a:rPr lang="en-GB" dirty="0"/>
              <a:t>helps monitor, detect, and mitigate threats to critical industrial infrastructure.</a:t>
            </a:r>
            <a:endParaRPr lang="en-US" dirty="0"/>
          </a:p>
        </p:txBody>
      </p:sp>
    </p:spTree>
    <p:extLst>
      <p:ext uri="{BB962C8B-B14F-4D97-AF65-F5344CB8AC3E}">
        <p14:creationId xmlns:p14="http://schemas.microsoft.com/office/powerpoint/2010/main" val="6430632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lstStyle/>
          <a:p>
            <a:r>
              <a:rPr lang="en-GB" dirty="0" smtClean="0"/>
              <a:t>VPN Security</a:t>
            </a:r>
            <a:endParaRPr lang="en-US" dirty="0"/>
          </a:p>
        </p:txBody>
      </p:sp>
      <p:sp>
        <p:nvSpPr>
          <p:cNvPr id="3" name="Content Placeholder 2"/>
          <p:cNvSpPr>
            <a:spLocks noGrp="1"/>
          </p:cNvSpPr>
          <p:nvPr>
            <p:ph idx="1"/>
          </p:nvPr>
        </p:nvSpPr>
        <p:spPr/>
        <p:txBody>
          <a:bodyPr/>
          <a:lstStyle/>
          <a:p>
            <a:r>
              <a:rPr lang="en-GB" dirty="0"/>
              <a:t>A Virtual Private Network (VPN) secures communication between devices and networks, often over the internet, by encrypting the connection</a:t>
            </a:r>
            <a:r>
              <a:rPr lang="en-GB" dirty="0" smtClean="0"/>
              <a:t>.</a:t>
            </a:r>
          </a:p>
          <a:p>
            <a:r>
              <a:rPr lang="en-GB" dirty="0" smtClean="0"/>
              <a:t> </a:t>
            </a:r>
            <a:r>
              <a:rPr lang="en-GB" dirty="0"/>
              <a:t>Remote-access VPNs typically use IPsec or Secure Sockets Layer (SSL) protocols to authenticate and protect data, ensuring confidentiality and privacy against unauthorized access.</a:t>
            </a:r>
            <a:endParaRPr lang="en-US" dirty="0"/>
          </a:p>
        </p:txBody>
      </p:sp>
    </p:spTree>
    <p:extLst>
      <p:ext uri="{BB962C8B-B14F-4D97-AF65-F5344CB8AC3E}">
        <p14:creationId xmlns:p14="http://schemas.microsoft.com/office/powerpoint/2010/main" val="4140148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GB" dirty="0" smtClean="0"/>
              <a:t>VPN-Virtual Private </a:t>
            </a:r>
            <a:r>
              <a:rPr lang="en-GB" dirty="0" err="1" smtClean="0"/>
              <a:t>Netwrok</a:t>
            </a:r>
            <a:endParaRPr lang="en-US" dirty="0"/>
          </a:p>
        </p:txBody>
      </p:sp>
      <p:sp>
        <p:nvSpPr>
          <p:cNvPr id="3" name="Content Placeholder 2"/>
          <p:cNvSpPr>
            <a:spLocks noGrp="1"/>
          </p:cNvSpPr>
          <p:nvPr>
            <p:ph idx="1"/>
          </p:nvPr>
        </p:nvSpPr>
        <p:spPr>
          <a:xfrm>
            <a:off x="838200" y="1267097"/>
            <a:ext cx="10515600" cy="4909866"/>
          </a:xfrm>
        </p:spPr>
        <p:txBody>
          <a:bodyPr/>
          <a:lstStyle/>
          <a:p>
            <a:r>
              <a:rPr lang="en-GB" dirty="0"/>
              <a:t>A Virtual Private Network (VPN) creates an encrypted, private connection over a public network like the internet, allowing you to browse the web more securely and anonymously. </a:t>
            </a:r>
            <a:endParaRPr lang="en-GB" dirty="0" smtClean="0"/>
          </a:p>
          <a:p>
            <a:r>
              <a:rPr lang="en-GB" dirty="0" smtClean="0"/>
              <a:t>It </a:t>
            </a:r>
            <a:r>
              <a:rPr lang="en-GB" dirty="0"/>
              <a:t>works by routing your internet traffic through a remote VPN server, masking your real IP address and encrypting your data, which protects it from being intercepted or tracked by third parties.  </a:t>
            </a:r>
            <a:endParaRPr lang="en-US" dirty="0"/>
          </a:p>
        </p:txBody>
      </p:sp>
    </p:spTree>
    <p:extLst>
      <p:ext uri="{BB962C8B-B14F-4D97-AF65-F5344CB8AC3E}">
        <p14:creationId xmlns:p14="http://schemas.microsoft.com/office/powerpoint/2010/main" val="18139357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US" dirty="0"/>
              <a:t>How a VPN works:</a:t>
            </a:r>
          </a:p>
        </p:txBody>
      </p:sp>
      <p:sp>
        <p:nvSpPr>
          <p:cNvPr id="3" name="Content Placeholder 2"/>
          <p:cNvSpPr>
            <a:spLocks noGrp="1"/>
          </p:cNvSpPr>
          <p:nvPr>
            <p:ph idx="1"/>
          </p:nvPr>
        </p:nvSpPr>
        <p:spPr>
          <a:xfrm>
            <a:off x="838200" y="1136470"/>
            <a:ext cx="10515600" cy="5040493"/>
          </a:xfrm>
        </p:spPr>
        <p:txBody>
          <a:bodyPr/>
          <a:lstStyle/>
          <a:p>
            <a:r>
              <a:rPr lang="en-GB" smtClean="0"/>
              <a:t>Encrypted Tunnel: When you activate a VPN, it establishes a secure, encrypted "tunnel" between your device and the VPN server. </a:t>
            </a:r>
          </a:p>
          <a:p>
            <a:r>
              <a:rPr lang="en-GB" smtClean="0"/>
              <a:t>IP Address Masking: Your internet traffic is directed through this tunnel to the VPN server, and then to its final destination on the internet. This makes it appear as if your data is coming from the VPN server's location, not your own, effectively masking your true IP address. </a:t>
            </a:r>
          </a:p>
          <a:p>
            <a:r>
              <a:rPr lang="en-GB" smtClean="0"/>
              <a:t>Data Encryption: All the data sent and received through this tunnel is encrypted, converting it into unreadable code that is useless to anyone who intercepts it without the correct decryption key. </a:t>
            </a:r>
            <a:endParaRPr lang="en-US" dirty="0"/>
          </a:p>
        </p:txBody>
      </p:sp>
    </p:spTree>
    <p:extLst>
      <p:ext uri="{BB962C8B-B14F-4D97-AF65-F5344CB8AC3E}">
        <p14:creationId xmlns:p14="http://schemas.microsoft.com/office/powerpoint/2010/main" val="20305949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r>
              <a:rPr lang="en-US" dirty="0"/>
              <a:t>Why use a VPN?</a:t>
            </a:r>
          </a:p>
        </p:txBody>
      </p:sp>
      <p:sp>
        <p:nvSpPr>
          <p:cNvPr id="3" name="Content Placeholder 2"/>
          <p:cNvSpPr>
            <a:spLocks noGrp="1"/>
          </p:cNvSpPr>
          <p:nvPr>
            <p:ph idx="1"/>
          </p:nvPr>
        </p:nvSpPr>
        <p:spPr>
          <a:xfrm>
            <a:off x="838200" y="1018904"/>
            <a:ext cx="10515600" cy="5669279"/>
          </a:xfrm>
        </p:spPr>
        <p:txBody>
          <a:bodyPr>
            <a:normAutofit lnSpcReduction="10000"/>
          </a:bodyPr>
          <a:lstStyle/>
          <a:p>
            <a:r>
              <a:rPr lang="en-GB" dirty="0" smtClean="0"/>
              <a:t>Enhanced Security: VPNs encrypt your data, making it much harder for hackers and snoopers to steal sensitive information like passwords and credit card details, especially on public Wi-Fi networks. </a:t>
            </a:r>
          </a:p>
          <a:p>
            <a:r>
              <a:rPr lang="en-GB" dirty="0" smtClean="0"/>
              <a:t>Privacy and Anonymity: By hiding your IP address and encrypting your traffic, a VPN prevents your Internet Service Provider (ISP) and other third parties from seeing your browsing activity, identity, and online location. </a:t>
            </a:r>
          </a:p>
          <a:p>
            <a:r>
              <a:rPr lang="en-GB" dirty="0" smtClean="0"/>
              <a:t>Circumventing Geo-Restrictions and Censorship: VPNs allow you to bypass internet blocks and access content that might be restricted in your physical location by making it appear you are browsing from a different country. </a:t>
            </a:r>
          </a:p>
          <a:p>
            <a:r>
              <a:rPr lang="en-GB" dirty="0" smtClean="0"/>
              <a:t>Remote Work: Businesses use VPNs to provide employees with secure access to internal company networks and resources from remote locations, protecting sensitive corporate data. </a:t>
            </a:r>
            <a:endParaRPr lang="en-US" dirty="0"/>
          </a:p>
        </p:txBody>
      </p:sp>
    </p:spTree>
    <p:extLst>
      <p:ext uri="{BB962C8B-B14F-4D97-AF65-F5344CB8AC3E}">
        <p14:creationId xmlns:p14="http://schemas.microsoft.com/office/powerpoint/2010/main" val="222020563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GB" dirty="0" smtClean="0"/>
              <a:t>Types of Attacks</a:t>
            </a:r>
            <a:endParaRPr lang="en-US" dirty="0"/>
          </a:p>
        </p:txBody>
      </p:sp>
      <p:sp>
        <p:nvSpPr>
          <p:cNvPr id="3" name="Content Placeholder 2"/>
          <p:cNvSpPr>
            <a:spLocks noGrp="1"/>
          </p:cNvSpPr>
          <p:nvPr>
            <p:ph idx="1"/>
          </p:nvPr>
        </p:nvSpPr>
        <p:spPr>
          <a:xfrm>
            <a:off x="838200" y="1031966"/>
            <a:ext cx="10515600" cy="5144997"/>
          </a:xfrm>
        </p:spPr>
        <p:txBody>
          <a:bodyPr/>
          <a:lstStyle/>
          <a:p>
            <a:r>
              <a:rPr lang="en-US" dirty="0"/>
              <a:t>Network attacks involve unauthorized access, disruption, and malicious data manipulation, with common types including Malware (viruses, ransomware), Phishing (deceptive emails), Denial-of-Service (</a:t>
            </a:r>
            <a:r>
              <a:rPr lang="en-US" dirty="0" err="1"/>
              <a:t>DoS</a:t>
            </a:r>
            <a:r>
              <a:rPr lang="en-US" dirty="0"/>
              <a:t>) and </a:t>
            </a:r>
            <a:r>
              <a:rPr lang="en-US" dirty="0" err="1"/>
              <a:t>DDoS</a:t>
            </a:r>
            <a:r>
              <a:rPr lang="en-US" dirty="0"/>
              <a:t> attacks (overwhelming systems), Man-in-the-Middle (</a:t>
            </a:r>
            <a:r>
              <a:rPr lang="en-US" dirty="0" err="1"/>
              <a:t>MitM</a:t>
            </a:r>
            <a:r>
              <a:rPr lang="en-US" dirty="0"/>
              <a:t>) attacks (intercepting communications), Social Engineering (manipulating people), and Code Injection attacks (exploiting vulnerabilities, like SQL injection). </a:t>
            </a:r>
          </a:p>
        </p:txBody>
      </p:sp>
    </p:spTree>
    <p:extLst>
      <p:ext uri="{BB962C8B-B14F-4D97-AF65-F5344CB8AC3E}">
        <p14:creationId xmlns:p14="http://schemas.microsoft.com/office/powerpoint/2010/main" val="102496739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27464"/>
            <a:ext cx="10515600" cy="5930536"/>
          </a:xfrm>
        </p:spPr>
        <p:txBody>
          <a:bodyPr>
            <a:normAutofit/>
          </a:bodyPr>
          <a:lstStyle/>
          <a:p>
            <a:r>
              <a:rPr lang="en-GB" b="1" dirty="0"/>
              <a:t>Malware Attacks</a:t>
            </a:r>
            <a:r>
              <a:rPr lang="en-GB" dirty="0"/>
              <a:t>: </a:t>
            </a:r>
          </a:p>
          <a:p>
            <a:r>
              <a:rPr lang="en-GB" dirty="0"/>
              <a:t>Malicious software such as viruses, worms, ransomware, and spyware are used to gain unauthorized access, damage systems, or steal data. </a:t>
            </a:r>
          </a:p>
          <a:p>
            <a:r>
              <a:rPr lang="en-GB" b="1" dirty="0"/>
              <a:t>Virus</a:t>
            </a:r>
            <a:r>
              <a:rPr lang="en-GB" dirty="0"/>
              <a:t> - </a:t>
            </a:r>
            <a:endParaRPr lang="en-GB" dirty="0" smtClean="0"/>
          </a:p>
          <a:p>
            <a:pPr lvl="1"/>
            <a:r>
              <a:rPr lang="en-GB" dirty="0" smtClean="0"/>
              <a:t>A </a:t>
            </a:r>
            <a:r>
              <a:rPr lang="en-GB" dirty="0"/>
              <a:t>malware which requires some form of user's interaction to infect the user's device. </a:t>
            </a:r>
            <a:endParaRPr lang="en-GB" dirty="0" smtClean="0"/>
          </a:p>
          <a:p>
            <a:pPr lvl="1"/>
            <a:r>
              <a:rPr lang="en-GB" dirty="0" smtClean="0"/>
              <a:t>The </a:t>
            </a:r>
            <a:r>
              <a:rPr lang="en-GB" dirty="0"/>
              <a:t>classic example is an e-mail attachment containing malicious executable code. </a:t>
            </a:r>
            <a:endParaRPr lang="en-GB" dirty="0" smtClean="0"/>
          </a:p>
          <a:p>
            <a:pPr lvl="1"/>
            <a:r>
              <a:rPr lang="en-GB" dirty="0" smtClean="0"/>
              <a:t>If </a:t>
            </a:r>
            <a:r>
              <a:rPr lang="en-GB" dirty="0"/>
              <a:t>a user receives and opens such an attachment, the user inadvertently runs the malware on the device. </a:t>
            </a:r>
            <a:endParaRPr lang="en-GB" dirty="0" smtClean="0"/>
          </a:p>
        </p:txBody>
      </p:sp>
    </p:spTree>
    <p:extLst>
      <p:ext uri="{BB962C8B-B14F-4D97-AF65-F5344CB8AC3E}">
        <p14:creationId xmlns:p14="http://schemas.microsoft.com/office/powerpoint/2010/main" val="17808363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58091"/>
            <a:ext cx="10515600" cy="5118872"/>
          </a:xfrm>
        </p:spPr>
        <p:txBody>
          <a:bodyPr/>
          <a:lstStyle/>
          <a:p>
            <a:r>
              <a:rPr lang="en-GB" b="1" dirty="0" smtClean="0"/>
              <a:t>Worm</a:t>
            </a:r>
            <a:r>
              <a:rPr lang="en-GB" dirty="0" smtClean="0"/>
              <a:t> -</a:t>
            </a:r>
          </a:p>
          <a:p>
            <a:pPr lvl="1"/>
            <a:r>
              <a:rPr lang="en-GB" dirty="0" smtClean="0"/>
              <a:t> A malware which can enter a device without any explicit user interaction.</a:t>
            </a:r>
          </a:p>
          <a:p>
            <a:pPr lvl="1"/>
            <a:r>
              <a:rPr lang="en-GB" dirty="0" smtClean="0"/>
              <a:t> For example, a user may be running a vulnerable network application to which an attacker can send malware.</a:t>
            </a:r>
          </a:p>
          <a:p>
            <a:pPr lvl="1"/>
            <a:r>
              <a:rPr lang="en-GB" dirty="0" smtClean="0"/>
              <a:t> In some cases, without any user intervention, the application may accept the malware from the Internet and run it, creating a worm. </a:t>
            </a:r>
            <a:endParaRPr lang="en-US" dirty="0" smtClean="0"/>
          </a:p>
          <a:p>
            <a:r>
              <a:rPr lang="en-GB" b="1" dirty="0"/>
              <a:t>Botnet</a:t>
            </a:r>
            <a:r>
              <a:rPr lang="en-GB" dirty="0"/>
              <a:t> </a:t>
            </a:r>
            <a:r>
              <a:rPr lang="en-GB" dirty="0" smtClean="0"/>
              <a:t>-</a:t>
            </a:r>
          </a:p>
          <a:p>
            <a:pPr lvl="1"/>
            <a:endParaRPr lang="en-GB" dirty="0"/>
          </a:p>
          <a:p>
            <a:pPr lvl="1"/>
            <a:r>
              <a:rPr lang="en-GB" dirty="0" smtClean="0"/>
              <a:t> </a:t>
            </a:r>
            <a:r>
              <a:rPr lang="en-GB" dirty="0"/>
              <a:t>A network of private computers infected with malicious software and controlled as a group without the owners' knowledge, e.g. to send spam. </a:t>
            </a:r>
            <a:r>
              <a:rPr lang="en-GB" dirty="0" smtClean="0"/>
              <a:t/>
            </a:r>
            <a:br>
              <a:rPr lang="en-GB" dirty="0" smtClean="0"/>
            </a:br>
            <a:endParaRPr lang="en-US" dirty="0"/>
          </a:p>
        </p:txBody>
      </p:sp>
    </p:spTree>
    <p:extLst>
      <p:ext uri="{BB962C8B-B14F-4D97-AF65-F5344CB8AC3E}">
        <p14:creationId xmlns:p14="http://schemas.microsoft.com/office/powerpoint/2010/main" val="310141639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92778"/>
            <a:ext cx="10515600" cy="5184185"/>
          </a:xfrm>
        </p:spPr>
        <p:txBody>
          <a:bodyPr/>
          <a:lstStyle/>
          <a:p>
            <a:r>
              <a:rPr lang="en-GB" dirty="0" smtClean="0"/>
              <a:t>Phishing Attacks: Attackers send deceptive emails or messages to trick users into revealing sensitive information, like passwords or financial data. </a:t>
            </a:r>
          </a:p>
          <a:p>
            <a:r>
              <a:rPr lang="en-GB" dirty="0" smtClean="0"/>
              <a:t>Denial-of-Service (</a:t>
            </a:r>
            <a:r>
              <a:rPr lang="en-GB" dirty="0" err="1" smtClean="0"/>
              <a:t>DoS</a:t>
            </a:r>
            <a:r>
              <a:rPr lang="en-GB" dirty="0" smtClean="0"/>
              <a:t>) and Distributed Denial-of-Service (</a:t>
            </a:r>
            <a:r>
              <a:rPr lang="en-GB" dirty="0" err="1" smtClean="0"/>
              <a:t>DDoS</a:t>
            </a:r>
            <a:r>
              <a:rPr lang="en-GB" dirty="0" smtClean="0"/>
              <a:t>) Attacks: </a:t>
            </a:r>
            <a:r>
              <a:rPr lang="en-GB" dirty="0" err="1" smtClean="0"/>
              <a:t>DoS</a:t>
            </a:r>
            <a:r>
              <a:rPr lang="en-GB" dirty="0" smtClean="0"/>
              <a:t> attacks overwhelm a network, server, or website with traffic, making it unavailable to its intended users. A </a:t>
            </a:r>
            <a:r>
              <a:rPr lang="en-GB" dirty="0" err="1" smtClean="0"/>
              <a:t>DDoS</a:t>
            </a:r>
            <a:r>
              <a:rPr lang="en-GB" dirty="0" smtClean="0"/>
              <a:t> attack uses multiple compromised systems to amplify this effect. </a:t>
            </a:r>
          </a:p>
          <a:p>
            <a:r>
              <a:rPr lang="en-GB" dirty="0" smtClean="0"/>
              <a:t>Man-in-the-Middle (</a:t>
            </a:r>
            <a:r>
              <a:rPr lang="en-GB" dirty="0" err="1" smtClean="0"/>
              <a:t>MitM</a:t>
            </a:r>
            <a:r>
              <a:rPr lang="en-GB" dirty="0" smtClean="0"/>
              <a:t>) Attacks: Attackers position themselves between two communicating parties to intercept, view, or alter their communications. </a:t>
            </a:r>
            <a:endParaRPr lang="en-US" dirty="0"/>
          </a:p>
        </p:txBody>
      </p:sp>
    </p:spTree>
    <p:extLst>
      <p:ext uri="{BB962C8B-B14F-4D97-AF65-F5344CB8AC3E}">
        <p14:creationId xmlns:p14="http://schemas.microsoft.com/office/powerpoint/2010/main" val="41860299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r>
              <a:rPr lang="en-GB" dirty="0" smtClean="0"/>
              <a:t>Cont..</a:t>
            </a:r>
            <a:endParaRPr lang="en-US" dirty="0"/>
          </a:p>
        </p:txBody>
      </p:sp>
      <p:sp>
        <p:nvSpPr>
          <p:cNvPr id="3" name="Content Placeholder 2"/>
          <p:cNvSpPr>
            <a:spLocks noGrp="1"/>
          </p:cNvSpPr>
          <p:nvPr>
            <p:ph idx="1"/>
          </p:nvPr>
        </p:nvSpPr>
        <p:spPr>
          <a:xfrm>
            <a:off x="838200" y="1175658"/>
            <a:ext cx="10515600" cy="5001305"/>
          </a:xfrm>
        </p:spPr>
        <p:txBody>
          <a:bodyPr/>
          <a:lstStyle/>
          <a:p>
            <a:r>
              <a:rPr lang="en-GB" dirty="0" smtClean="0"/>
              <a:t>Social Engineering Attacks: These attacks manipulate people into divulging information or performing actions that compromise security, often by exploiting human psychology. </a:t>
            </a:r>
          </a:p>
          <a:p>
            <a:r>
              <a:rPr lang="en-GB" dirty="0" smtClean="0"/>
              <a:t>Unauthorized Access Attacks: These attacks aim to gain entry into network systems or accounts without permission, using methods like brute-force attacks or credential stuffing. </a:t>
            </a:r>
          </a:p>
          <a:p>
            <a:r>
              <a:rPr lang="en-GB" dirty="0" smtClean="0"/>
              <a:t>Code Injection Attacks: Also known as SQL injection attacks, these are used to exploit vulnerabilities in web applications, allowing attackers to execute malicious code or gain control of databases. </a:t>
            </a:r>
            <a:endParaRPr lang="en-US" dirty="0"/>
          </a:p>
        </p:txBody>
      </p:sp>
    </p:spTree>
    <p:extLst>
      <p:ext uri="{BB962C8B-B14F-4D97-AF65-F5344CB8AC3E}">
        <p14:creationId xmlns:p14="http://schemas.microsoft.com/office/powerpoint/2010/main" val="620876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lstStyle/>
          <a:p>
            <a:r>
              <a:rPr lang="en-GB" dirty="0" smtClean="0"/>
              <a:t>Cont..</a:t>
            </a:r>
            <a:endParaRPr lang="en-US" dirty="0"/>
          </a:p>
        </p:txBody>
      </p:sp>
      <p:sp>
        <p:nvSpPr>
          <p:cNvPr id="3" name="Content Placeholder 2"/>
          <p:cNvSpPr>
            <a:spLocks noGrp="1"/>
          </p:cNvSpPr>
          <p:nvPr>
            <p:ph idx="1"/>
          </p:nvPr>
        </p:nvSpPr>
        <p:spPr>
          <a:xfrm>
            <a:off x="838200" y="1110344"/>
            <a:ext cx="10515600" cy="5066619"/>
          </a:xfrm>
        </p:spPr>
        <p:txBody>
          <a:bodyPr/>
          <a:lstStyle/>
          <a:p>
            <a:r>
              <a:rPr lang="en-GB" dirty="0" smtClean="0"/>
              <a:t>Ransomware Attacks: A type of malware that encrypts a victim's files, demanding a ransom payment for their decryption. </a:t>
            </a:r>
          </a:p>
          <a:p>
            <a:r>
              <a:rPr lang="en-GB" dirty="0" smtClean="0"/>
              <a:t>Insider Threats: Malicious actions taken by a legitimate user within an organization, or an unintentional security lapse by an authorized individual. </a:t>
            </a:r>
          </a:p>
          <a:p>
            <a:r>
              <a:rPr lang="en-GB" dirty="0" smtClean="0"/>
              <a:t>Supply Chain Attacks: Attackers compromise a trusted third-party software vendor or service provider to gain access to the networks of their clients, according to Meter. </a:t>
            </a:r>
            <a:endParaRPr lang="en-US" dirty="0"/>
          </a:p>
        </p:txBody>
      </p:sp>
    </p:spTree>
    <p:extLst>
      <p:ext uri="{BB962C8B-B14F-4D97-AF65-F5344CB8AC3E}">
        <p14:creationId xmlns:p14="http://schemas.microsoft.com/office/powerpoint/2010/main" val="20567143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526"/>
          </a:xfrm>
        </p:spPr>
        <p:txBody>
          <a:bodyPr>
            <a:normAutofit fontScale="90000"/>
          </a:bodyPr>
          <a:lstStyle/>
          <a:p>
            <a:r>
              <a:rPr lang="en-GB" dirty="0" smtClean="0"/>
              <a:t>ITU-T X.800 Security Architecture for OSI</a:t>
            </a:r>
            <a:endParaRPr lang="en-US" dirty="0"/>
          </a:p>
        </p:txBody>
      </p:sp>
      <p:sp>
        <p:nvSpPr>
          <p:cNvPr id="3" name="Content Placeholder 2"/>
          <p:cNvSpPr>
            <a:spLocks noGrp="1"/>
          </p:cNvSpPr>
          <p:nvPr>
            <p:ph idx="1"/>
          </p:nvPr>
        </p:nvSpPr>
        <p:spPr>
          <a:xfrm>
            <a:off x="838200" y="966652"/>
            <a:ext cx="10515600" cy="5773782"/>
          </a:xfrm>
        </p:spPr>
        <p:txBody>
          <a:bodyPr>
            <a:normAutofit/>
          </a:bodyPr>
          <a:lstStyle/>
          <a:p>
            <a:r>
              <a:rPr lang="en-GB" dirty="0"/>
              <a:t>Security Architecture defines a  systematic approach to providing security at each layer</a:t>
            </a:r>
            <a:r>
              <a:rPr lang="en-GB" dirty="0" smtClean="0"/>
              <a:t>.</a:t>
            </a:r>
          </a:p>
          <a:p>
            <a:r>
              <a:rPr lang="en-GB" dirty="0" smtClean="0"/>
              <a:t> </a:t>
            </a:r>
            <a:r>
              <a:rPr lang="en-GB" dirty="0"/>
              <a:t>It defines security services and security mechanisms that can be used at each of the seven layers of the OSI model to provide security for data transmitted over a network. </a:t>
            </a:r>
            <a:endParaRPr lang="en-GB" dirty="0" smtClean="0"/>
          </a:p>
          <a:p>
            <a:r>
              <a:rPr lang="en-GB" dirty="0" smtClean="0"/>
              <a:t>These </a:t>
            </a:r>
            <a:r>
              <a:rPr lang="en-GB" dirty="0"/>
              <a:t>security services and mechanisms help to ensure the confidentiality, integrity, and availability of the data.  </a:t>
            </a:r>
            <a:endParaRPr lang="en-GB" dirty="0" smtClean="0"/>
          </a:p>
          <a:p>
            <a:r>
              <a:rPr lang="en-GB" dirty="0" smtClean="0"/>
              <a:t>OSI </a:t>
            </a:r>
            <a:r>
              <a:rPr lang="en-GB" dirty="0"/>
              <a:t>architecture is internationally acceptable as it lays the flow of providing safety in an organization</a:t>
            </a:r>
            <a:r>
              <a:rPr lang="en-GB" dirty="0" smtClean="0"/>
              <a:t>.</a:t>
            </a:r>
          </a:p>
          <a:p>
            <a:r>
              <a:rPr lang="en-GB" dirty="0" smtClean="0"/>
              <a:t> </a:t>
            </a:r>
            <a:r>
              <a:rPr lang="en-GB" dirty="0"/>
              <a:t>OSI Security Architecture focuses on these concepts</a:t>
            </a:r>
            <a:r>
              <a:rPr lang="en-GB" dirty="0" smtClean="0"/>
              <a:t>:</a:t>
            </a:r>
          </a:p>
          <a:p>
            <a:pPr lvl="1" fontAlgn="base"/>
            <a:r>
              <a:rPr lang="en-GB" dirty="0"/>
              <a:t>Security Attack</a:t>
            </a:r>
          </a:p>
          <a:p>
            <a:pPr lvl="1" fontAlgn="base"/>
            <a:r>
              <a:rPr lang="en-GB" dirty="0"/>
              <a:t>Security mechanism</a:t>
            </a:r>
          </a:p>
          <a:p>
            <a:pPr lvl="1" fontAlgn="base"/>
            <a:r>
              <a:rPr lang="en-GB" dirty="0"/>
              <a:t>Security Service</a:t>
            </a:r>
          </a:p>
          <a:p>
            <a:endParaRPr lang="en-US" dirty="0"/>
          </a:p>
        </p:txBody>
      </p:sp>
    </p:spTree>
    <p:extLst>
      <p:ext uri="{BB962C8B-B14F-4D97-AF65-F5344CB8AC3E}">
        <p14:creationId xmlns:p14="http://schemas.microsoft.com/office/powerpoint/2010/main" val="412138264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01337" y="470263"/>
            <a:ext cx="10750732" cy="6270171"/>
          </a:xfrm>
          <a:prstGeom prst="rect">
            <a:avLst/>
          </a:prstGeom>
        </p:spPr>
      </p:pic>
    </p:spTree>
    <p:extLst>
      <p:ext uri="{BB962C8B-B14F-4D97-AF65-F5344CB8AC3E}">
        <p14:creationId xmlns:p14="http://schemas.microsoft.com/office/powerpoint/2010/main" val="13896002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27464"/>
            <a:ext cx="10515600" cy="5249499"/>
          </a:xfrm>
        </p:spPr>
        <p:txBody>
          <a:bodyPr/>
          <a:lstStyle/>
          <a:p>
            <a:r>
              <a:rPr lang="en-US" b="1" dirty="0"/>
              <a:t>1. Security Attacks</a:t>
            </a:r>
          </a:p>
          <a:p>
            <a:r>
              <a:rPr lang="en-GB" dirty="0"/>
              <a:t>A security attack is an attempt by a person or entity to gain unauthorized access to disrupt or compromise the security of a system, network, or device. </a:t>
            </a:r>
            <a:endParaRPr lang="en-GB" dirty="0" smtClean="0"/>
          </a:p>
          <a:p>
            <a:r>
              <a:rPr lang="en-GB" dirty="0" smtClean="0"/>
              <a:t>These </a:t>
            </a:r>
            <a:r>
              <a:rPr lang="en-GB" dirty="0"/>
              <a:t>are defined as the actions that put at risk an organization's safety. </a:t>
            </a:r>
            <a:endParaRPr lang="en-GB" dirty="0" smtClean="0"/>
          </a:p>
          <a:p>
            <a:r>
              <a:rPr lang="en-GB" dirty="0" smtClean="0"/>
              <a:t>They </a:t>
            </a:r>
            <a:r>
              <a:rPr lang="en-GB" dirty="0"/>
              <a:t>are further classified into 2 sub-categories</a:t>
            </a:r>
            <a:r>
              <a:rPr lang="en-GB" dirty="0" smtClean="0"/>
              <a:t>:</a:t>
            </a:r>
          </a:p>
          <a:p>
            <a:pPr lvl="1"/>
            <a:r>
              <a:rPr lang="en-GB" dirty="0" smtClean="0"/>
              <a:t>Passive Attacks</a:t>
            </a:r>
          </a:p>
          <a:p>
            <a:pPr lvl="1"/>
            <a:r>
              <a:rPr lang="en-GB" dirty="0" smtClean="0"/>
              <a:t>Active Attacks</a:t>
            </a:r>
            <a:endParaRPr lang="en-US" dirty="0"/>
          </a:p>
        </p:txBody>
      </p:sp>
    </p:spTree>
    <p:extLst>
      <p:ext uri="{BB962C8B-B14F-4D97-AF65-F5344CB8AC3E}">
        <p14:creationId xmlns:p14="http://schemas.microsoft.com/office/powerpoint/2010/main" val="1235656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53143"/>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653142"/>
            <a:ext cx="10515600" cy="6204857"/>
          </a:xfrm>
        </p:spPr>
        <p:txBody>
          <a:bodyPr>
            <a:normAutofit fontScale="92500" lnSpcReduction="10000"/>
          </a:bodyPr>
          <a:lstStyle/>
          <a:p>
            <a:r>
              <a:rPr lang="en-GB" b="1" dirty="0"/>
              <a:t>Passive Attack:</a:t>
            </a:r>
            <a:r>
              <a:rPr lang="en-GB" dirty="0"/>
              <a:t> </a:t>
            </a:r>
            <a:endParaRPr lang="en-GB" dirty="0" smtClean="0"/>
          </a:p>
          <a:p>
            <a:r>
              <a:rPr lang="en-GB" dirty="0" smtClean="0"/>
              <a:t>Attacks </a:t>
            </a:r>
            <a:r>
              <a:rPr lang="en-GB" dirty="0"/>
              <a:t>in which a third-party intruder tries to access the message/ content/ data being shared by the sender and receiver by keeping a close watch on the transmission or eave-dropping the transmission is called </a:t>
            </a:r>
            <a:r>
              <a:rPr lang="en-GB" u="sng" dirty="0">
                <a:hlinkClick r:id="rId2"/>
              </a:rPr>
              <a:t>Passive Attacks</a:t>
            </a:r>
            <a:r>
              <a:rPr lang="en-GB" dirty="0" smtClean="0"/>
              <a:t>.</a:t>
            </a:r>
          </a:p>
          <a:p>
            <a:r>
              <a:rPr lang="en-GB" dirty="0" smtClean="0"/>
              <a:t> </a:t>
            </a:r>
            <a:r>
              <a:rPr lang="en-GB" dirty="0"/>
              <a:t>These types of attacks involve the attacker observing or monitoring system, network, or device activity without actively disrupting or altering it. </a:t>
            </a:r>
            <a:endParaRPr lang="en-GB" dirty="0" smtClean="0"/>
          </a:p>
          <a:p>
            <a:r>
              <a:rPr lang="en-GB" dirty="0" smtClean="0"/>
              <a:t>Passive </a:t>
            </a:r>
            <a:r>
              <a:rPr lang="en-GB" dirty="0"/>
              <a:t>attacks are typically focused on gathering information or intelligence, rather than causing damage or disruption. </a:t>
            </a:r>
            <a:endParaRPr lang="en-GB" dirty="0" smtClean="0"/>
          </a:p>
          <a:p>
            <a:r>
              <a:rPr lang="en-GB" dirty="0" smtClean="0"/>
              <a:t>Here</a:t>
            </a:r>
            <a:r>
              <a:rPr lang="en-GB" dirty="0"/>
              <a:t>, both the sender and receiver have no clue that their message/ data is accessible to some third-party intruder. </a:t>
            </a:r>
            <a:endParaRPr lang="en-GB" dirty="0" smtClean="0"/>
          </a:p>
          <a:p>
            <a:r>
              <a:rPr lang="en-GB" dirty="0" smtClean="0"/>
              <a:t>The </a:t>
            </a:r>
            <a:r>
              <a:rPr lang="en-GB" dirty="0"/>
              <a:t>message/ data transmitted remains in its usual form without any deviation from its usual </a:t>
            </a:r>
            <a:r>
              <a:rPr lang="en-GB" dirty="0" err="1"/>
              <a:t>behavior</a:t>
            </a:r>
            <a:r>
              <a:rPr lang="en-GB" dirty="0"/>
              <a:t>. </a:t>
            </a:r>
            <a:endParaRPr lang="en-GB" dirty="0" smtClean="0"/>
          </a:p>
          <a:p>
            <a:r>
              <a:rPr lang="en-GB" dirty="0" smtClean="0"/>
              <a:t>This </a:t>
            </a:r>
            <a:r>
              <a:rPr lang="en-GB" dirty="0"/>
              <a:t>makes passive attacks very risky as there is no information provided about the attack happening in the communication process.</a:t>
            </a:r>
            <a:endParaRPr lang="en-US" dirty="0"/>
          </a:p>
        </p:txBody>
      </p:sp>
    </p:spTree>
    <p:extLst>
      <p:ext uri="{BB962C8B-B14F-4D97-AF65-F5344CB8AC3E}">
        <p14:creationId xmlns:p14="http://schemas.microsoft.com/office/powerpoint/2010/main" val="41412480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31966"/>
            <a:ext cx="10515600" cy="5682343"/>
          </a:xfrm>
        </p:spPr>
        <p:txBody>
          <a:bodyPr>
            <a:normAutofit/>
          </a:bodyPr>
          <a:lstStyle/>
          <a:p>
            <a:pPr fontAlgn="base"/>
            <a:r>
              <a:rPr lang="en-GB" dirty="0"/>
              <a:t> Passive attacks are further divided into two parts based on their </a:t>
            </a:r>
            <a:r>
              <a:rPr lang="en-GB" dirty="0" err="1"/>
              <a:t>behavior</a:t>
            </a:r>
            <a:r>
              <a:rPr lang="en-GB" dirty="0" smtClean="0"/>
              <a:t>:</a:t>
            </a:r>
          </a:p>
          <a:p>
            <a:pPr fontAlgn="base"/>
            <a:r>
              <a:rPr lang="en-GB" b="1" dirty="0" smtClean="0"/>
              <a:t>Eavesdropping</a:t>
            </a:r>
            <a:r>
              <a:rPr lang="en-GB" b="1" dirty="0"/>
              <a:t>:</a:t>
            </a:r>
            <a:r>
              <a:rPr lang="en-GB" dirty="0"/>
              <a:t> </a:t>
            </a:r>
            <a:r>
              <a:rPr lang="en-GB" u="sng" dirty="0">
                <a:hlinkClick r:id="rId2"/>
              </a:rPr>
              <a:t>Eavesdropping</a:t>
            </a:r>
            <a:r>
              <a:rPr lang="en-GB" dirty="0"/>
              <a:t> involves the attacker intercepting and listening to communications between two or more parties without their knowledge or consent. Eavesdropping can be performed using a variety of techniques, such as </a:t>
            </a:r>
            <a:r>
              <a:rPr lang="en-GB" u="sng" dirty="0">
                <a:hlinkClick r:id="rId3"/>
              </a:rPr>
              <a:t>packet sniffing</a:t>
            </a:r>
            <a:r>
              <a:rPr lang="en-GB" dirty="0"/>
              <a:t>, or man-in-the-middle attacks.</a:t>
            </a:r>
          </a:p>
          <a:p>
            <a:pPr fontAlgn="base"/>
            <a:r>
              <a:rPr lang="en-GB" b="1" dirty="0"/>
              <a:t>Traffic analysis:</a:t>
            </a:r>
            <a:r>
              <a:rPr lang="en-GB" dirty="0"/>
              <a:t> This involves the attacker </a:t>
            </a:r>
            <a:r>
              <a:rPr lang="en-GB" dirty="0" err="1"/>
              <a:t>analyzing</a:t>
            </a:r>
            <a:r>
              <a:rPr lang="en-GB" dirty="0"/>
              <a:t> network traffic patterns and metadata to gather information about the system, network, or device. Here the intruder can't read the message but only understand the pattern and length of encryption. Traffic analysis can be performed using a variety of techniques, such as network flow analysis, or protocol analysis.</a:t>
            </a:r>
          </a:p>
          <a:p>
            <a:endParaRPr lang="en-US" dirty="0"/>
          </a:p>
        </p:txBody>
      </p:sp>
    </p:spTree>
    <p:extLst>
      <p:ext uri="{BB962C8B-B14F-4D97-AF65-F5344CB8AC3E}">
        <p14:creationId xmlns:p14="http://schemas.microsoft.com/office/powerpoint/2010/main" val="3551965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110342"/>
            <a:ext cx="10515600" cy="5747657"/>
          </a:xfrm>
        </p:spPr>
        <p:txBody>
          <a:bodyPr>
            <a:normAutofit/>
          </a:bodyPr>
          <a:lstStyle/>
          <a:p>
            <a:r>
              <a:rPr lang="en-GB" b="1" dirty="0"/>
              <a:t>Active Attacks: </a:t>
            </a:r>
            <a:endParaRPr lang="en-GB" b="1" dirty="0" smtClean="0"/>
          </a:p>
          <a:p>
            <a:r>
              <a:rPr lang="en-GB" dirty="0" smtClean="0"/>
              <a:t>Active </a:t>
            </a:r>
            <a:r>
              <a:rPr lang="en-GB" dirty="0"/>
              <a:t>attacks refer to types of attacks that involve the attacker actively disrupting or altering system, network or device activity. </a:t>
            </a:r>
            <a:endParaRPr lang="en-GB" dirty="0" smtClean="0"/>
          </a:p>
          <a:p>
            <a:r>
              <a:rPr lang="en-GB" dirty="0" smtClean="0"/>
              <a:t>Active </a:t>
            </a:r>
            <a:r>
              <a:rPr lang="en-GB" dirty="0"/>
              <a:t>attacks are typically focused on causing damage or disruption rather than gathering information or intelligence. </a:t>
            </a:r>
            <a:endParaRPr lang="en-GB" dirty="0" smtClean="0"/>
          </a:p>
          <a:p>
            <a:r>
              <a:rPr lang="en-GB" dirty="0" smtClean="0"/>
              <a:t>Here</a:t>
            </a:r>
            <a:r>
              <a:rPr lang="en-GB" dirty="0"/>
              <a:t>, both the sender and receiver have no clue that their message/ data is modified by some third-party intruder. </a:t>
            </a:r>
            <a:endParaRPr lang="en-GB" dirty="0" smtClean="0"/>
          </a:p>
          <a:p>
            <a:r>
              <a:rPr lang="en-GB" dirty="0" smtClean="0"/>
              <a:t>The </a:t>
            </a:r>
            <a:r>
              <a:rPr lang="en-GB" dirty="0"/>
              <a:t>message/ data transmitted doesn't remain in its usual form and shows deviation from its usual </a:t>
            </a:r>
            <a:r>
              <a:rPr lang="en-GB" dirty="0" err="1"/>
              <a:t>behavior</a:t>
            </a:r>
            <a:r>
              <a:rPr lang="en-GB" dirty="0"/>
              <a:t>. </a:t>
            </a:r>
            <a:endParaRPr lang="en-GB" dirty="0" smtClean="0"/>
          </a:p>
          <a:p>
            <a:r>
              <a:rPr lang="en-GB" dirty="0" smtClean="0"/>
              <a:t>This </a:t>
            </a:r>
            <a:r>
              <a:rPr lang="en-GB" dirty="0"/>
              <a:t>makes active attacks dangerous as there is no information provided of the attack happening in the communication process and the receiver is not aware that the data/ message received is not from the sender. </a:t>
            </a:r>
            <a:endParaRPr lang="en-US" dirty="0"/>
          </a:p>
        </p:txBody>
      </p:sp>
    </p:spTree>
    <p:extLst>
      <p:ext uri="{BB962C8B-B14F-4D97-AF65-F5344CB8AC3E}">
        <p14:creationId xmlns:p14="http://schemas.microsoft.com/office/powerpoint/2010/main" val="2615348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29"/>
            <a:ext cx="10515600" cy="444137"/>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574766"/>
            <a:ext cx="10515600" cy="6283234"/>
          </a:xfrm>
        </p:spPr>
        <p:txBody>
          <a:bodyPr>
            <a:normAutofit fontScale="92500" lnSpcReduction="10000"/>
          </a:bodyPr>
          <a:lstStyle/>
          <a:p>
            <a:pPr fontAlgn="base"/>
            <a:r>
              <a:rPr lang="en-GB" dirty="0"/>
              <a:t>Active attacks are further divided into four parts based on their </a:t>
            </a:r>
            <a:r>
              <a:rPr lang="en-GB" dirty="0" err="1"/>
              <a:t>behavior</a:t>
            </a:r>
            <a:r>
              <a:rPr lang="en-GB" dirty="0" smtClean="0"/>
              <a:t>:</a:t>
            </a:r>
          </a:p>
          <a:p>
            <a:pPr fontAlgn="base"/>
            <a:r>
              <a:rPr lang="en-GB" b="1" dirty="0" smtClean="0"/>
              <a:t>Masquerade</a:t>
            </a:r>
            <a:r>
              <a:rPr lang="en-GB" b="1" dirty="0"/>
              <a:t>: </a:t>
            </a:r>
            <a:r>
              <a:rPr lang="en-GB" dirty="0"/>
              <a:t>Masquerade</a:t>
            </a:r>
            <a:r>
              <a:rPr lang="en-GB" b="1" dirty="0"/>
              <a:t> </a:t>
            </a:r>
            <a:r>
              <a:rPr lang="en-GB" dirty="0"/>
              <a:t>is a type of attack in which the attacker pretends to be an authentic sender in order to gain unauthorized access to a system. This type of attack can involve the attacker using stolen or forged credentials, or manipulating authentication or authorization controls in some other way.</a:t>
            </a:r>
          </a:p>
          <a:p>
            <a:pPr fontAlgn="base"/>
            <a:r>
              <a:rPr lang="en-GB" b="1" dirty="0"/>
              <a:t>Replay: </a:t>
            </a:r>
            <a:r>
              <a:rPr lang="en-GB" dirty="0"/>
              <a:t>Replay is a type of active attack in which the attacker intercepts a transmitted message through a passive channel and then maliciously or fraudulently replays or delays it at a later time.</a:t>
            </a:r>
          </a:p>
          <a:p>
            <a:pPr fontAlgn="base"/>
            <a:r>
              <a:rPr lang="en-GB" b="1" dirty="0"/>
              <a:t>Modification of Message: </a:t>
            </a:r>
            <a:r>
              <a:rPr lang="en-GB" dirty="0"/>
              <a:t>Modification of Message involves the attacker modifying the transmitted message and making the final message received by the receiver look like it's not safe or non-meaningful. This type of attack can be used to manipulate the content of the message or to disrupt the communication process.</a:t>
            </a:r>
          </a:p>
          <a:p>
            <a:pPr fontAlgn="base"/>
            <a:r>
              <a:rPr lang="en-GB" b="1" dirty="0"/>
              <a:t>Denial of service (</a:t>
            </a:r>
            <a:r>
              <a:rPr lang="en-GB" b="1" dirty="0" err="1"/>
              <a:t>DoS</a:t>
            </a:r>
            <a:r>
              <a:rPr lang="en-GB" b="1" dirty="0"/>
              <a:t>): </a:t>
            </a:r>
            <a:r>
              <a:rPr lang="en-GB" b="1" u="sng" dirty="0">
                <a:hlinkClick r:id="rId2"/>
              </a:rPr>
              <a:t>Denial of Service</a:t>
            </a:r>
            <a:r>
              <a:rPr lang="en-GB" dirty="0"/>
              <a:t> attacks involve the attacker sending a large volume of traffic to a system, network, or device in an attempt to overwhelm it and make it unavailable to users.</a:t>
            </a:r>
          </a:p>
          <a:p>
            <a:endParaRPr lang="en-US" dirty="0"/>
          </a:p>
        </p:txBody>
      </p:sp>
    </p:spTree>
    <p:extLst>
      <p:ext uri="{BB962C8B-B14F-4D97-AF65-F5344CB8AC3E}">
        <p14:creationId xmlns:p14="http://schemas.microsoft.com/office/powerpoint/2010/main" val="37924407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2338"/>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27464"/>
            <a:ext cx="10515600" cy="5799907"/>
          </a:xfrm>
        </p:spPr>
        <p:txBody>
          <a:bodyPr>
            <a:normAutofit fontScale="92500"/>
          </a:bodyPr>
          <a:lstStyle/>
          <a:p>
            <a:pPr fontAlgn="base"/>
            <a:r>
              <a:rPr lang="en-GB" b="1" dirty="0"/>
              <a:t>2. Security Mechanism</a:t>
            </a:r>
          </a:p>
          <a:p>
            <a:pPr fontAlgn="base"/>
            <a:r>
              <a:rPr lang="en-GB" dirty="0"/>
              <a:t>The mechanism that is built to identify any breach of security or attack on the organization, is called a security mechanism. Security Mechanisms are also responsible for protecting a system, network, or device against unauthorized access, tampering, or other</a:t>
            </a:r>
            <a:r>
              <a:rPr lang="en-GB" u="sng" dirty="0">
                <a:hlinkClick r:id="rId2"/>
              </a:rPr>
              <a:t> security threats.</a:t>
            </a:r>
            <a:endParaRPr lang="en-GB" dirty="0"/>
          </a:p>
          <a:p>
            <a:pPr fontAlgn="base"/>
            <a:r>
              <a:rPr lang="en-GB" b="1" dirty="0" err="1"/>
              <a:t>Encipherment</a:t>
            </a:r>
            <a:r>
              <a:rPr lang="en-GB" b="1" dirty="0"/>
              <a:t> (Encryption): </a:t>
            </a:r>
            <a:r>
              <a:rPr lang="en-GB" b="1" u="sng" dirty="0">
                <a:hlinkClick r:id="rId3"/>
              </a:rPr>
              <a:t>Encryption</a:t>
            </a:r>
            <a:r>
              <a:rPr lang="en-GB" dirty="0"/>
              <a:t> involves the use of algorithms to transform data into a form that can only be read by someone with the appropriate decryption key. Encryption can be used to protect data it is transmitted over a network, or to protect data when it is stored on a device.</a:t>
            </a:r>
          </a:p>
          <a:p>
            <a:pPr fontAlgn="base"/>
            <a:r>
              <a:rPr lang="en-GB" b="1" dirty="0"/>
              <a:t>Digital signature: </a:t>
            </a:r>
            <a:r>
              <a:rPr lang="en-GB" b="1" u="sng" dirty="0">
                <a:hlinkClick r:id="rId4"/>
              </a:rPr>
              <a:t>Digital Signature</a:t>
            </a:r>
            <a:r>
              <a:rPr lang="en-GB" dirty="0"/>
              <a:t> is a security mechanism that involves the use of cryptographic techniques to create a unique, verifiable identifier for a digital document or message, which can be used to ensure the authenticity and integrity of the document or message.</a:t>
            </a:r>
          </a:p>
          <a:p>
            <a:endParaRPr lang="en-US" dirty="0"/>
          </a:p>
        </p:txBody>
      </p:sp>
    </p:spTree>
    <p:extLst>
      <p:ext uri="{BB962C8B-B14F-4D97-AF65-F5344CB8AC3E}">
        <p14:creationId xmlns:p14="http://schemas.microsoft.com/office/powerpoint/2010/main" val="31540516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92778"/>
            <a:ext cx="10515600" cy="5184185"/>
          </a:xfrm>
        </p:spPr>
        <p:txBody>
          <a:bodyPr/>
          <a:lstStyle/>
          <a:p>
            <a:pPr fontAlgn="base"/>
            <a:r>
              <a:rPr lang="en-GB" b="1" dirty="0"/>
              <a:t>Traffic padding: </a:t>
            </a:r>
            <a:r>
              <a:rPr lang="en-GB" dirty="0"/>
              <a:t>Traffic Padding is a technique used to add extra data to a</a:t>
            </a:r>
            <a:r>
              <a:rPr lang="en-GB" u="sng" dirty="0">
                <a:hlinkClick r:id="rId2"/>
              </a:rPr>
              <a:t> network traffic</a:t>
            </a:r>
            <a:r>
              <a:rPr lang="en-GB" dirty="0"/>
              <a:t> stream in an attempt to obscure the true content of the traffic and make it more difficult to </a:t>
            </a:r>
            <a:r>
              <a:rPr lang="en-GB" dirty="0" err="1"/>
              <a:t>analyze</a:t>
            </a:r>
            <a:r>
              <a:rPr lang="en-GB" dirty="0"/>
              <a:t>.</a:t>
            </a:r>
          </a:p>
          <a:p>
            <a:pPr fontAlgn="base"/>
            <a:r>
              <a:rPr lang="en-GB" b="1" dirty="0"/>
              <a:t>Routing control: </a:t>
            </a:r>
            <a:r>
              <a:rPr lang="en-GB" u="sng" dirty="0">
                <a:hlinkClick r:id="rId3"/>
              </a:rPr>
              <a:t>Routing</a:t>
            </a:r>
            <a:r>
              <a:rPr lang="en-GB" dirty="0"/>
              <a:t> Control allows the selection of specific physically secure routes for specific data transmission and enables routing changes particularly when a gap in security is suspected.</a:t>
            </a:r>
          </a:p>
          <a:p>
            <a:endParaRPr lang="en-US" dirty="0"/>
          </a:p>
        </p:txBody>
      </p:sp>
    </p:spTree>
    <p:extLst>
      <p:ext uri="{BB962C8B-B14F-4D97-AF65-F5344CB8AC3E}">
        <p14:creationId xmlns:p14="http://schemas.microsoft.com/office/powerpoint/2010/main" val="30010550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566"/>
            <a:ext cx="10515600" cy="548640"/>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666206"/>
            <a:ext cx="10515600" cy="6100354"/>
          </a:xfrm>
        </p:spPr>
        <p:txBody>
          <a:bodyPr>
            <a:normAutofit fontScale="92500" lnSpcReduction="20000"/>
          </a:bodyPr>
          <a:lstStyle/>
          <a:p>
            <a:pPr fontAlgn="base"/>
            <a:r>
              <a:rPr lang="en-GB" b="1" dirty="0"/>
              <a:t>3. Security Services</a:t>
            </a:r>
          </a:p>
          <a:p>
            <a:pPr fontAlgn="base"/>
            <a:r>
              <a:rPr lang="en-GB" dirty="0"/>
              <a:t>Security services refer to the different services available for maintaining the security and safety of an organization. They help in preventing any potential risks to security. Security services are divided into 5 types:</a:t>
            </a:r>
          </a:p>
          <a:p>
            <a:pPr fontAlgn="base"/>
            <a:r>
              <a:rPr lang="en-GB" b="1" dirty="0"/>
              <a:t>Authentication: </a:t>
            </a:r>
            <a:r>
              <a:rPr lang="en-GB" b="1" u="sng" dirty="0">
                <a:hlinkClick r:id="rId2"/>
              </a:rPr>
              <a:t>Authentication</a:t>
            </a:r>
            <a:r>
              <a:rPr lang="en-GB" b="1" dirty="0"/>
              <a:t> </a:t>
            </a:r>
            <a:r>
              <a:rPr lang="en-GB" dirty="0"/>
              <a:t>is the process of verifying the identity of a user or device in order to grant or deny access to a system or device.</a:t>
            </a:r>
          </a:p>
          <a:p>
            <a:pPr fontAlgn="base"/>
            <a:r>
              <a:rPr lang="en-GB" b="1" dirty="0"/>
              <a:t>Access control: </a:t>
            </a:r>
            <a:r>
              <a:rPr lang="en-GB" b="1" u="sng" dirty="0">
                <a:hlinkClick r:id="rId3"/>
              </a:rPr>
              <a:t>Access Control</a:t>
            </a:r>
            <a:r>
              <a:rPr lang="en-GB" b="1" dirty="0"/>
              <a:t> </a:t>
            </a:r>
            <a:r>
              <a:rPr lang="en-GB" dirty="0"/>
              <a:t>involves the use of policies and procedures to determine who is allowed to access specific resources within a system.</a:t>
            </a:r>
          </a:p>
          <a:p>
            <a:pPr fontAlgn="base"/>
            <a:r>
              <a:rPr lang="en-GB" b="1" dirty="0"/>
              <a:t>Data Confidentiality:</a:t>
            </a:r>
            <a:r>
              <a:rPr lang="en-GB" dirty="0"/>
              <a:t> Data Confidentiality is responsible for the protection of information from being accessed or disclosed to unauthorized parties.</a:t>
            </a:r>
          </a:p>
          <a:p>
            <a:pPr fontAlgn="base"/>
            <a:r>
              <a:rPr lang="en-GB" b="1" dirty="0"/>
              <a:t>Data integrity: </a:t>
            </a:r>
            <a:r>
              <a:rPr lang="en-GB" u="sng" dirty="0">
                <a:hlinkClick r:id="rId4"/>
              </a:rPr>
              <a:t>Data Integrity</a:t>
            </a:r>
            <a:r>
              <a:rPr lang="en-GB" b="1" dirty="0"/>
              <a:t> </a:t>
            </a:r>
            <a:r>
              <a:rPr lang="en-GB" dirty="0"/>
              <a:t>is a security mechanism that involves the use of techniques to ensure that data has not been tampered with or altered in any way during transmission or storage.</a:t>
            </a:r>
          </a:p>
          <a:p>
            <a:pPr fontAlgn="base"/>
            <a:r>
              <a:rPr lang="en-GB" b="1" dirty="0"/>
              <a:t>Non- repudiation: </a:t>
            </a:r>
            <a:r>
              <a:rPr lang="en-GB" b="1" u="sng" dirty="0">
                <a:hlinkClick r:id="rId5"/>
              </a:rPr>
              <a:t>Non-repudiation</a:t>
            </a:r>
            <a:r>
              <a:rPr lang="en-GB" dirty="0"/>
              <a:t> involves the use of techniques to create a verifiable record of the origin and transmission of a message which can be used to prevent the sender from denying that they sent the message.</a:t>
            </a:r>
          </a:p>
          <a:p>
            <a:endParaRPr lang="en-US" dirty="0"/>
          </a:p>
        </p:txBody>
      </p:sp>
    </p:spTree>
    <p:extLst>
      <p:ext uri="{BB962C8B-B14F-4D97-AF65-F5344CB8AC3E}">
        <p14:creationId xmlns:p14="http://schemas.microsoft.com/office/powerpoint/2010/main" val="13052443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GB" b="1" dirty="0"/>
              <a:t>Benefits of OSI Security Architecture</a:t>
            </a:r>
            <a:br>
              <a:rPr lang="en-GB" b="1" dirty="0"/>
            </a:br>
            <a:endParaRPr lang="en-US" dirty="0"/>
          </a:p>
        </p:txBody>
      </p:sp>
      <p:sp>
        <p:nvSpPr>
          <p:cNvPr id="3" name="Content Placeholder 2"/>
          <p:cNvSpPr>
            <a:spLocks noGrp="1"/>
          </p:cNvSpPr>
          <p:nvPr>
            <p:ph idx="1"/>
          </p:nvPr>
        </p:nvSpPr>
        <p:spPr>
          <a:xfrm>
            <a:off x="838200" y="783771"/>
            <a:ext cx="10515600" cy="5943600"/>
          </a:xfrm>
        </p:spPr>
        <p:txBody>
          <a:bodyPr>
            <a:normAutofit lnSpcReduction="10000"/>
          </a:bodyPr>
          <a:lstStyle/>
          <a:p>
            <a:pPr fontAlgn="base"/>
            <a:r>
              <a:rPr lang="en-GB" b="1" dirty="0"/>
              <a:t>Providing Security</a:t>
            </a:r>
            <a:r>
              <a:rPr lang="en-GB" dirty="0"/>
              <a:t>: OSI Architecture in an organization provides the needed security and safety preventing potential</a:t>
            </a:r>
            <a:r>
              <a:rPr lang="en-GB" u="sng" dirty="0">
                <a:hlinkClick r:id="rId2"/>
              </a:rPr>
              <a:t> threats and risks.</a:t>
            </a:r>
            <a:endParaRPr lang="en-GB" dirty="0"/>
          </a:p>
          <a:p>
            <a:pPr fontAlgn="base"/>
            <a:r>
              <a:rPr lang="en-GB" b="1" dirty="0"/>
              <a:t>Organising Task: </a:t>
            </a:r>
            <a:r>
              <a:rPr lang="en-GB" dirty="0"/>
              <a:t>The OSI architecture makes it easy for managers to build a security model for the organization based on strong security principles.</a:t>
            </a:r>
          </a:p>
          <a:p>
            <a:pPr fontAlgn="base"/>
            <a:r>
              <a:rPr lang="en-GB" b="1" dirty="0"/>
              <a:t>Meets International Standards:</a:t>
            </a:r>
            <a:r>
              <a:rPr lang="en-GB" dirty="0"/>
              <a:t> Security services are defined and recognized internationally meeting international standards.</a:t>
            </a:r>
          </a:p>
          <a:p>
            <a:pPr fontAlgn="base"/>
            <a:r>
              <a:rPr lang="en-GB" b="1" dirty="0"/>
              <a:t>Interoperability: </a:t>
            </a:r>
            <a:r>
              <a:rPr lang="en-GB" dirty="0"/>
              <a:t>The OSI model divides network functions into multiple levels makes it easier for different</a:t>
            </a:r>
            <a:r>
              <a:rPr lang="en-GB" u="sng" dirty="0">
                <a:hlinkClick r:id="rId3"/>
              </a:rPr>
              <a:t> hardware</a:t>
            </a:r>
            <a:r>
              <a:rPr lang="en-GB" dirty="0"/>
              <a:t> and</a:t>
            </a:r>
            <a:r>
              <a:rPr lang="en-GB" u="sng" dirty="0">
                <a:hlinkClick r:id="rId4"/>
              </a:rPr>
              <a:t> software</a:t>
            </a:r>
            <a:r>
              <a:rPr lang="en-GB" dirty="0"/>
              <a:t> components to work together.</a:t>
            </a:r>
          </a:p>
          <a:p>
            <a:pPr fontAlgn="base"/>
            <a:r>
              <a:rPr lang="en-GB" b="1" dirty="0"/>
              <a:t>Scalability: </a:t>
            </a:r>
            <a:r>
              <a:rPr lang="en-GB" dirty="0"/>
              <a:t>The layered method makes networks scalable. New technologies and protocols can be seamlessly added without interrupting the overall system.</a:t>
            </a:r>
          </a:p>
          <a:p>
            <a:pPr fontAlgn="base"/>
            <a:r>
              <a:rPr lang="en-GB" b="1" dirty="0"/>
              <a:t>Flexibility: </a:t>
            </a:r>
            <a:r>
              <a:rPr lang="en-GB" dirty="0"/>
              <a:t>Each layer can evolve separately and provide flexibility for technology and application changes.</a:t>
            </a:r>
          </a:p>
          <a:p>
            <a:endParaRPr lang="en-US" dirty="0"/>
          </a:p>
        </p:txBody>
      </p:sp>
    </p:spTree>
    <p:extLst>
      <p:ext uri="{BB962C8B-B14F-4D97-AF65-F5344CB8AC3E}">
        <p14:creationId xmlns:p14="http://schemas.microsoft.com/office/powerpoint/2010/main" val="1971338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US" dirty="0" smtClean="0"/>
              <a:t>Security Policy and mechanisms</a:t>
            </a:r>
            <a:endParaRPr lang="en-US" dirty="0"/>
          </a:p>
        </p:txBody>
      </p:sp>
      <p:sp>
        <p:nvSpPr>
          <p:cNvPr id="3" name="Content Placeholder 2"/>
          <p:cNvSpPr>
            <a:spLocks noGrp="1"/>
          </p:cNvSpPr>
          <p:nvPr>
            <p:ph idx="1"/>
          </p:nvPr>
        </p:nvSpPr>
        <p:spPr>
          <a:xfrm>
            <a:off x="838200" y="1005840"/>
            <a:ext cx="10515600" cy="5171123"/>
          </a:xfrm>
        </p:spPr>
        <p:txBody>
          <a:bodyPr/>
          <a:lstStyle/>
          <a:p>
            <a:r>
              <a:rPr lang="en-GB" dirty="0"/>
              <a:t>Security policies are statements of rules defining what is and isn't allowed to protect an organization's assets, while security mechanisms are the methods, tools, or procedures used to enforce these policies and protect against threats. </a:t>
            </a:r>
            <a:endParaRPr lang="en-GB" dirty="0" smtClean="0"/>
          </a:p>
          <a:p>
            <a:r>
              <a:rPr lang="en-GB" dirty="0" smtClean="0"/>
              <a:t>Policies </a:t>
            </a:r>
            <a:r>
              <a:rPr lang="en-GB" dirty="0"/>
              <a:t>set the security strategy and goals (like confidentiality, integrity, and availability), while mechanisms implement these goals through actions like encryption, access controls, firewalls, and authentication. </a:t>
            </a:r>
            <a:endParaRPr lang="en-US" dirty="0"/>
          </a:p>
        </p:txBody>
      </p:sp>
    </p:spTree>
    <p:extLst>
      <p:ext uri="{BB962C8B-B14F-4D97-AF65-F5344CB8AC3E}">
        <p14:creationId xmlns:p14="http://schemas.microsoft.com/office/powerpoint/2010/main" val="6921292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504"/>
            <a:ext cx="10515600" cy="457200"/>
          </a:xfrm>
        </p:spPr>
        <p:txBody>
          <a:bodyPr>
            <a:normAutofit fontScale="90000"/>
          </a:bodyPr>
          <a:lstStyle/>
          <a:p>
            <a:r>
              <a:rPr lang="en-US" dirty="0"/>
              <a:t>Security Policies</a:t>
            </a:r>
          </a:p>
        </p:txBody>
      </p:sp>
      <p:sp>
        <p:nvSpPr>
          <p:cNvPr id="3" name="Content Placeholder 2"/>
          <p:cNvSpPr>
            <a:spLocks noGrp="1"/>
          </p:cNvSpPr>
          <p:nvPr>
            <p:ph idx="1"/>
          </p:nvPr>
        </p:nvSpPr>
        <p:spPr>
          <a:xfrm>
            <a:off x="838200" y="561704"/>
            <a:ext cx="10515600" cy="6087290"/>
          </a:xfrm>
        </p:spPr>
        <p:txBody>
          <a:bodyPr>
            <a:normAutofit fontScale="85000" lnSpcReduction="10000"/>
          </a:bodyPr>
          <a:lstStyle/>
          <a:p>
            <a:r>
              <a:rPr lang="en-GB" b="1" dirty="0"/>
              <a:t>Definition</a:t>
            </a:r>
            <a:r>
              <a:rPr lang="en-GB" dirty="0"/>
              <a:t>: </a:t>
            </a:r>
          </a:p>
          <a:p>
            <a:pPr fontAlgn="ctr"/>
            <a:r>
              <a:rPr lang="en-GB" dirty="0"/>
              <a:t>A security policy is a comprehensive document outlining the rules, guidelines, and intentions for how an organization will protect its information systems and data. </a:t>
            </a:r>
          </a:p>
          <a:p>
            <a:r>
              <a:rPr lang="en-GB" b="1" dirty="0"/>
              <a:t>Purpose</a:t>
            </a:r>
            <a:r>
              <a:rPr lang="en-GB" dirty="0"/>
              <a:t>: </a:t>
            </a:r>
          </a:p>
          <a:p>
            <a:pPr fontAlgn="ctr"/>
            <a:r>
              <a:rPr lang="en-GB" dirty="0"/>
              <a:t>To establish a clear, consistent framework for security, ensure awareness of security responsibilities, meet compliance requirements, and guide the implementation of security controls. </a:t>
            </a:r>
          </a:p>
          <a:p>
            <a:r>
              <a:rPr lang="en-GB" b="1" dirty="0"/>
              <a:t>Types</a:t>
            </a:r>
            <a:r>
              <a:rPr lang="en-GB" dirty="0"/>
              <a:t>:</a:t>
            </a:r>
          </a:p>
          <a:p>
            <a:pPr fontAlgn="ctr"/>
            <a:r>
              <a:rPr lang="en-GB" b="1" dirty="0"/>
              <a:t>Organizational</a:t>
            </a:r>
            <a:r>
              <a:rPr lang="en-GB" dirty="0"/>
              <a:t>: A master blueprint for the entire organization's security program. </a:t>
            </a:r>
          </a:p>
          <a:p>
            <a:pPr fontAlgn="ctr"/>
            <a:r>
              <a:rPr lang="en-GB" b="1" dirty="0"/>
              <a:t>System-specific</a:t>
            </a:r>
            <a:r>
              <a:rPr lang="en-GB" dirty="0"/>
              <a:t>: Covers security for a particular network or information system. </a:t>
            </a:r>
          </a:p>
          <a:p>
            <a:pPr fontAlgn="ctr"/>
            <a:r>
              <a:rPr lang="en-GB" b="1" dirty="0"/>
              <a:t>Issue-specific</a:t>
            </a:r>
            <a:r>
              <a:rPr lang="en-GB" dirty="0"/>
              <a:t>: Targets specific aspects, such as acceptable use, access control, incident response, or password management. </a:t>
            </a:r>
          </a:p>
          <a:p>
            <a:r>
              <a:rPr lang="en-GB" b="1" dirty="0"/>
              <a:t>Examples</a:t>
            </a:r>
            <a:r>
              <a:rPr lang="en-GB" dirty="0"/>
              <a:t>: </a:t>
            </a:r>
          </a:p>
          <a:p>
            <a:r>
              <a:rPr lang="en-GB" dirty="0"/>
              <a:t>Acceptable use policies, access control policies, password policies, incident response policies, and remote access policies. </a:t>
            </a:r>
          </a:p>
          <a:p>
            <a:endParaRPr lang="en-US" dirty="0"/>
          </a:p>
        </p:txBody>
      </p:sp>
    </p:spTree>
    <p:extLst>
      <p:ext uri="{BB962C8B-B14F-4D97-AF65-F5344CB8AC3E}">
        <p14:creationId xmlns:p14="http://schemas.microsoft.com/office/powerpoint/2010/main" val="16812995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504"/>
            <a:ext cx="10515600" cy="431074"/>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535578"/>
            <a:ext cx="10515600" cy="6322422"/>
          </a:xfrm>
        </p:spPr>
        <p:txBody>
          <a:bodyPr>
            <a:normAutofit fontScale="77500" lnSpcReduction="20000"/>
          </a:bodyPr>
          <a:lstStyle/>
          <a:p>
            <a:r>
              <a:rPr lang="en-GB" dirty="0"/>
              <a:t>Security Mechanisms</a:t>
            </a:r>
          </a:p>
          <a:p>
            <a:r>
              <a:rPr lang="en-GB" b="1" dirty="0"/>
              <a:t>Definition</a:t>
            </a:r>
            <a:r>
              <a:rPr lang="en-GB" dirty="0"/>
              <a:t>: </a:t>
            </a:r>
          </a:p>
          <a:p>
            <a:pPr fontAlgn="ctr"/>
            <a:r>
              <a:rPr lang="en-GB" dirty="0"/>
              <a:t>A security mechanism is a method, tool, or process used to implement the rules set by a security policy. </a:t>
            </a:r>
          </a:p>
          <a:p>
            <a:r>
              <a:rPr lang="en-GB" b="1" dirty="0"/>
              <a:t>Purpose</a:t>
            </a:r>
            <a:r>
              <a:rPr lang="en-GB" dirty="0"/>
              <a:t>: </a:t>
            </a:r>
          </a:p>
          <a:p>
            <a:pPr fontAlgn="ctr"/>
            <a:r>
              <a:rPr lang="en-GB" dirty="0"/>
              <a:t>To enforce policy, protect data and systems from unauthorized access and attacks, and maintain confidentiality, integrity, and availability. </a:t>
            </a:r>
          </a:p>
          <a:p>
            <a:r>
              <a:rPr lang="en-GB" b="1" dirty="0"/>
              <a:t>Types</a:t>
            </a:r>
            <a:r>
              <a:rPr lang="en-GB" dirty="0"/>
              <a:t>:</a:t>
            </a:r>
          </a:p>
          <a:p>
            <a:pPr fontAlgn="ctr"/>
            <a:r>
              <a:rPr lang="en-GB" b="1" dirty="0"/>
              <a:t>Specific Mechanisms</a:t>
            </a:r>
            <a:r>
              <a:rPr lang="en-GB" dirty="0"/>
              <a:t>: Integrated into a specific protocol layer to provide particular security services. </a:t>
            </a:r>
          </a:p>
          <a:p>
            <a:pPr fontAlgn="ctr"/>
            <a:r>
              <a:rPr lang="en-GB" b="1" dirty="0"/>
              <a:t>Pervasive Mechanisms</a:t>
            </a:r>
            <a:r>
              <a:rPr lang="en-GB" dirty="0"/>
              <a:t>: Generalized controls not tied to a single layer or service. </a:t>
            </a:r>
          </a:p>
          <a:p>
            <a:r>
              <a:rPr lang="en-GB" b="1" dirty="0"/>
              <a:t>Examples</a:t>
            </a:r>
            <a:r>
              <a:rPr lang="en-GB" dirty="0"/>
              <a:t>:</a:t>
            </a:r>
          </a:p>
          <a:p>
            <a:pPr fontAlgn="ctr"/>
            <a:r>
              <a:rPr lang="en-GB" b="1" dirty="0">
                <a:hlinkClick r:id="rId2"/>
              </a:rPr>
              <a:t>Encryption</a:t>
            </a:r>
            <a:r>
              <a:rPr lang="en-GB" dirty="0"/>
              <a:t>: Hides data by converting it into an unreadable format. </a:t>
            </a:r>
          </a:p>
          <a:p>
            <a:r>
              <a:rPr lang="en-GB" b="1" dirty="0">
                <a:hlinkClick r:id="rId3"/>
              </a:rPr>
              <a:t>Firewalls</a:t>
            </a:r>
            <a:r>
              <a:rPr lang="en-GB" dirty="0"/>
              <a:t>: Control network traffic to prevent unauthorized access.</a:t>
            </a:r>
          </a:p>
          <a:p>
            <a:r>
              <a:rPr lang="en-GB" b="1" dirty="0">
                <a:hlinkClick r:id="rId4"/>
              </a:rPr>
              <a:t>Access Control</a:t>
            </a:r>
            <a:r>
              <a:rPr lang="en-GB" dirty="0"/>
              <a:t>: Defines and enforces who can access specific resources.</a:t>
            </a:r>
          </a:p>
          <a:p>
            <a:r>
              <a:rPr lang="en-GB" b="1" dirty="0">
                <a:hlinkClick r:id="rId5"/>
              </a:rPr>
              <a:t>Authentication</a:t>
            </a:r>
            <a:r>
              <a:rPr lang="en-GB" dirty="0"/>
              <a:t>: Verifies a user's identity before granting access.</a:t>
            </a:r>
          </a:p>
          <a:p>
            <a:r>
              <a:rPr lang="en-GB" b="1" dirty="0">
                <a:hlinkClick r:id="rId6"/>
              </a:rPr>
              <a:t>Digital Signatures</a:t>
            </a:r>
            <a:r>
              <a:rPr lang="en-GB" dirty="0"/>
              <a:t>: Use cryptographic techniques to ensure document authenticity and integrity. </a:t>
            </a:r>
          </a:p>
          <a:p>
            <a:endParaRPr lang="en-US" dirty="0"/>
          </a:p>
        </p:txBody>
      </p:sp>
    </p:spTree>
    <p:extLst>
      <p:ext uri="{BB962C8B-B14F-4D97-AF65-F5344CB8AC3E}">
        <p14:creationId xmlns:p14="http://schemas.microsoft.com/office/powerpoint/2010/main" val="25449271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r>
              <a:rPr lang="en-GB" dirty="0" smtClean="0"/>
              <a:t>Cryptography </a:t>
            </a:r>
            <a:endParaRPr lang="en-US" dirty="0"/>
          </a:p>
        </p:txBody>
      </p:sp>
      <p:sp>
        <p:nvSpPr>
          <p:cNvPr id="3" name="Content Placeholder 2"/>
          <p:cNvSpPr>
            <a:spLocks noGrp="1"/>
          </p:cNvSpPr>
          <p:nvPr>
            <p:ph idx="1"/>
          </p:nvPr>
        </p:nvSpPr>
        <p:spPr>
          <a:xfrm>
            <a:off x="838200" y="1162594"/>
            <a:ext cx="10515600" cy="5014369"/>
          </a:xfrm>
        </p:spPr>
        <p:txBody>
          <a:bodyPr/>
          <a:lstStyle/>
          <a:p>
            <a:r>
              <a:rPr lang="en-GB" dirty="0"/>
              <a:t>Cryptography is the science of secure communication and information protection, using mathematical algorithms to encode messages to prevent unauthorized access by third parties. </a:t>
            </a:r>
            <a:endParaRPr lang="en-GB" dirty="0" smtClean="0"/>
          </a:p>
          <a:p>
            <a:r>
              <a:rPr lang="en-GB" dirty="0" smtClean="0"/>
              <a:t>It </a:t>
            </a:r>
            <a:r>
              <a:rPr lang="en-GB" dirty="0"/>
              <a:t>relies on concepts like encryption, where data is scrambled into an unreadable format (</a:t>
            </a:r>
            <a:r>
              <a:rPr lang="en-GB" dirty="0" err="1">
                <a:hlinkClick r:id="rId2"/>
              </a:rPr>
              <a:t>ciphertext</a:t>
            </a:r>
            <a:r>
              <a:rPr lang="en-GB" dirty="0"/>
              <a:t>), and decryption, where it is restored to its original, readable form (</a:t>
            </a:r>
            <a:r>
              <a:rPr lang="en-GB" dirty="0">
                <a:hlinkClick r:id="rId3"/>
              </a:rPr>
              <a:t>plaintext</a:t>
            </a:r>
            <a:r>
              <a:rPr lang="en-GB" dirty="0"/>
              <a:t>) using a key. </a:t>
            </a:r>
            <a:endParaRPr lang="en-GB" dirty="0" smtClean="0"/>
          </a:p>
          <a:p>
            <a:r>
              <a:rPr lang="en-GB" dirty="0" smtClean="0"/>
              <a:t>Modern </a:t>
            </a:r>
            <a:r>
              <a:rPr lang="en-GB" dirty="0"/>
              <a:t>cryptography ensures </a:t>
            </a:r>
            <a:r>
              <a:rPr lang="en-GB" dirty="0">
                <a:hlinkClick r:id="rId4"/>
              </a:rPr>
              <a:t>data confidentiality</a:t>
            </a:r>
            <a:r>
              <a:rPr lang="en-GB" dirty="0"/>
              <a:t>, integrity, and authenticity, playing a crucial role in digital security for everything from online banking to military communications.  </a:t>
            </a:r>
            <a:endParaRPr lang="en-US" dirty="0"/>
          </a:p>
        </p:txBody>
      </p:sp>
    </p:spTree>
    <p:extLst>
      <p:ext uri="{BB962C8B-B14F-4D97-AF65-F5344CB8AC3E}">
        <p14:creationId xmlns:p14="http://schemas.microsoft.com/office/powerpoint/2010/main" val="1539407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r>
              <a:rPr lang="en-US" dirty="0"/>
              <a:t>How it Works</a:t>
            </a:r>
          </a:p>
        </p:txBody>
      </p:sp>
      <p:sp>
        <p:nvSpPr>
          <p:cNvPr id="3" name="Content Placeholder 2"/>
          <p:cNvSpPr>
            <a:spLocks noGrp="1"/>
          </p:cNvSpPr>
          <p:nvPr>
            <p:ph idx="1"/>
          </p:nvPr>
        </p:nvSpPr>
        <p:spPr>
          <a:xfrm>
            <a:off x="838200" y="979714"/>
            <a:ext cx="10515600" cy="5197249"/>
          </a:xfrm>
        </p:spPr>
        <p:txBody>
          <a:bodyPr/>
          <a:lstStyle/>
          <a:p>
            <a:r>
              <a:rPr lang="en-GB" dirty="0" smtClean="0"/>
              <a:t>Encryption: A mathematical process that converts readable data into an unreadable format (</a:t>
            </a:r>
            <a:r>
              <a:rPr lang="en-GB" dirty="0" err="1" smtClean="0"/>
              <a:t>ciphertext</a:t>
            </a:r>
            <a:r>
              <a:rPr lang="en-GB" dirty="0" smtClean="0"/>
              <a:t>). </a:t>
            </a:r>
          </a:p>
          <a:p>
            <a:r>
              <a:rPr lang="en-GB" dirty="0" smtClean="0"/>
              <a:t>Decryption: The reverse process, using a secret key to convert the </a:t>
            </a:r>
            <a:r>
              <a:rPr lang="en-GB" dirty="0" err="1" smtClean="0"/>
              <a:t>ciphertext</a:t>
            </a:r>
            <a:r>
              <a:rPr lang="en-GB" dirty="0" smtClean="0"/>
              <a:t> back into the original, understandable plaintext. </a:t>
            </a:r>
          </a:p>
          <a:p>
            <a:r>
              <a:rPr lang="en-GB" dirty="0" smtClean="0"/>
              <a:t>Algorithms: Sets of rules and mathematical formulas used for encryption and decryption. </a:t>
            </a:r>
          </a:p>
          <a:p>
            <a:r>
              <a:rPr lang="en-GB" dirty="0" smtClean="0"/>
              <a:t>Keys: Secret pieces of information, like a password, that are required to decrypt the encrypted message. </a:t>
            </a:r>
          </a:p>
          <a:p>
            <a:r>
              <a:rPr lang="en-GB" dirty="0" smtClean="0"/>
              <a:t>Cryptanalysis: The practice of breaking encrypted messages to discover their original meaning without the key. </a:t>
            </a:r>
            <a:endParaRPr lang="en-US" dirty="0"/>
          </a:p>
        </p:txBody>
      </p:sp>
    </p:spTree>
    <p:extLst>
      <p:ext uri="{BB962C8B-B14F-4D97-AF65-F5344CB8AC3E}">
        <p14:creationId xmlns:p14="http://schemas.microsoft.com/office/powerpoint/2010/main" val="97524309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US" dirty="0"/>
              <a:t>Key Principles</a:t>
            </a:r>
          </a:p>
        </p:txBody>
      </p:sp>
      <p:sp>
        <p:nvSpPr>
          <p:cNvPr id="3" name="Content Placeholder 2"/>
          <p:cNvSpPr>
            <a:spLocks noGrp="1"/>
          </p:cNvSpPr>
          <p:nvPr>
            <p:ph idx="1"/>
          </p:nvPr>
        </p:nvSpPr>
        <p:spPr>
          <a:xfrm>
            <a:off x="838200" y="1058092"/>
            <a:ext cx="10515600" cy="5118871"/>
          </a:xfrm>
        </p:spPr>
        <p:txBody>
          <a:bodyPr/>
          <a:lstStyle/>
          <a:p>
            <a:r>
              <a:rPr lang="en-GB" smtClean="0"/>
              <a:t>Cryptography ensures several vital aspects of information security: </a:t>
            </a:r>
          </a:p>
          <a:p>
            <a:r>
              <a:rPr lang="en-GB" smtClean="0"/>
              <a:t>Confidentiality: Ensures that information is accessible only to authorized individuals. </a:t>
            </a:r>
          </a:p>
          <a:p>
            <a:r>
              <a:rPr lang="en-GB" smtClean="0"/>
              <a:t>Integrity: Guarantees that data has not been altered or tampered with. </a:t>
            </a:r>
          </a:p>
          <a:p>
            <a:r>
              <a:rPr lang="en-GB" smtClean="0"/>
              <a:t>Authentication: Verifies the identity of the sender and recipient. </a:t>
            </a:r>
          </a:p>
          <a:p>
            <a:r>
              <a:rPr lang="en-GB" smtClean="0"/>
              <a:t>Non-repudiation: Prevents the sender from denying their involvement in creating or sending information. </a:t>
            </a:r>
            <a:endParaRPr lang="en-US" dirty="0"/>
          </a:p>
        </p:txBody>
      </p:sp>
    </p:spTree>
    <p:extLst>
      <p:ext uri="{BB962C8B-B14F-4D97-AF65-F5344CB8AC3E}">
        <p14:creationId xmlns:p14="http://schemas.microsoft.com/office/powerpoint/2010/main" val="302526893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US" dirty="0"/>
              <a:t>Common Applications</a:t>
            </a:r>
          </a:p>
        </p:txBody>
      </p:sp>
      <p:sp>
        <p:nvSpPr>
          <p:cNvPr id="3" name="Content Placeholder 2"/>
          <p:cNvSpPr>
            <a:spLocks noGrp="1"/>
          </p:cNvSpPr>
          <p:nvPr>
            <p:ph idx="1"/>
          </p:nvPr>
        </p:nvSpPr>
        <p:spPr>
          <a:xfrm>
            <a:off x="838200" y="1188720"/>
            <a:ext cx="10515600" cy="4988243"/>
          </a:xfrm>
        </p:spPr>
        <p:txBody>
          <a:bodyPr/>
          <a:lstStyle/>
          <a:p>
            <a:r>
              <a:rPr lang="en-GB" smtClean="0"/>
              <a:t>Cryptography is a fundamental part of modern cybersecurity and is used in: </a:t>
            </a:r>
          </a:p>
          <a:p>
            <a:r>
              <a:rPr lang="en-GB" smtClean="0"/>
              <a:t>Online Transactions: Securing e-commerce and banking operations with protocols like TLS. </a:t>
            </a:r>
          </a:p>
          <a:p>
            <a:r>
              <a:rPr lang="en-GB" smtClean="0"/>
              <a:t>Digital Security: Protecting computer passwords, emails, and sensitive data. </a:t>
            </a:r>
          </a:p>
          <a:p>
            <a:r>
              <a:rPr lang="en-GB" smtClean="0"/>
              <a:t>Digital Currencies: Powering blockchain systems for cryptocurrencies and smart contracts. </a:t>
            </a:r>
          </a:p>
          <a:p>
            <a:r>
              <a:rPr lang="en-GB" smtClean="0"/>
              <a:t>Secure Communication: Used in military and private communications to protect sensitive information. </a:t>
            </a:r>
            <a:endParaRPr lang="en-US" dirty="0"/>
          </a:p>
        </p:txBody>
      </p:sp>
    </p:spTree>
    <p:extLst>
      <p:ext uri="{BB962C8B-B14F-4D97-AF65-F5344CB8AC3E}">
        <p14:creationId xmlns:p14="http://schemas.microsoft.com/office/powerpoint/2010/main" val="317625459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t>Authentication and Authorization </a:t>
            </a:r>
            <a:endParaRPr lang="en-US" dirty="0"/>
          </a:p>
        </p:txBody>
      </p:sp>
      <p:sp>
        <p:nvSpPr>
          <p:cNvPr id="3" name="Content Placeholder 2"/>
          <p:cNvSpPr>
            <a:spLocks noGrp="1"/>
          </p:cNvSpPr>
          <p:nvPr>
            <p:ph idx="1"/>
          </p:nvPr>
        </p:nvSpPr>
        <p:spPr>
          <a:xfrm>
            <a:off x="838200" y="1240971"/>
            <a:ext cx="10515600" cy="4935992"/>
          </a:xfrm>
        </p:spPr>
        <p:txBody>
          <a:bodyPr/>
          <a:lstStyle/>
          <a:p>
            <a:r>
              <a:rPr lang="en-GB" dirty="0"/>
              <a:t>Authentication is the process of verifying a user's identity to confirm they are who they claim to be, using methods like passwords, biometrics, or tokens. </a:t>
            </a:r>
            <a:endParaRPr lang="en-GB" dirty="0" smtClean="0"/>
          </a:p>
          <a:p>
            <a:r>
              <a:rPr lang="en-GB" dirty="0" smtClean="0"/>
              <a:t>Authorization </a:t>
            </a:r>
            <a:r>
              <a:rPr lang="en-GB" dirty="0"/>
              <a:t>is the process that determines what an authenticated user is permitted to access or do within a system, like accessing specific files or performing certain actions</a:t>
            </a:r>
            <a:r>
              <a:rPr lang="en-GB" dirty="0" smtClean="0"/>
              <a:t>.</a:t>
            </a:r>
          </a:p>
          <a:p>
            <a:r>
              <a:rPr lang="en-GB" dirty="0"/>
              <a:t> In essence, authentication answers "Who are you?" and authorization answers "What are you allowed to do?". </a:t>
            </a:r>
            <a:endParaRPr lang="en-US" dirty="0"/>
          </a:p>
        </p:txBody>
      </p:sp>
    </p:spTree>
    <p:extLst>
      <p:ext uri="{BB962C8B-B14F-4D97-AF65-F5344CB8AC3E}">
        <p14:creationId xmlns:p14="http://schemas.microsoft.com/office/powerpoint/2010/main" val="2342313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14400"/>
            <a:ext cx="10515600" cy="5760720"/>
          </a:xfrm>
        </p:spPr>
        <p:txBody>
          <a:bodyPr>
            <a:normAutofit/>
          </a:bodyPr>
          <a:lstStyle/>
          <a:p>
            <a:r>
              <a:rPr lang="en-GB" dirty="0" smtClean="0"/>
              <a:t>Authentication</a:t>
            </a:r>
          </a:p>
          <a:p>
            <a:r>
              <a:rPr lang="en-GB" dirty="0" smtClean="0"/>
              <a:t>Purpose: To verify a user's identity. </a:t>
            </a:r>
          </a:p>
          <a:p>
            <a:r>
              <a:rPr lang="en-GB" dirty="0" smtClean="0"/>
              <a:t>How it works: By providing credentials such as a password, fingerprint, or a one-time code. </a:t>
            </a:r>
          </a:p>
          <a:p>
            <a:r>
              <a:rPr lang="en-GB" dirty="0" smtClean="0"/>
              <a:t>Example: When you log in to an email service and enter your username and password, the service authenticates you. </a:t>
            </a:r>
          </a:p>
          <a:p>
            <a:r>
              <a:rPr lang="en-GB" dirty="0" smtClean="0"/>
              <a:t>Authorization</a:t>
            </a:r>
          </a:p>
          <a:p>
            <a:r>
              <a:rPr lang="en-GB" dirty="0" smtClean="0"/>
              <a:t>Purpose: To grant or deny permissions to specific resources. </a:t>
            </a:r>
          </a:p>
          <a:p>
            <a:r>
              <a:rPr lang="en-GB" dirty="0" smtClean="0"/>
              <a:t>How it works: Based on defined access control policies, roles, or rules. </a:t>
            </a:r>
          </a:p>
          <a:p>
            <a:r>
              <a:rPr lang="en-GB" dirty="0" smtClean="0"/>
              <a:t>Example: After you're authenticated, authorization ensures you can only access your own mailbox, not someone else's, in the email service. </a:t>
            </a:r>
            <a:endParaRPr lang="en-US" dirty="0"/>
          </a:p>
        </p:txBody>
      </p:sp>
    </p:spTree>
    <p:extLst>
      <p:ext uri="{BB962C8B-B14F-4D97-AF65-F5344CB8AC3E}">
        <p14:creationId xmlns:p14="http://schemas.microsoft.com/office/powerpoint/2010/main" val="2550580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1972"/>
          </a:xfrm>
        </p:spPr>
        <p:txBody>
          <a:bodyPr>
            <a:normAutofit fontScale="90000"/>
          </a:bodyPr>
          <a:lstStyle/>
          <a:p>
            <a:r>
              <a:rPr lang="en-GB" dirty="0"/>
              <a:t>Relationship between Authentication and Authorization</a:t>
            </a:r>
            <a:endParaRPr lang="en-US" dirty="0"/>
          </a:p>
        </p:txBody>
      </p:sp>
      <p:sp>
        <p:nvSpPr>
          <p:cNvPr id="3" name="Content Placeholder 2"/>
          <p:cNvSpPr>
            <a:spLocks noGrp="1"/>
          </p:cNvSpPr>
          <p:nvPr>
            <p:ph idx="1"/>
          </p:nvPr>
        </p:nvSpPr>
        <p:spPr>
          <a:xfrm>
            <a:off x="838200" y="1410789"/>
            <a:ext cx="10515600" cy="4766174"/>
          </a:xfrm>
        </p:spPr>
        <p:txBody>
          <a:bodyPr/>
          <a:lstStyle/>
          <a:p>
            <a:r>
              <a:rPr lang="en-GB" dirty="0" smtClean="0"/>
              <a:t>A prerequisite: You must first be authenticated before authorization can take place. </a:t>
            </a:r>
          </a:p>
          <a:p>
            <a:r>
              <a:rPr lang="en-GB" dirty="0" smtClean="0"/>
              <a:t>Combined security: Both processes are vital for securing systems, applications, and data. </a:t>
            </a:r>
          </a:p>
          <a:p>
            <a:r>
              <a:rPr lang="en-GB" dirty="0" smtClean="0"/>
              <a:t>Example: At a hotel, your ID authenticates your identity (proves you are who you say you are), and a key authorizes your access to your room (grants permission to enter). </a:t>
            </a:r>
            <a:endParaRPr lang="en-US" dirty="0"/>
          </a:p>
        </p:txBody>
      </p:sp>
    </p:spTree>
    <p:extLst>
      <p:ext uri="{BB962C8B-B14F-4D97-AF65-F5344CB8AC3E}">
        <p14:creationId xmlns:p14="http://schemas.microsoft.com/office/powerpoint/2010/main" val="204281178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t>Symmetric and Asymmetric Key Encryption</a:t>
            </a:r>
            <a:endParaRPr lang="en-US" dirty="0"/>
          </a:p>
        </p:txBody>
      </p:sp>
      <p:sp>
        <p:nvSpPr>
          <p:cNvPr id="3" name="Content Placeholder 2"/>
          <p:cNvSpPr>
            <a:spLocks noGrp="1"/>
          </p:cNvSpPr>
          <p:nvPr>
            <p:ph idx="1"/>
          </p:nvPr>
        </p:nvSpPr>
        <p:spPr>
          <a:xfrm>
            <a:off x="838200" y="1097280"/>
            <a:ext cx="10515600" cy="5079683"/>
          </a:xfrm>
        </p:spPr>
        <p:txBody>
          <a:bodyPr/>
          <a:lstStyle/>
          <a:p>
            <a:r>
              <a:rPr lang="en-GB" dirty="0"/>
              <a:t>Encryption is one of the most basic concepts in the world of cybersecurity as it ensures that some information does not fall into the wrong hands. </a:t>
            </a:r>
            <a:endParaRPr lang="en-GB" dirty="0" smtClean="0"/>
          </a:p>
          <a:p>
            <a:r>
              <a:rPr lang="en-GB" dirty="0" smtClean="0"/>
              <a:t>There </a:t>
            </a:r>
            <a:r>
              <a:rPr lang="en-GB" dirty="0"/>
              <a:t>are two primary types of encryption techniques namely, symmetric key encryption and asymmetric key encryption. </a:t>
            </a:r>
            <a:endParaRPr lang="en-GB" dirty="0" smtClean="0"/>
          </a:p>
          <a:p>
            <a:r>
              <a:rPr lang="en-GB" dirty="0" smtClean="0"/>
              <a:t>Anyone </a:t>
            </a:r>
            <a:r>
              <a:rPr lang="en-GB" dirty="0"/>
              <a:t>involved in data security must know the differences between these two methods.</a:t>
            </a:r>
            <a:endParaRPr lang="en-US" dirty="0"/>
          </a:p>
        </p:txBody>
      </p:sp>
    </p:spTree>
    <p:extLst>
      <p:ext uri="{BB962C8B-B14F-4D97-AF65-F5344CB8AC3E}">
        <p14:creationId xmlns:p14="http://schemas.microsoft.com/office/powerpoint/2010/main" val="2318894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fontScale="90000"/>
          </a:bodyPr>
          <a:lstStyle/>
          <a:p>
            <a:r>
              <a:rPr lang="en-GB" b="1" dirty="0" smtClean="0"/>
              <a:t/>
            </a:r>
            <a:br>
              <a:rPr lang="en-GB" b="1" dirty="0" smtClean="0"/>
            </a:br>
            <a:r>
              <a:rPr lang="en-GB" b="1" dirty="0" smtClean="0"/>
              <a:t>What </a:t>
            </a:r>
            <a:r>
              <a:rPr lang="en-GB" b="1" dirty="0"/>
              <a:t>is Symmetric Key Encryption?</a:t>
            </a:r>
            <a:br>
              <a:rPr lang="en-GB" b="1" dirty="0"/>
            </a:br>
            <a:endParaRPr lang="en-US" dirty="0"/>
          </a:p>
        </p:txBody>
      </p:sp>
      <p:sp>
        <p:nvSpPr>
          <p:cNvPr id="3" name="Content Placeholder 2"/>
          <p:cNvSpPr>
            <a:spLocks noGrp="1"/>
          </p:cNvSpPr>
          <p:nvPr>
            <p:ph idx="1"/>
          </p:nvPr>
        </p:nvSpPr>
        <p:spPr>
          <a:xfrm>
            <a:off x="838200" y="1005840"/>
            <a:ext cx="10515600" cy="5852160"/>
          </a:xfrm>
        </p:spPr>
        <p:txBody>
          <a:bodyPr>
            <a:normAutofit/>
          </a:bodyPr>
          <a:lstStyle/>
          <a:p>
            <a:pPr fontAlgn="base"/>
            <a:r>
              <a:rPr lang="en-GB" dirty="0"/>
              <a:t>In Symmetric-key encryption the message is encrypted by using a key and the same key is used to decrypt the message which makes it easy to use but less secure</a:t>
            </a:r>
            <a:r>
              <a:rPr lang="en-GB" dirty="0" smtClean="0"/>
              <a:t>.</a:t>
            </a:r>
          </a:p>
          <a:p>
            <a:pPr fontAlgn="base"/>
            <a:r>
              <a:rPr lang="en-GB" dirty="0" smtClean="0"/>
              <a:t> </a:t>
            </a:r>
            <a:r>
              <a:rPr lang="en-GB" dirty="0"/>
              <a:t>It also requires a safe method to transfer the key from one party to another.</a:t>
            </a:r>
          </a:p>
          <a:p>
            <a:pPr fontAlgn="base"/>
            <a:r>
              <a:rPr lang="en-GB" dirty="0"/>
              <a:t>It uses one key for both encryption and decryption.</a:t>
            </a:r>
          </a:p>
          <a:p>
            <a:pPr fontAlgn="base"/>
            <a:r>
              <a:rPr lang="en-GB" dirty="0"/>
              <a:t>Faster and more efficient for large amounts of data.</a:t>
            </a:r>
          </a:p>
          <a:p>
            <a:pPr fontAlgn="base"/>
            <a:r>
              <a:rPr lang="en-GB" dirty="0"/>
              <a:t>Requires a secure method to share the key between sender and receiver.</a:t>
            </a:r>
          </a:p>
          <a:p>
            <a:pPr fontAlgn="base"/>
            <a:r>
              <a:rPr lang="en-GB" dirty="0"/>
              <a:t>Common algorithms include AES, DES, Blowfish.</a:t>
            </a:r>
          </a:p>
          <a:p>
            <a:pPr fontAlgn="base"/>
            <a:r>
              <a:rPr lang="en-GB" dirty="0"/>
              <a:t>It is used in file encryption, VPNs, and secure data storage.</a:t>
            </a:r>
          </a:p>
          <a:p>
            <a:endParaRPr lang="en-US" dirty="0"/>
          </a:p>
        </p:txBody>
      </p:sp>
    </p:spTree>
    <p:extLst>
      <p:ext uri="{BB962C8B-B14F-4D97-AF65-F5344CB8AC3E}">
        <p14:creationId xmlns:p14="http://schemas.microsoft.com/office/powerpoint/2010/main" val="2105540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normAutofit fontScale="90000"/>
          </a:bodyPr>
          <a:lstStyle/>
          <a:p>
            <a:r>
              <a:rPr lang="en-GB" b="1" dirty="0" smtClean="0"/>
              <a:t/>
            </a:r>
            <a:br>
              <a:rPr lang="en-GB" b="1" dirty="0" smtClean="0"/>
            </a:br>
            <a:r>
              <a:rPr lang="en-GB" b="1" dirty="0" smtClean="0"/>
              <a:t>What </a:t>
            </a:r>
            <a:r>
              <a:rPr lang="en-GB" b="1" dirty="0"/>
              <a:t>is Asymmetric Key Encryption?</a:t>
            </a:r>
            <a:br>
              <a:rPr lang="en-GB" b="1" dirty="0"/>
            </a:br>
            <a:endParaRPr lang="en-US" dirty="0"/>
          </a:p>
        </p:txBody>
      </p:sp>
      <p:sp>
        <p:nvSpPr>
          <p:cNvPr id="3" name="Content Placeholder 2"/>
          <p:cNvSpPr>
            <a:spLocks noGrp="1"/>
          </p:cNvSpPr>
          <p:nvPr>
            <p:ph idx="1"/>
          </p:nvPr>
        </p:nvSpPr>
        <p:spPr>
          <a:xfrm>
            <a:off x="838200" y="953589"/>
            <a:ext cx="10515600" cy="5904411"/>
          </a:xfrm>
        </p:spPr>
        <p:txBody>
          <a:bodyPr>
            <a:normAutofit/>
          </a:bodyPr>
          <a:lstStyle/>
          <a:p>
            <a:pPr fontAlgn="base"/>
            <a:r>
              <a:rPr lang="en-GB" dirty="0"/>
              <a:t>Asymmetric key encryption is one of the most common cryptographic methods that involve using a single key and its pendent, where one key is used to encrypt data and the second one is used to decrypt an encrypted text. </a:t>
            </a:r>
            <a:endParaRPr lang="en-GB" dirty="0" smtClean="0"/>
          </a:p>
          <a:p>
            <a:pPr fontAlgn="base"/>
            <a:r>
              <a:rPr lang="en-GB" dirty="0" smtClean="0"/>
              <a:t>The </a:t>
            </a:r>
            <a:r>
              <a:rPr lang="en-GB" dirty="0"/>
              <a:t>second key is kept highly secret, while the first one which is called a </a:t>
            </a:r>
            <a:r>
              <a:rPr lang="en-GB" u="sng" dirty="0">
                <a:hlinkClick r:id="rId2"/>
              </a:rPr>
              <a:t>public key</a:t>
            </a:r>
            <a:r>
              <a:rPr lang="en-GB" dirty="0"/>
              <a:t> can be freely distributed among the service’s users.</a:t>
            </a:r>
          </a:p>
          <a:p>
            <a:pPr fontAlgn="base"/>
            <a:r>
              <a:rPr lang="en-GB" dirty="0"/>
              <a:t>It uses two keys a public key for encryption and a private key for decryption.</a:t>
            </a:r>
          </a:p>
          <a:p>
            <a:pPr fontAlgn="base"/>
            <a:r>
              <a:rPr lang="en-GB" dirty="0"/>
              <a:t>More secure but slower than symmetric encryption.</a:t>
            </a:r>
          </a:p>
          <a:p>
            <a:pPr fontAlgn="base"/>
            <a:r>
              <a:rPr lang="en-GB" dirty="0"/>
              <a:t>No need to share the private key, reducing the risk of exposure.</a:t>
            </a:r>
          </a:p>
          <a:p>
            <a:pPr fontAlgn="base"/>
            <a:r>
              <a:rPr lang="en-GB" dirty="0"/>
              <a:t>Common algorithms include RSA, ECC, </a:t>
            </a:r>
            <a:r>
              <a:rPr lang="en-GB" dirty="0" err="1"/>
              <a:t>Diffie</a:t>
            </a:r>
            <a:r>
              <a:rPr lang="en-GB" dirty="0"/>
              <a:t>-Hellman.</a:t>
            </a:r>
          </a:p>
          <a:p>
            <a:pPr fontAlgn="base"/>
            <a:r>
              <a:rPr lang="en-GB" dirty="0"/>
              <a:t>It is used in digital signatures, SSL/TLS, and secure email communication.</a:t>
            </a:r>
          </a:p>
          <a:p>
            <a:endParaRPr lang="en-US" dirty="0"/>
          </a:p>
        </p:txBody>
      </p:sp>
    </p:spTree>
    <p:extLst>
      <p:ext uri="{BB962C8B-B14F-4D97-AF65-F5344CB8AC3E}">
        <p14:creationId xmlns:p14="http://schemas.microsoft.com/office/powerpoint/2010/main" val="385040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31521" y="352697"/>
            <a:ext cx="10502536" cy="6309360"/>
          </a:xfrm>
          <a:prstGeom prst="rect">
            <a:avLst/>
          </a:prstGeom>
        </p:spPr>
      </p:pic>
    </p:spTree>
    <p:extLst>
      <p:ext uri="{BB962C8B-B14F-4D97-AF65-F5344CB8AC3E}">
        <p14:creationId xmlns:p14="http://schemas.microsoft.com/office/powerpoint/2010/main" val="24899213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211621911"/>
              </p:ext>
            </p:extLst>
          </p:nvPr>
        </p:nvGraphicFramePr>
        <p:xfrm>
          <a:off x="838200" y="287383"/>
          <a:ext cx="10515600" cy="6348547"/>
        </p:xfrm>
        <a:graphic>
          <a:graphicData uri="http://schemas.openxmlformats.org/drawingml/2006/table">
            <a:tbl>
              <a:tblPr/>
              <a:tblGrid>
                <a:gridCol w="5257800">
                  <a:extLst>
                    <a:ext uri="{9D8B030D-6E8A-4147-A177-3AD203B41FA5}">
                      <a16:colId xmlns:a16="http://schemas.microsoft.com/office/drawing/2014/main" val="2571196017"/>
                    </a:ext>
                  </a:extLst>
                </a:gridCol>
                <a:gridCol w="5257800">
                  <a:extLst>
                    <a:ext uri="{9D8B030D-6E8A-4147-A177-3AD203B41FA5}">
                      <a16:colId xmlns:a16="http://schemas.microsoft.com/office/drawing/2014/main" val="1311609316"/>
                    </a:ext>
                  </a:extLst>
                </a:gridCol>
              </a:tblGrid>
              <a:tr h="890140">
                <a:tc>
                  <a:txBody>
                    <a:bodyPr/>
                    <a:lstStyle/>
                    <a:p>
                      <a:pPr algn="just" fontAlgn="base"/>
                      <a:r>
                        <a:rPr lang="en-US" sz="1400" b="1">
                          <a:effectLst/>
                        </a:rPr>
                        <a:t>Symmetric Key Encryption</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just" fontAlgn="base"/>
                      <a:r>
                        <a:rPr lang="en-US" sz="1400" b="1">
                          <a:effectLst/>
                        </a:rPr>
                        <a:t>Asymmetric Key Encryption</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187088403"/>
                  </a:ext>
                </a:extLst>
              </a:tr>
              <a:tr h="1427583">
                <a:tc>
                  <a:txBody>
                    <a:bodyPr/>
                    <a:lstStyle/>
                    <a:p>
                      <a:pPr algn="just" fontAlgn="ctr"/>
                      <a:r>
                        <a:rPr lang="en-GB" sz="1250" b="0">
                          <a:effectLst/>
                        </a:rPr>
                        <a:t>It only requires a single key for both encryption and decryption.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It requires two keys, a public key and a private key, one to encrypt and the other to decrypt.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6681474"/>
                  </a:ext>
                </a:extLst>
              </a:tr>
              <a:tr h="1007706">
                <a:tc>
                  <a:txBody>
                    <a:bodyPr/>
                    <a:lstStyle/>
                    <a:p>
                      <a:pPr algn="just" fontAlgn="ctr"/>
                      <a:r>
                        <a:rPr lang="en-GB" sz="1250" b="0">
                          <a:effectLst/>
                        </a:rPr>
                        <a:t>The size of ciphertext is the same or smaller than the original plaintext.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The size of ciphertext is the same or larger than the original plaintext.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95740648"/>
                  </a:ext>
                </a:extLst>
              </a:tr>
              <a:tr h="1007706">
                <a:tc>
                  <a:txBody>
                    <a:bodyPr/>
                    <a:lstStyle/>
                    <a:p>
                      <a:pPr algn="just" fontAlgn="ctr"/>
                      <a:r>
                        <a:rPr lang="en-GB" sz="1250" b="0">
                          <a:effectLst/>
                        </a:rPr>
                        <a:t>The encryption process is very fast.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The encryption process is slow.</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30308458"/>
                  </a:ext>
                </a:extLst>
              </a:tr>
              <a:tr h="1007706">
                <a:tc>
                  <a:txBody>
                    <a:bodyPr/>
                    <a:lstStyle/>
                    <a:p>
                      <a:pPr algn="just" fontAlgn="ctr"/>
                      <a:r>
                        <a:rPr lang="en-GB" sz="1250" b="0">
                          <a:effectLst/>
                        </a:rPr>
                        <a:t>It is used when a large amount of data needs to be transferred.</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It is used to transfer small amount of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05155091"/>
                  </a:ext>
                </a:extLst>
              </a:tr>
              <a:tr h="1007706">
                <a:tc>
                  <a:txBody>
                    <a:bodyPr/>
                    <a:lstStyle/>
                    <a:p>
                      <a:pPr algn="just" fontAlgn="ctr"/>
                      <a:r>
                        <a:rPr lang="en-US" sz="1250" b="0">
                          <a:effectLst/>
                        </a:rPr>
                        <a:t>It only provides confidentiality.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dirty="0">
                          <a:effectLst/>
                        </a:rPr>
                        <a:t>It provides confidentiality, authenticity, and non-repudiation.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00674976"/>
                  </a:ext>
                </a:extLst>
              </a:tr>
            </a:tbl>
          </a:graphicData>
        </a:graphic>
      </p:graphicFrame>
    </p:spTree>
    <p:extLst>
      <p:ext uri="{BB962C8B-B14F-4D97-AF65-F5344CB8AC3E}">
        <p14:creationId xmlns:p14="http://schemas.microsoft.com/office/powerpoint/2010/main" val="42564626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1544709520"/>
              </p:ext>
            </p:extLst>
          </p:nvPr>
        </p:nvGraphicFramePr>
        <p:xfrm>
          <a:off x="838200" y="195943"/>
          <a:ext cx="10515600" cy="6400799"/>
        </p:xfrm>
        <a:graphic>
          <a:graphicData uri="http://schemas.openxmlformats.org/drawingml/2006/table">
            <a:tbl>
              <a:tblPr/>
              <a:tblGrid>
                <a:gridCol w="5257800">
                  <a:extLst>
                    <a:ext uri="{9D8B030D-6E8A-4147-A177-3AD203B41FA5}">
                      <a16:colId xmlns:a16="http://schemas.microsoft.com/office/drawing/2014/main" val="2604471961"/>
                    </a:ext>
                  </a:extLst>
                </a:gridCol>
                <a:gridCol w="5257800">
                  <a:extLst>
                    <a:ext uri="{9D8B030D-6E8A-4147-A177-3AD203B41FA5}">
                      <a16:colId xmlns:a16="http://schemas.microsoft.com/office/drawing/2014/main" val="2078562459"/>
                    </a:ext>
                  </a:extLst>
                </a:gridCol>
              </a:tblGrid>
              <a:tr h="717847">
                <a:tc>
                  <a:txBody>
                    <a:bodyPr/>
                    <a:lstStyle/>
                    <a:p>
                      <a:pPr algn="just" fontAlgn="ctr"/>
                      <a:r>
                        <a:rPr lang="en-GB" sz="1250" b="0">
                          <a:effectLst/>
                        </a:rPr>
                        <a:t>The length of key used is 128 or 256 bits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The  length of key used is 2048 or higher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003105154"/>
                  </a:ext>
                </a:extLst>
              </a:tr>
              <a:tr h="1016949">
                <a:tc>
                  <a:txBody>
                    <a:bodyPr/>
                    <a:lstStyle/>
                    <a:p>
                      <a:pPr algn="just" fontAlgn="ctr"/>
                      <a:r>
                        <a:rPr lang="en-GB" sz="1250" b="0">
                          <a:effectLst/>
                        </a:rPr>
                        <a:t>In symmetric key encryption, resource utilization is low compared to asymmetric key encryption.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In asymmetric key encryption, resource utilization is high.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51267275"/>
                  </a:ext>
                </a:extLst>
              </a:tr>
              <a:tr h="717847">
                <a:tc>
                  <a:txBody>
                    <a:bodyPr/>
                    <a:lstStyle/>
                    <a:p>
                      <a:pPr algn="just" fontAlgn="ctr"/>
                      <a:r>
                        <a:rPr lang="en-GB" sz="1250" b="0">
                          <a:effectLst/>
                        </a:rPr>
                        <a:t>It is efficient as it is used for handling large amount of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It is comparatively less efficient as it can handle a small amount of data.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060298326"/>
                  </a:ext>
                </a:extLst>
              </a:tr>
              <a:tr h="1016949">
                <a:tc>
                  <a:txBody>
                    <a:bodyPr/>
                    <a:lstStyle/>
                    <a:p>
                      <a:pPr algn="just" fontAlgn="ctr"/>
                      <a:r>
                        <a:rPr lang="en-GB" sz="1250" b="0">
                          <a:effectLst/>
                        </a:rPr>
                        <a:t>Security is lower as only one key is used for both encryption and decryption purposes.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0">
                          <a:effectLst/>
                        </a:rPr>
                        <a:t>Security is higher as two keys are used, one for encryption and the other for decryption.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59554980"/>
                  </a:ext>
                </a:extLst>
              </a:tr>
              <a:tr h="2213360">
                <a:tc>
                  <a:txBody>
                    <a:bodyPr/>
                    <a:lstStyle/>
                    <a:p>
                      <a:pPr algn="just" rtl="0" fontAlgn="base"/>
                      <a:r>
                        <a:rPr lang="en-GB" sz="1250" b="0">
                          <a:effectLst/>
                        </a:rPr>
                        <a:t>The Mathematical Representation is as follows-</a:t>
                      </a:r>
                      <a:br>
                        <a:rPr lang="en-GB" sz="1250" b="0">
                          <a:effectLst/>
                        </a:rPr>
                      </a:br>
                      <a:r>
                        <a:rPr lang="en-GB" sz="1250" b="0">
                          <a:effectLst/>
                        </a:rPr>
                        <a:t>P = D (K, E(K, P))</a:t>
                      </a:r>
                    </a:p>
                    <a:p>
                      <a:pPr algn="just" rtl="0" fontAlgn="base"/>
                      <a:r>
                        <a:rPr lang="en-GB" sz="1250" b="0">
                          <a:effectLst/>
                        </a:rPr>
                        <a:t>where K --&gt; encryption and decryption key</a:t>
                      </a:r>
                      <a:br>
                        <a:rPr lang="en-GB" sz="1250" b="0">
                          <a:effectLst/>
                        </a:rPr>
                      </a:br>
                      <a:r>
                        <a:rPr lang="en-GB" sz="1250" b="0">
                          <a:effectLst/>
                        </a:rPr>
                        <a:t>P --&gt; plain text</a:t>
                      </a:r>
                      <a:br>
                        <a:rPr lang="en-GB" sz="1250" b="0">
                          <a:effectLst/>
                        </a:rPr>
                      </a:br>
                      <a:r>
                        <a:rPr lang="en-GB" sz="1250" b="0">
                          <a:effectLst/>
                        </a:rPr>
                        <a:t>D --&gt; Decryption </a:t>
                      </a:r>
                      <a:br>
                        <a:rPr lang="en-GB" sz="1250" b="0">
                          <a:effectLst/>
                        </a:rPr>
                      </a:br>
                      <a:r>
                        <a:rPr lang="en-GB" sz="1250" b="0">
                          <a:effectLst/>
                        </a:rPr>
                        <a:t>E(K, P) --&gt; Encryption of plain text using K</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rtl="0" fontAlgn="base"/>
                      <a:r>
                        <a:rPr lang="en-GB" sz="1250" b="0">
                          <a:effectLst/>
                        </a:rPr>
                        <a:t>The Mathematical Representation is as follows-</a:t>
                      </a:r>
                      <a:br>
                        <a:rPr lang="en-GB" sz="1250" b="0">
                          <a:effectLst/>
                        </a:rPr>
                      </a:br>
                      <a:r>
                        <a:rPr lang="en-GB" sz="1250" b="0">
                          <a:effectLst/>
                        </a:rPr>
                        <a:t>P = D(Kd, E (Ke,P))</a:t>
                      </a:r>
                      <a:br>
                        <a:rPr lang="en-GB" sz="1250" b="0">
                          <a:effectLst/>
                        </a:rPr>
                      </a:br>
                      <a:r>
                        <a:rPr lang="en-GB" sz="1250" b="0">
                          <a:effectLst/>
                        </a:rPr>
                        <a:t>where Ke --&gt; encryption key</a:t>
                      </a:r>
                    </a:p>
                    <a:p>
                      <a:pPr algn="just" rtl="0" fontAlgn="base"/>
                      <a:r>
                        <a:rPr lang="en-GB" sz="1250" b="0">
                          <a:effectLst/>
                        </a:rPr>
                        <a:t>Kd --&gt; decryption key</a:t>
                      </a:r>
                      <a:br>
                        <a:rPr lang="en-GB" sz="1250" b="0">
                          <a:effectLst/>
                        </a:rPr>
                      </a:br>
                      <a:r>
                        <a:rPr lang="en-GB" sz="1250" b="0">
                          <a:effectLst/>
                        </a:rPr>
                        <a:t>D --&gt; Decryption</a:t>
                      </a:r>
                      <a:br>
                        <a:rPr lang="en-GB" sz="1250" b="0">
                          <a:effectLst/>
                        </a:rPr>
                      </a:br>
                      <a:r>
                        <a:rPr lang="en-GB" sz="1250" b="0">
                          <a:effectLst/>
                        </a:rPr>
                        <a:t>E(Ke, P) --&gt; Encryption of plain text using encryption key Ke. P --&gt; plain text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21451564"/>
                  </a:ext>
                </a:extLst>
              </a:tr>
              <a:tr h="717847">
                <a:tc>
                  <a:txBody>
                    <a:bodyPr/>
                    <a:lstStyle/>
                    <a:p>
                      <a:pPr algn="just" fontAlgn="ctr"/>
                      <a:r>
                        <a:rPr lang="fr-FR" sz="1250" b="1">
                          <a:effectLst/>
                        </a:rPr>
                        <a:t>Examples:</a:t>
                      </a:r>
                      <a:r>
                        <a:rPr lang="fr-FR" sz="1250" b="0">
                          <a:effectLst/>
                        </a:rPr>
                        <a:t> 3DES, AES, DES and RC4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just" fontAlgn="ctr"/>
                      <a:r>
                        <a:rPr lang="en-GB" sz="1250" b="1" dirty="0">
                          <a:effectLst/>
                        </a:rPr>
                        <a:t>Examples: </a:t>
                      </a:r>
                      <a:r>
                        <a:rPr lang="en-GB" sz="1250" b="0" dirty="0" err="1">
                          <a:effectLst/>
                        </a:rPr>
                        <a:t>Diffie</a:t>
                      </a:r>
                      <a:r>
                        <a:rPr lang="en-GB" sz="1250" b="0" dirty="0">
                          <a:effectLst/>
                        </a:rPr>
                        <a:t>-Hellman, ECC, El Gamal, DSA and RSA</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034690"/>
                  </a:ext>
                </a:extLst>
              </a:tr>
            </a:tbl>
          </a:graphicData>
        </a:graphic>
      </p:graphicFrame>
    </p:spTree>
    <p:extLst>
      <p:ext uri="{BB962C8B-B14F-4D97-AF65-F5344CB8AC3E}">
        <p14:creationId xmlns:p14="http://schemas.microsoft.com/office/powerpoint/2010/main" val="37671138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Security in Network, Transport and Application: </a:t>
            </a:r>
            <a:endParaRPr lang="en-US"/>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8034683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
            <a:ext cx="10515600" cy="666206"/>
          </a:xfrm>
        </p:spPr>
        <p:txBody>
          <a:bodyPr>
            <a:normAutofit fontScale="90000"/>
          </a:bodyPr>
          <a:lstStyle/>
          <a:p>
            <a:r>
              <a:rPr lang="en-US" dirty="0" smtClean="0"/>
              <a:t>Introduction of </a:t>
            </a:r>
            <a:r>
              <a:rPr lang="en-US" dirty="0" err="1" smtClean="0"/>
              <a:t>IPSec</a:t>
            </a:r>
            <a:endParaRPr lang="en-US" dirty="0"/>
          </a:p>
        </p:txBody>
      </p:sp>
      <p:sp>
        <p:nvSpPr>
          <p:cNvPr id="3" name="Content Placeholder 2"/>
          <p:cNvSpPr>
            <a:spLocks noGrp="1"/>
          </p:cNvSpPr>
          <p:nvPr>
            <p:ph idx="1"/>
          </p:nvPr>
        </p:nvSpPr>
        <p:spPr>
          <a:xfrm>
            <a:off x="838200" y="653144"/>
            <a:ext cx="10515600" cy="6204856"/>
          </a:xfrm>
        </p:spPr>
        <p:txBody>
          <a:bodyPr/>
          <a:lstStyle/>
          <a:p>
            <a:r>
              <a:rPr lang="en-GB" dirty="0"/>
              <a:t>IPsec, or Internet Protocol Security, is a standardized suite of protocols that secures IP communications by encrypting and authenticating each IP packet of a data stream. </a:t>
            </a:r>
            <a:endParaRPr lang="en-GB" dirty="0" smtClean="0"/>
          </a:p>
          <a:p>
            <a:r>
              <a:rPr lang="en-GB" dirty="0" smtClean="0"/>
              <a:t>It </a:t>
            </a:r>
            <a:r>
              <a:rPr lang="en-GB" dirty="0"/>
              <a:t>provides confidentiality, integrity, and authentication for data transmitted over a network, often used to establish secure VPN connections between two points, such as a user's device and a corporate network. </a:t>
            </a:r>
            <a:endParaRPr lang="en-GB" dirty="0" smtClean="0"/>
          </a:p>
          <a:p>
            <a:r>
              <a:rPr lang="en-GB" dirty="0" smtClean="0"/>
              <a:t>The </a:t>
            </a:r>
            <a:r>
              <a:rPr lang="en-GB" dirty="0"/>
              <a:t>framework involves two primary phases, starting with </a:t>
            </a:r>
            <a:r>
              <a:rPr lang="en-GB" dirty="0">
                <a:hlinkClick r:id="rId2"/>
              </a:rPr>
              <a:t>Internet Key Exchange (IKE)</a:t>
            </a:r>
            <a:r>
              <a:rPr lang="en-GB" dirty="0"/>
              <a:t> for establishing security associations and exchanging keys, followed by encrypting and authenticating the actual data packets using protocols like </a:t>
            </a:r>
            <a:r>
              <a:rPr lang="en-GB" dirty="0">
                <a:hlinkClick r:id="rId3"/>
              </a:rPr>
              <a:t>Authentication Header (AH)</a:t>
            </a:r>
            <a:r>
              <a:rPr lang="en-GB" dirty="0"/>
              <a:t> and </a:t>
            </a:r>
            <a:r>
              <a:rPr lang="en-GB" dirty="0">
                <a:hlinkClick r:id="rId4"/>
              </a:rPr>
              <a:t>Encapsulating Security Payload (ESP)</a:t>
            </a:r>
            <a:r>
              <a:rPr lang="en-GB" dirty="0"/>
              <a:t>.  </a:t>
            </a:r>
            <a:endParaRPr lang="en-US" dirty="0"/>
          </a:p>
        </p:txBody>
      </p:sp>
    </p:spTree>
    <p:extLst>
      <p:ext uri="{BB962C8B-B14F-4D97-AF65-F5344CB8AC3E}">
        <p14:creationId xmlns:p14="http://schemas.microsoft.com/office/powerpoint/2010/main" val="5445189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US" dirty="0"/>
              <a:t>How IPsec Works</a:t>
            </a:r>
          </a:p>
        </p:txBody>
      </p:sp>
      <p:sp>
        <p:nvSpPr>
          <p:cNvPr id="3" name="Content Placeholder 2"/>
          <p:cNvSpPr>
            <a:spLocks noGrp="1"/>
          </p:cNvSpPr>
          <p:nvPr>
            <p:ph idx="1"/>
          </p:nvPr>
        </p:nvSpPr>
        <p:spPr>
          <a:xfrm>
            <a:off x="838200" y="1031966"/>
            <a:ext cx="10515600" cy="5144997"/>
          </a:xfrm>
        </p:spPr>
        <p:txBody>
          <a:bodyPr/>
          <a:lstStyle/>
          <a:p>
            <a:r>
              <a:rPr lang="en-GB" dirty="0" smtClean="0"/>
              <a:t>Authentication and Key Exchange (IKE): </a:t>
            </a:r>
          </a:p>
          <a:p>
            <a:r>
              <a:rPr lang="en-GB" dirty="0" smtClean="0"/>
              <a:t>This is the first phase where two devices (peers) use the Internet Key Exchange (IKE) protocol to authenticate each other.</a:t>
            </a:r>
          </a:p>
          <a:p>
            <a:r>
              <a:rPr lang="en-GB" dirty="0" smtClean="0"/>
              <a:t> They establish a secure channel and agree on the cryptographic keys that will be used for the actual data. </a:t>
            </a:r>
          </a:p>
          <a:p>
            <a:r>
              <a:rPr lang="en-GB" dirty="0" smtClean="0"/>
              <a:t>Data Encryption and Integrity:</a:t>
            </a:r>
          </a:p>
          <a:p>
            <a:pPr marL="457200" lvl="1" indent="0">
              <a:buNone/>
            </a:pPr>
            <a:r>
              <a:rPr lang="en-GB" dirty="0" smtClean="0"/>
              <a:t> In the second phase, IPsec protocols like AH and ESP are used to encrypt the data and ensure its integrity. </a:t>
            </a:r>
          </a:p>
          <a:p>
            <a:pPr lvl="1"/>
            <a:r>
              <a:rPr lang="en-GB" dirty="0" smtClean="0"/>
              <a:t>ESP (Encapsulating Security Payload): Encrypts and authenticates the IP packet's data. </a:t>
            </a:r>
          </a:p>
          <a:p>
            <a:pPr lvl="1"/>
            <a:r>
              <a:rPr lang="en-GB" dirty="0" smtClean="0"/>
              <a:t>AH (Authentication Header): Provides authentication and integrity for the entire IP packet. </a:t>
            </a:r>
            <a:endParaRPr lang="en-US" dirty="0"/>
          </a:p>
        </p:txBody>
      </p:sp>
    </p:spTree>
    <p:extLst>
      <p:ext uri="{BB962C8B-B14F-4D97-AF65-F5344CB8AC3E}">
        <p14:creationId xmlns:p14="http://schemas.microsoft.com/office/powerpoint/2010/main" val="350417413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1031966"/>
            <a:ext cx="10515600" cy="5144997"/>
          </a:xfrm>
        </p:spPr>
        <p:txBody>
          <a:bodyPr/>
          <a:lstStyle/>
          <a:p>
            <a:r>
              <a:rPr lang="en-GB" dirty="0" smtClean="0"/>
              <a:t>Modes of Operation: IPsec can operate in two modes: </a:t>
            </a:r>
          </a:p>
          <a:p>
            <a:r>
              <a:rPr lang="en-GB" dirty="0" smtClean="0"/>
              <a:t>Tunnel Mode: Encapsulates the entire original IP packet within a new IP packet, providing comprehensive security. </a:t>
            </a:r>
          </a:p>
          <a:p>
            <a:r>
              <a:rPr lang="en-GB" dirty="0" smtClean="0"/>
              <a:t>Transport Mode: Secures only the data payload of the IP packet, leaving the original IP header unchanged. </a:t>
            </a:r>
            <a:endParaRPr lang="en-US" dirty="0"/>
          </a:p>
        </p:txBody>
      </p:sp>
    </p:spTree>
    <p:extLst>
      <p:ext uri="{BB962C8B-B14F-4D97-AF65-F5344CB8AC3E}">
        <p14:creationId xmlns:p14="http://schemas.microsoft.com/office/powerpoint/2010/main" val="332004273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US" dirty="0"/>
              <a:t>Key Features</a:t>
            </a:r>
          </a:p>
        </p:txBody>
      </p:sp>
      <p:sp>
        <p:nvSpPr>
          <p:cNvPr id="3" name="Content Placeholder 2"/>
          <p:cNvSpPr>
            <a:spLocks noGrp="1"/>
          </p:cNvSpPr>
          <p:nvPr>
            <p:ph idx="1"/>
          </p:nvPr>
        </p:nvSpPr>
        <p:spPr>
          <a:xfrm>
            <a:off x="838200" y="1306286"/>
            <a:ext cx="10515600" cy="4870677"/>
          </a:xfrm>
        </p:spPr>
        <p:txBody>
          <a:bodyPr/>
          <a:lstStyle/>
          <a:p>
            <a:r>
              <a:rPr lang="en-GB" dirty="0" smtClean="0"/>
              <a:t>Confidentiality: Prevents unauthorized parties from reading data. </a:t>
            </a:r>
          </a:p>
          <a:p>
            <a:r>
              <a:rPr lang="en-GB" dirty="0" smtClean="0"/>
              <a:t>Integrity: Ensures that data has not been modified during transit. </a:t>
            </a:r>
          </a:p>
          <a:p>
            <a:r>
              <a:rPr lang="en-GB" dirty="0" smtClean="0"/>
              <a:t>Authentication: Verifies the identity of the communicating devices. </a:t>
            </a:r>
          </a:p>
          <a:p>
            <a:r>
              <a:rPr lang="en-GB" dirty="0" smtClean="0"/>
              <a:t>Network Layer Security: Operates at the network layer (Layer 3) of the OSI model, providing security for IP-based communication. </a:t>
            </a:r>
            <a:endParaRPr lang="en-US" dirty="0"/>
          </a:p>
        </p:txBody>
      </p:sp>
    </p:spTree>
    <p:extLst>
      <p:ext uri="{BB962C8B-B14F-4D97-AF65-F5344CB8AC3E}">
        <p14:creationId xmlns:p14="http://schemas.microsoft.com/office/powerpoint/2010/main" val="370880436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3595"/>
          </a:xfrm>
        </p:spPr>
        <p:txBody>
          <a:bodyPr/>
          <a:lstStyle/>
          <a:p>
            <a:r>
              <a:rPr lang="en-US" dirty="0"/>
              <a:t>Common Use Cases</a:t>
            </a:r>
          </a:p>
        </p:txBody>
      </p:sp>
      <p:sp>
        <p:nvSpPr>
          <p:cNvPr id="3" name="Content Placeholder 2"/>
          <p:cNvSpPr>
            <a:spLocks noGrp="1"/>
          </p:cNvSpPr>
          <p:nvPr>
            <p:ph idx="1"/>
          </p:nvPr>
        </p:nvSpPr>
        <p:spPr>
          <a:xfrm>
            <a:off x="838200" y="1188720"/>
            <a:ext cx="10515600" cy="4988243"/>
          </a:xfrm>
        </p:spPr>
        <p:txBody>
          <a:bodyPr/>
          <a:lstStyle/>
          <a:p>
            <a:r>
              <a:rPr lang="en-GB" dirty="0" smtClean="0"/>
              <a:t>IPsec VPNs: The most common use is to create a Virtual Private Network, allowing secure connections between users and networks or between two networks over the internet. </a:t>
            </a:r>
          </a:p>
          <a:p>
            <a:r>
              <a:rPr lang="en-GB" dirty="0" smtClean="0"/>
              <a:t>Secure Data Transfer: Secures data for applications that require robust end-to-end encryption and authentication. </a:t>
            </a:r>
            <a:endParaRPr lang="en-US" dirty="0"/>
          </a:p>
        </p:txBody>
      </p:sp>
    </p:spTree>
    <p:extLst>
      <p:ext uri="{BB962C8B-B14F-4D97-AF65-F5344CB8AC3E}">
        <p14:creationId xmlns:p14="http://schemas.microsoft.com/office/powerpoint/2010/main" val="158947249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66840"/>
          </a:xfrm>
        </p:spPr>
        <p:txBody>
          <a:bodyPr>
            <a:normAutofit fontScale="90000"/>
          </a:bodyPr>
          <a:lstStyle/>
          <a:p>
            <a:r>
              <a:rPr lang="en-GB" dirty="0" smtClean="0"/>
              <a:t>SSL-</a:t>
            </a:r>
            <a:endParaRPr lang="en-US" dirty="0"/>
          </a:p>
        </p:txBody>
      </p:sp>
      <p:sp>
        <p:nvSpPr>
          <p:cNvPr id="3" name="Content Placeholder 2"/>
          <p:cNvSpPr>
            <a:spLocks noGrp="1"/>
          </p:cNvSpPr>
          <p:nvPr>
            <p:ph idx="1"/>
          </p:nvPr>
        </p:nvSpPr>
        <p:spPr>
          <a:xfrm>
            <a:off x="838200" y="1031966"/>
            <a:ext cx="10515600" cy="5144997"/>
          </a:xfrm>
        </p:spPr>
        <p:txBody>
          <a:bodyPr/>
          <a:lstStyle/>
          <a:p>
            <a:r>
              <a:rPr lang="en-GB" dirty="0"/>
              <a:t>SSL (Secure Sockets Layer) is an older internet security protocol, now largely replaced by TLS (Transport Layer Security), that encrypts data transmitted between a client and a server for privacy and security. </a:t>
            </a:r>
            <a:endParaRPr lang="en-GB" dirty="0" smtClean="0"/>
          </a:p>
          <a:p>
            <a:r>
              <a:rPr lang="en-GB" dirty="0" smtClean="0"/>
              <a:t>Websites </a:t>
            </a:r>
            <a:r>
              <a:rPr lang="en-GB" dirty="0"/>
              <a:t>using SSL/TLS show "HTTPS" in their URL, and the system involves an SSL certificate to authenticate the server and a handshake to establish a secure, encrypted connection, ensuring data integrity and preventing unauthorized access.  </a:t>
            </a:r>
            <a:endParaRPr lang="en-US" dirty="0"/>
          </a:p>
        </p:txBody>
      </p:sp>
    </p:spTree>
    <p:extLst>
      <p:ext uri="{BB962C8B-B14F-4D97-AF65-F5344CB8AC3E}">
        <p14:creationId xmlns:p14="http://schemas.microsoft.com/office/powerpoint/2010/main" val="7087727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8464"/>
          </a:xfrm>
        </p:spPr>
        <p:txBody>
          <a:bodyPr>
            <a:normAutofit fontScale="90000"/>
          </a:bodyPr>
          <a:lstStyle/>
          <a:p>
            <a:r>
              <a:rPr lang="en-US" dirty="0"/>
              <a:t>What SSL/TLS does: </a:t>
            </a:r>
          </a:p>
        </p:txBody>
      </p:sp>
      <p:sp>
        <p:nvSpPr>
          <p:cNvPr id="3" name="Content Placeholder 2"/>
          <p:cNvSpPr>
            <a:spLocks noGrp="1"/>
          </p:cNvSpPr>
          <p:nvPr>
            <p:ph idx="1"/>
          </p:nvPr>
        </p:nvSpPr>
        <p:spPr>
          <a:xfrm>
            <a:off x="838200" y="1084217"/>
            <a:ext cx="10515600" cy="5092746"/>
          </a:xfrm>
        </p:spPr>
        <p:txBody>
          <a:bodyPr/>
          <a:lstStyle/>
          <a:p>
            <a:r>
              <a:rPr lang="en-GB" dirty="0" smtClean="0"/>
              <a:t>Encryption: It scrambles data sent over the internet, making it unreadable to anyone who might intercept it.</a:t>
            </a:r>
          </a:p>
          <a:p>
            <a:r>
              <a:rPr lang="en-GB" dirty="0" smtClean="0"/>
              <a:t>Authentication: It verifies the identity of the server (the website or application) to ensure that the user is communicating with the legitimate entity and not a malicious imposter.</a:t>
            </a:r>
          </a:p>
          <a:p>
            <a:r>
              <a:rPr lang="en-GB" dirty="0" smtClean="0"/>
              <a:t>Data Integrity: It ensures that the data hasn't been tampered with or altered during transmission.</a:t>
            </a:r>
            <a:endParaRPr lang="en-US" dirty="0"/>
          </a:p>
        </p:txBody>
      </p:sp>
    </p:spTree>
    <p:extLst>
      <p:ext uri="{BB962C8B-B14F-4D97-AF65-F5344CB8AC3E}">
        <p14:creationId xmlns:p14="http://schemas.microsoft.com/office/powerpoint/2010/main" val="290316485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469"/>
          </a:xfrm>
        </p:spPr>
        <p:txBody>
          <a:bodyPr/>
          <a:lstStyle/>
          <a:p>
            <a:r>
              <a:rPr lang="en-GB" dirty="0" smtClean="0"/>
              <a:t>Cont..</a:t>
            </a:r>
            <a:endParaRPr lang="en-US" dirty="0"/>
          </a:p>
        </p:txBody>
      </p:sp>
      <p:sp>
        <p:nvSpPr>
          <p:cNvPr id="3" name="Content Placeholder 2"/>
          <p:cNvSpPr>
            <a:spLocks noGrp="1"/>
          </p:cNvSpPr>
          <p:nvPr>
            <p:ph idx="1"/>
          </p:nvPr>
        </p:nvSpPr>
        <p:spPr>
          <a:xfrm>
            <a:off x="838200" y="1319349"/>
            <a:ext cx="10515600" cy="4857614"/>
          </a:xfrm>
        </p:spPr>
        <p:txBody>
          <a:bodyPr/>
          <a:lstStyle/>
          <a:p>
            <a:r>
              <a:rPr lang="en-GB" dirty="0" smtClean="0"/>
              <a:t>How it works (simplified):</a:t>
            </a:r>
          </a:p>
          <a:p>
            <a:r>
              <a:rPr lang="en-GB" dirty="0" smtClean="0"/>
              <a:t>Handshake: When you visit a secure website (HTTPS), your browser initiates a handshake with the server. </a:t>
            </a:r>
          </a:p>
          <a:p>
            <a:r>
              <a:rPr lang="en-GB" dirty="0" smtClean="0"/>
              <a:t>Certificate Exchange: The server presents its SSL certificate, which acts as a digital identity card verified by a trusted third party called a Certificate Authority (CA). </a:t>
            </a:r>
          </a:p>
          <a:p>
            <a:r>
              <a:rPr lang="en-GB" dirty="0" smtClean="0"/>
              <a:t>Key Exchange: The browser and server use public and private keys to establish a secure, encrypted communication channel. </a:t>
            </a:r>
          </a:p>
          <a:p>
            <a:r>
              <a:rPr lang="en-GB" dirty="0" smtClean="0"/>
              <a:t>Encrypted Connection: All future data transmitted between the browser and the server is encrypted. </a:t>
            </a:r>
            <a:endParaRPr lang="en-US" dirty="0"/>
          </a:p>
        </p:txBody>
      </p:sp>
    </p:spTree>
    <p:extLst>
      <p:ext uri="{BB962C8B-B14F-4D97-AF65-F5344CB8AC3E}">
        <p14:creationId xmlns:p14="http://schemas.microsoft.com/office/powerpoint/2010/main" val="314069762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US" dirty="0"/>
              <a:t>Why it's important:</a:t>
            </a:r>
          </a:p>
        </p:txBody>
      </p:sp>
      <p:sp>
        <p:nvSpPr>
          <p:cNvPr id="3" name="Content Placeholder 2"/>
          <p:cNvSpPr>
            <a:spLocks noGrp="1"/>
          </p:cNvSpPr>
          <p:nvPr>
            <p:ph idx="1"/>
          </p:nvPr>
        </p:nvSpPr>
        <p:spPr>
          <a:xfrm>
            <a:off x="838200" y="1267097"/>
            <a:ext cx="10515600" cy="4909866"/>
          </a:xfrm>
        </p:spPr>
        <p:txBody>
          <a:bodyPr/>
          <a:lstStyle/>
          <a:p>
            <a:r>
              <a:rPr lang="en-GB" dirty="0" smtClean="0"/>
              <a:t>Security: It protects sensitive information like usernames, passwords, and credit card details from being stolen by hackers. </a:t>
            </a:r>
          </a:p>
          <a:p>
            <a:r>
              <a:rPr lang="en-GB" dirty="0" smtClean="0"/>
              <a:t>Trust: An HTTPS connection helps users trust a website or application, especially for online transactions. </a:t>
            </a:r>
          </a:p>
          <a:p>
            <a:r>
              <a:rPr lang="en-GB" dirty="0" smtClean="0"/>
              <a:t>SEO: Search engines like Google </a:t>
            </a:r>
            <a:r>
              <a:rPr lang="en-GB" dirty="0" err="1" smtClean="0"/>
              <a:t>favor</a:t>
            </a:r>
            <a:r>
              <a:rPr lang="en-GB" dirty="0" smtClean="0"/>
              <a:t> secure websites, rewarding them with higher search rankings. </a:t>
            </a:r>
            <a:endParaRPr lang="en-US" dirty="0"/>
          </a:p>
        </p:txBody>
      </p:sp>
    </p:spTree>
    <p:extLst>
      <p:ext uri="{BB962C8B-B14F-4D97-AF65-F5344CB8AC3E}">
        <p14:creationId xmlns:p14="http://schemas.microsoft.com/office/powerpoint/2010/main" val="360384244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721"/>
          </a:xfrm>
        </p:spPr>
        <p:txBody>
          <a:bodyPr/>
          <a:lstStyle/>
          <a:p>
            <a:r>
              <a:rPr lang="en-GB" dirty="0" smtClean="0"/>
              <a:t>HTTPS</a:t>
            </a:r>
            <a:endParaRPr lang="en-US" dirty="0"/>
          </a:p>
        </p:txBody>
      </p:sp>
      <p:sp>
        <p:nvSpPr>
          <p:cNvPr id="3" name="Content Placeholder 2"/>
          <p:cNvSpPr>
            <a:spLocks noGrp="1"/>
          </p:cNvSpPr>
          <p:nvPr>
            <p:ph idx="1"/>
          </p:nvPr>
        </p:nvSpPr>
        <p:spPr>
          <a:xfrm>
            <a:off x="838200" y="1071154"/>
            <a:ext cx="10515600" cy="5617029"/>
          </a:xfrm>
        </p:spPr>
        <p:txBody>
          <a:bodyPr/>
          <a:lstStyle/>
          <a:p>
            <a:r>
              <a:rPr lang="en-GB" dirty="0"/>
              <a:t>HTTPS, or </a:t>
            </a:r>
            <a:r>
              <a:rPr lang="en-GB" dirty="0" err="1">
                <a:hlinkClick r:id="rId2"/>
              </a:rPr>
              <a:t>HyperText</a:t>
            </a:r>
            <a:r>
              <a:rPr lang="en-GB" dirty="0">
                <a:hlinkClick r:id="rId2"/>
              </a:rPr>
              <a:t> Transfer Protocol Secure</a:t>
            </a:r>
            <a:r>
              <a:rPr lang="en-GB" dirty="0"/>
              <a:t>, is the secure, encrypted version of the standard HTTP protocol for web communication, using </a:t>
            </a:r>
            <a:r>
              <a:rPr lang="en-GB" dirty="0">
                <a:hlinkClick r:id="rId3"/>
              </a:rPr>
              <a:t>SSL/TLS</a:t>
            </a:r>
            <a:r>
              <a:rPr lang="en-GB" dirty="0"/>
              <a:t> to encrypt data between a user's browser and a website, protecting sensitive information like passwords and credit card details from interception. </a:t>
            </a:r>
            <a:endParaRPr lang="en-GB" dirty="0" smtClean="0"/>
          </a:p>
          <a:p>
            <a:r>
              <a:rPr lang="en-GB" dirty="0" smtClean="0"/>
              <a:t>You </a:t>
            </a:r>
            <a:r>
              <a:rPr lang="en-GB" dirty="0"/>
              <a:t>can identify an HTTPS connection by a </a:t>
            </a:r>
            <a:r>
              <a:rPr lang="en-GB" dirty="0">
                <a:hlinkClick r:id="rId4"/>
              </a:rPr>
              <a:t>padlock icon</a:t>
            </a:r>
            <a:r>
              <a:rPr lang="en-GB" dirty="0"/>
              <a:t> in the address bar and the "https://" prefix in the URL, which indicates the website is secure and uses an SSL/TLS certificate to verify its identity.  </a:t>
            </a:r>
            <a:endParaRPr lang="en-GB" dirty="0" smtClean="0"/>
          </a:p>
          <a:p>
            <a:r>
              <a:rPr lang="en-GB" dirty="0"/>
              <a:t> HTTPS is the secure variant of HTTP and is used to communicate between the user's browser and the website, ensuring that data transfer is encrypted for added security</a:t>
            </a:r>
            <a:r>
              <a:rPr lang="en-GB" dirty="0" smtClean="0"/>
              <a:t>.</a:t>
            </a:r>
          </a:p>
          <a:p>
            <a:r>
              <a:rPr lang="en-GB" dirty="0"/>
              <a:t>Any website, especially those requiring login details, should use HTTPS.</a:t>
            </a:r>
            <a:endParaRPr lang="en-US" dirty="0"/>
          </a:p>
        </p:txBody>
      </p:sp>
    </p:spTree>
    <p:extLst>
      <p:ext uri="{BB962C8B-B14F-4D97-AF65-F5344CB8AC3E}">
        <p14:creationId xmlns:p14="http://schemas.microsoft.com/office/powerpoint/2010/main" val="39863116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286000" y="744583"/>
            <a:ext cx="7620000" cy="5161711"/>
          </a:xfrm>
          <a:prstGeom prst="rect">
            <a:avLst/>
          </a:prstGeom>
        </p:spPr>
      </p:pic>
    </p:spTree>
    <p:extLst>
      <p:ext uri="{BB962C8B-B14F-4D97-AF65-F5344CB8AC3E}">
        <p14:creationId xmlns:p14="http://schemas.microsoft.com/office/powerpoint/2010/main" val="14235056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US" b="1" dirty="0"/>
              <a:t>How Does HTTPS Work?</a:t>
            </a:r>
            <a:br>
              <a:rPr lang="en-US" b="1" dirty="0"/>
            </a:br>
            <a:endParaRPr lang="en-US" dirty="0"/>
          </a:p>
        </p:txBody>
      </p:sp>
      <p:sp>
        <p:nvSpPr>
          <p:cNvPr id="3" name="Content Placeholder 2"/>
          <p:cNvSpPr>
            <a:spLocks noGrp="1"/>
          </p:cNvSpPr>
          <p:nvPr>
            <p:ph idx="1"/>
          </p:nvPr>
        </p:nvSpPr>
        <p:spPr>
          <a:xfrm>
            <a:off x="838200" y="679269"/>
            <a:ext cx="10515600" cy="6048102"/>
          </a:xfrm>
        </p:spPr>
        <p:txBody>
          <a:bodyPr/>
          <a:lstStyle/>
          <a:p>
            <a:pPr fontAlgn="base"/>
            <a:r>
              <a:rPr lang="en-GB" dirty="0"/>
              <a:t>HTTPS establishes the communication between the browser and the web server. It uses the </a:t>
            </a:r>
            <a:r>
              <a:rPr lang="en-GB" b="1" dirty="0"/>
              <a:t>Secure Socket Layer </a:t>
            </a:r>
            <a:r>
              <a:rPr lang="en-GB" dirty="0"/>
              <a:t>(SSL) and </a:t>
            </a:r>
            <a:r>
              <a:rPr lang="en-GB" b="1" dirty="0"/>
              <a:t>Transport Layer Security</a:t>
            </a:r>
            <a:r>
              <a:rPr lang="en-GB" dirty="0"/>
              <a:t> (TLS) protocol for establishing communication. </a:t>
            </a:r>
            <a:endParaRPr lang="en-GB" dirty="0" smtClean="0"/>
          </a:p>
          <a:p>
            <a:pPr fontAlgn="base"/>
            <a:r>
              <a:rPr lang="en-GB" dirty="0" smtClean="0"/>
              <a:t>The </a:t>
            </a:r>
            <a:r>
              <a:rPr lang="en-GB" dirty="0"/>
              <a:t>new version of SSL is </a:t>
            </a:r>
            <a:r>
              <a:rPr lang="en-GB" b="1" dirty="0"/>
              <a:t>TLS(Transport Layer Security)</a:t>
            </a:r>
            <a:r>
              <a:rPr lang="en-GB" dirty="0"/>
              <a:t>.</a:t>
            </a:r>
          </a:p>
          <a:p>
            <a:pPr fontAlgn="base"/>
            <a:r>
              <a:rPr lang="en-GB" dirty="0"/>
              <a:t>HTTPS uses the conventional HTTP protocol and adds a layer of SSL/TLS over it. </a:t>
            </a:r>
            <a:endParaRPr lang="en-GB" dirty="0" smtClean="0"/>
          </a:p>
          <a:p>
            <a:pPr fontAlgn="base"/>
            <a:r>
              <a:rPr lang="en-GB" dirty="0" smtClean="0"/>
              <a:t>The</a:t>
            </a:r>
            <a:r>
              <a:rPr lang="en-GB" dirty="0"/>
              <a:t> </a:t>
            </a:r>
            <a:r>
              <a:rPr lang="en-GB" u="sng" dirty="0">
                <a:hlinkClick r:id="rId2"/>
              </a:rPr>
              <a:t>workflow of HTTP and HTTPS</a:t>
            </a:r>
            <a:r>
              <a:rPr lang="en-GB" dirty="0"/>
              <a:t> remains the same, the browsers and servers still communicate with each other using the HTTP protocol</a:t>
            </a:r>
            <a:r>
              <a:rPr lang="en-GB" dirty="0" smtClean="0"/>
              <a:t>.</a:t>
            </a:r>
          </a:p>
          <a:p>
            <a:pPr fontAlgn="base"/>
            <a:r>
              <a:rPr lang="en-GB" dirty="0" smtClean="0"/>
              <a:t> </a:t>
            </a:r>
            <a:r>
              <a:rPr lang="en-GB" dirty="0"/>
              <a:t>However, this is done over a secure SSL connection. </a:t>
            </a:r>
            <a:endParaRPr lang="en-GB" dirty="0" smtClean="0"/>
          </a:p>
          <a:p>
            <a:pPr fontAlgn="base"/>
            <a:r>
              <a:rPr lang="en-GB" dirty="0" smtClean="0"/>
              <a:t>The </a:t>
            </a:r>
            <a:r>
              <a:rPr lang="en-GB" dirty="0"/>
              <a:t>SSL connection is responsible for the encryption and decryption of the data that is being exchanged to ensure data safety. </a:t>
            </a:r>
          </a:p>
          <a:p>
            <a:endParaRPr lang="en-US" dirty="0"/>
          </a:p>
        </p:txBody>
      </p:sp>
    </p:spTree>
    <p:extLst>
      <p:ext uri="{BB962C8B-B14F-4D97-AF65-F5344CB8AC3E}">
        <p14:creationId xmlns:p14="http://schemas.microsoft.com/office/powerpoint/2010/main" val="26252758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19795" y="836023"/>
            <a:ext cx="8543108" cy="5551714"/>
          </a:xfrm>
          <a:prstGeom prst="rect">
            <a:avLst/>
          </a:prstGeom>
        </p:spPr>
      </p:pic>
    </p:spTree>
    <p:extLst>
      <p:ext uri="{BB962C8B-B14F-4D97-AF65-F5344CB8AC3E}">
        <p14:creationId xmlns:p14="http://schemas.microsoft.com/office/powerpoint/2010/main" val="38964302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2155"/>
          </a:xfrm>
        </p:spPr>
        <p:txBody>
          <a:bodyPr/>
          <a:lstStyle/>
          <a:p>
            <a:r>
              <a:rPr lang="en-GB" dirty="0" smtClean="0"/>
              <a:t>How does it works</a:t>
            </a:r>
            <a:endParaRPr lang="en-US" dirty="0"/>
          </a:p>
        </p:txBody>
      </p:sp>
      <p:sp>
        <p:nvSpPr>
          <p:cNvPr id="3" name="Content Placeholder 2"/>
          <p:cNvSpPr>
            <a:spLocks noGrp="1"/>
          </p:cNvSpPr>
          <p:nvPr>
            <p:ph idx="1"/>
          </p:nvPr>
        </p:nvSpPr>
        <p:spPr>
          <a:xfrm>
            <a:off x="838200" y="1097280"/>
            <a:ext cx="10515600" cy="5079683"/>
          </a:xfrm>
        </p:spPr>
        <p:txBody>
          <a:bodyPr/>
          <a:lstStyle/>
          <a:p>
            <a:r>
              <a:rPr lang="en-GB" dirty="0" smtClean="0"/>
              <a:t>Encryption: When you connect to an HTTPS website, your browser and the web server establish a secure, encrypted connection using the SSL/TLS protocol. </a:t>
            </a:r>
          </a:p>
          <a:p>
            <a:r>
              <a:rPr lang="en-GB" dirty="0" smtClean="0"/>
              <a:t>Data Exchange: All data exchanged between your browser and the website is encrypted, meaning it's transformed into an unreadable format. </a:t>
            </a:r>
          </a:p>
          <a:p>
            <a:r>
              <a:rPr lang="en-GB" dirty="0" smtClean="0"/>
              <a:t>Decryption: Only the client (your browser) and the server have the necessary keys to decrypt and read the data. </a:t>
            </a:r>
          </a:p>
          <a:p>
            <a:r>
              <a:rPr lang="en-GB" dirty="0" smtClean="0"/>
              <a:t>Verification: An SSL/TLS certificate on the website's server verifies its identity, ensuring you are connected to the legitimate website and not a fake one. </a:t>
            </a:r>
            <a:endParaRPr lang="en-US" dirty="0"/>
          </a:p>
        </p:txBody>
      </p:sp>
    </p:spTree>
    <p:extLst>
      <p:ext uri="{BB962C8B-B14F-4D97-AF65-F5344CB8AC3E}">
        <p14:creationId xmlns:p14="http://schemas.microsoft.com/office/powerpoint/2010/main" val="267648628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fontScale="90000"/>
          </a:bodyPr>
          <a:lstStyle/>
          <a:p>
            <a:r>
              <a:rPr lang="en-US" dirty="0" smtClean="0"/>
              <a:t>Why HTTPS is important</a:t>
            </a:r>
            <a:br>
              <a:rPr lang="en-US" dirty="0" smtClean="0"/>
            </a:br>
            <a:endParaRPr lang="en-US" dirty="0"/>
          </a:p>
        </p:txBody>
      </p:sp>
      <p:sp>
        <p:nvSpPr>
          <p:cNvPr id="3" name="Content Placeholder 2"/>
          <p:cNvSpPr>
            <a:spLocks noGrp="1"/>
          </p:cNvSpPr>
          <p:nvPr>
            <p:ph idx="1"/>
          </p:nvPr>
        </p:nvSpPr>
        <p:spPr>
          <a:xfrm>
            <a:off x="838200" y="862148"/>
            <a:ext cx="10515600" cy="5839097"/>
          </a:xfrm>
        </p:spPr>
        <p:txBody>
          <a:bodyPr>
            <a:normAutofit lnSpcReduction="10000"/>
          </a:bodyPr>
          <a:lstStyle/>
          <a:p>
            <a:r>
              <a:rPr lang="en-GB" smtClean="0"/>
              <a:t>Security: It encrypts your data, preventing hackers from intercepting and stealing sensitive information like financial details or login credentials. </a:t>
            </a:r>
          </a:p>
          <a:p>
            <a:r>
              <a:rPr lang="en-GB" smtClean="0"/>
              <a:t>Trust and Confidence: The padlock icon and "https://" prefix provide visual assurance to users that a website is secure, building trust for online activities like banking and shopping. </a:t>
            </a:r>
          </a:p>
          <a:p>
            <a:r>
              <a:rPr lang="en-GB" smtClean="0"/>
              <a:t>Authentication: It authenticates the web server, confirming you are communicating with the real website and preventing spoofing attacks. </a:t>
            </a:r>
          </a:p>
          <a:p>
            <a:r>
              <a:rPr lang="en-GB" smtClean="0"/>
              <a:t>Protection from Content Manipulation: HTTPS prevents third parties, such as internet service providers, from injecting unauthorized content or malicious code into webpages you visit. </a:t>
            </a:r>
          </a:p>
          <a:p>
            <a:r>
              <a:rPr lang="en-GB" smtClean="0"/>
              <a:t>Search Engine Ranking: Search engines, including Google, prioritize secure websites using HTTPS as a ranking signal, boosting their visibility in search results. </a:t>
            </a:r>
            <a:endParaRPr lang="en-GB" dirty="0"/>
          </a:p>
        </p:txBody>
      </p:sp>
    </p:spTree>
    <p:extLst>
      <p:ext uri="{BB962C8B-B14F-4D97-AF65-F5344CB8AC3E}">
        <p14:creationId xmlns:p14="http://schemas.microsoft.com/office/powerpoint/2010/main" val="228891885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7286"/>
          </a:xfrm>
        </p:spPr>
        <p:txBody>
          <a:bodyPr/>
          <a:lstStyle/>
          <a:p>
            <a:r>
              <a:rPr lang="en-GB" dirty="0" smtClean="0"/>
              <a:t>Basic difference between HTTP and HTTPS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53031150"/>
              </p:ext>
            </p:extLst>
          </p:nvPr>
        </p:nvGraphicFramePr>
        <p:xfrm>
          <a:off x="1397726" y="1515290"/>
          <a:ext cx="9457508" cy="5068389"/>
        </p:xfrm>
        <a:graphic>
          <a:graphicData uri="http://schemas.openxmlformats.org/drawingml/2006/table">
            <a:tbl>
              <a:tblPr/>
              <a:tblGrid>
                <a:gridCol w="4728754">
                  <a:extLst>
                    <a:ext uri="{9D8B030D-6E8A-4147-A177-3AD203B41FA5}">
                      <a16:colId xmlns:a16="http://schemas.microsoft.com/office/drawing/2014/main" val="3139711245"/>
                    </a:ext>
                  </a:extLst>
                </a:gridCol>
                <a:gridCol w="4728754">
                  <a:extLst>
                    <a:ext uri="{9D8B030D-6E8A-4147-A177-3AD203B41FA5}">
                      <a16:colId xmlns:a16="http://schemas.microsoft.com/office/drawing/2014/main" val="3761659186"/>
                    </a:ext>
                  </a:extLst>
                </a:gridCol>
              </a:tblGrid>
              <a:tr h="844731">
                <a:tc>
                  <a:txBody>
                    <a:bodyPr/>
                    <a:lstStyle/>
                    <a:p>
                      <a:pPr algn="ctr" rtl="0" fontAlgn="base"/>
                      <a:r>
                        <a:rPr lang="en-US" sz="1400" b="1">
                          <a:effectLst/>
                        </a:rPr>
                        <a:t>HTTP</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US" sz="1400" b="1">
                          <a:effectLst/>
                        </a:rPr>
                        <a:t>HTTPS</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4123871372"/>
                  </a:ext>
                </a:extLst>
              </a:tr>
              <a:tr h="1354758">
                <a:tc>
                  <a:txBody>
                    <a:bodyPr/>
                    <a:lstStyle/>
                    <a:p>
                      <a:pPr algn="ctr" rtl="0" fontAlgn="base"/>
                      <a:r>
                        <a:rPr lang="en-US" sz="1250" b="0">
                          <a:effectLst/>
                        </a:rPr>
                        <a:t>HTTP stands for HyperText Transfer Protocol.</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GB" sz="1250" b="0">
                          <a:effectLst/>
                        </a:rPr>
                        <a:t>HTTPS stands for HyperText Transfer Protocol Secure.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11256373"/>
                  </a:ext>
                </a:extLst>
              </a:tr>
              <a:tr h="956300">
                <a:tc>
                  <a:txBody>
                    <a:bodyPr/>
                    <a:lstStyle/>
                    <a:p>
                      <a:pPr algn="ctr" rtl="0" fontAlgn="base"/>
                      <a:r>
                        <a:rPr lang="en-US" sz="1250" b="0">
                          <a:effectLst/>
                        </a:rPr>
                        <a:t>URL begins with “http://”. </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US" sz="1250" b="0">
                          <a:effectLst/>
                        </a:rPr>
                        <a:t>URL starts with “https://”.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98912383"/>
                  </a:ext>
                </a:extLst>
              </a:tr>
              <a:tr h="956300">
                <a:tc>
                  <a:txBody>
                    <a:bodyPr/>
                    <a:lstStyle/>
                    <a:p>
                      <a:pPr algn="ctr" rtl="0" fontAlgn="base"/>
                      <a:r>
                        <a:rPr lang="en-GB" sz="1250" b="0">
                          <a:effectLst/>
                        </a:rPr>
                        <a:t>HTTP Works at the </a:t>
                      </a:r>
                      <a:r>
                        <a:rPr lang="en-GB" sz="1250" b="0" u="sng">
                          <a:solidFill>
                            <a:srgbClr val="357960"/>
                          </a:solidFill>
                          <a:effectLst/>
                          <a:hlinkClick r:id="rId2"/>
                        </a:rPr>
                        <a:t>Application Layer</a:t>
                      </a:r>
                      <a:r>
                        <a:rPr lang="en-GB" sz="1250" b="0">
                          <a:effectLst/>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GB" sz="1250" b="0">
                          <a:effectLst/>
                        </a:rPr>
                        <a:t>HTTPS works at </a:t>
                      </a:r>
                      <a:r>
                        <a:rPr lang="en-GB" sz="1250" b="0" u="sng">
                          <a:solidFill>
                            <a:srgbClr val="357960"/>
                          </a:solidFill>
                          <a:effectLst/>
                          <a:hlinkClick r:id="rId3"/>
                        </a:rPr>
                        <a:t>Transport Layer</a:t>
                      </a:r>
                      <a:r>
                        <a:rPr lang="en-GB" sz="1250" b="0">
                          <a:effectLst/>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80892200"/>
                  </a:ext>
                </a:extLst>
              </a:tr>
              <a:tr h="956300">
                <a:tc>
                  <a:txBody>
                    <a:bodyPr/>
                    <a:lstStyle/>
                    <a:p>
                      <a:pPr algn="ctr" rtl="0" fontAlgn="base"/>
                      <a:r>
                        <a:rPr lang="en-GB" sz="1250" b="0">
                          <a:effectLst/>
                        </a:rPr>
                        <a:t>HTTP speed is faster than HTTPS.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rtl="0" fontAlgn="base"/>
                      <a:r>
                        <a:rPr lang="en-GB" sz="1250" b="0" dirty="0">
                          <a:effectLst/>
                        </a:rPr>
                        <a:t>HTTPS speed is slower than HTTP.</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955633096"/>
                  </a:ext>
                </a:extLst>
              </a:tr>
            </a:tbl>
          </a:graphicData>
        </a:graphic>
      </p:graphicFrame>
    </p:spTree>
    <p:extLst>
      <p:ext uri="{BB962C8B-B14F-4D97-AF65-F5344CB8AC3E}">
        <p14:creationId xmlns:p14="http://schemas.microsoft.com/office/powerpoint/2010/main" val="11989977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GB" dirty="0" smtClean="0"/>
              <a:t>S/MIME</a:t>
            </a:r>
            <a:endParaRPr lang="en-US" dirty="0"/>
          </a:p>
        </p:txBody>
      </p:sp>
      <p:sp>
        <p:nvSpPr>
          <p:cNvPr id="3" name="Content Placeholder 2"/>
          <p:cNvSpPr>
            <a:spLocks noGrp="1"/>
          </p:cNvSpPr>
          <p:nvPr>
            <p:ph idx="1"/>
          </p:nvPr>
        </p:nvSpPr>
        <p:spPr>
          <a:xfrm>
            <a:off x="838200" y="1240971"/>
            <a:ext cx="10515600" cy="4935992"/>
          </a:xfrm>
        </p:spPr>
        <p:txBody>
          <a:bodyPr/>
          <a:lstStyle/>
          <a:p>
            <a:r>
              <a:rPr lang="en-GB" dirty="0"/>
              <a:t>S/MIME stands for Secure/Multipurpose Internet Mail Extensions. Through encryption, S/MIME offers protection for business emails. S/MIME comes under the concept of Cryptography. </a:t>
            </a:r>
            <a:endParaRPr lang="en-GB" dirty="0" smtClean="0"/>
          </a:p>
          <a:p>
            <a:r>
              <a:rPr lang="en-GB" dirty="0" smtClean="0"/>
              <a:t>S/MIME </a:t>
            </a:r>
            <a:r>
              <a:rPr lang="en-GB" dirty="0"/>
              <a:t>is a protocol used for encrypting or decrypting digitally signed E-mails</a:t>
            </a:r>
            <a:r>
              <a:rPr lang="en-GB" dirty="0" smtClean="0"/>
              <a:t>.</a:t>
            </a:r>
          </a:p>
          <a:p>
            <a:r>
              <a:rPr lang="en-GB" dirty="0" smtClean="0"/>
              <a:t> </a:t>
            </a:r>
            <a:r>
              <a:rPr lang="en-GB" dirty="0"/>
              <a:t>This means that users can digitally sign their emails as the owner(sender) of the e-mail.</a:t>
            </a:r>
            <a:endParaRPr lang="en-US" dirty="0"/>
          </a:p>
        </p:txBody>
      </p:sp>
    </p:spTree>
    <p:extLst>
      <p:ext uri="{BB962C8B-B14F-4D97-AF65-F5344CB8AC3E}">
        <p14:creationId xmlns:p14="http://schemas.microsoft.com/office/powerpoint/2010/main" val="19367020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4589"/>
          </a:xfrm>
        </p:spPr>
        <p:txBody>
          <a:bodyPr>
            <a:normAutofit fontScale="90000"/>
          </a:bodyPr>
          <a:lstStyle/>
          <a:p>
            <a:r>
              <a:rPr lang="en-GB" dirty="0" smtClean="0"/>
              <a:t>Cont..</a:t>
            </a:r>
            <a:endParaRPr lang="en-US" dirty="0"/>
          </a:p>
        </p:txBody>
      </p:sp>
      <p:sp>
        <p:nvSpPr>
          <p:cNvPr id="3" name="Content Placeholder 2"/>
          <p:cNvSpPr>
            <a:spLocks noGrp="1"/>
          </p:cNvSpPr>
          <p:nvPr>
            <p:ph idx="1"/>
          </p:nvPr>
        </p:nvSpPr>
        <p:spPr>
          <a:xfrm>
            <a:off x="838200" y="979714"/>
            <a:ext cx="10515600" cy="5197249"/>
          </a:xfrm>
        </p:spPr>
        <p:txBody>
          <a:bodyPr/>
          <a:lstStyle/>
          <a:p>
            <a:r>
              <a:rPr lang="en-GB" dirty="0"/>
              <a:t>S/MIME, or </a:t>
            </a:r>
            <a:r>
              <a:rPr lang="en-GB" dirty="0">
                <a:hlinkClick r:id="rId2"/>
              </a:rPr>
              <a:t>Secure/Multipurpose Internet Mail Extensions</a:t>
            </a:r>
            <a:r>
              <a:rPr lang="en-GB" dirty="0"/>
              <a:t>, is an industry-standard protocol for securing email through public-key encryption and digital signatures. </a:t>
            </a:r>
            <a:endParaRPr lang="en-GB" dirty="0" smtClean="0"/>
          </a:p>
          <a:p>
            <a:r>
              <a:rPr lang="en-GB" dirty="0" smtClean="0"/>
              <a:t>It </a:t>
            </a:r>
            <a:r>
              <a:rPr lang="en-GB" dirty="0"/>
              <a:t>provides email security by ensuring message integrity (the message wasn't altered), authenticity (it came from the claimed sender), confidentiality (only the intended recipient can read it), and non-repudiation</a:t>
            </a:r>
            <a:r>
              <a:rPr lang="en-GB" dirty="0" smtClean="0"/>
              <a:t>.</a:t>
            </a:r>
          </a:p>
          <a:p>
            <a:endParaRPr lang="en-GB" dirty="0"/>
          </a:p>
          <a:p>
            <a:r>
              <a:rPr lang="en-GB" dirty="0"/>
              <a:t> S/MIME uses asymmetric encryption, involving a public key for encryption and a private key for decryption, and requires an S/MIME certificate to verify identity and enable secure communication.  </a:t>
            </a:r>
            <a:endParaRPr lang="en-US" dirty="0"/>
          </a:p>
        </p:txBody>
      </p:sp>
    </p:spTree>
    <p:extLst>
      <p:ext uri="{BB962C8B-B14F-4D97-AF65-F5344CB8AC3E}">
        <p14:creationId xmlns:p14="http://schemas.microsoft.com/office/powerpoint/2010/main" val="418196062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1344"/>
          </a:xfrm>
        </p:spPr>
        <p:txBody>
          <a:bodyPr/>
          <a:lstStyle/>
          <a:p>
            <a:r>
              <a:rPr lang="en-US" dirty="0"/>
              <a:t>How S/MIME Works </a:t>
            </a:r>
          </a:p>
        </p:txBody>
      </p:sp>
      <p:sp>
        <p:nvSpPr>
          <p:cNvPr id="3" name="Content Placeholder 2"/>
          <p:cNvSpPr>
            <a:spLocks noGrp="1"/>
          </p:cNvSpPr>
          <p:nvPr>
            <p:ph idx="1"/>
          </p:nvPr>
        </p:nvSpPr>
        <p:spPr>
          <a:xfrm>
            <a:off x="838200" y="1136470"/>
            <a:ext cx="10515600" cy="5040493"/>
          </a:xfrm>
        </p:spPr>
        <p:txBody>
          <a:bodyPr/>
          <a:lstStyle/>
          <a:p>
            <a:r>
              <a:rPr lang="en-GB" smtClean="0"/>
              <a:t>Encryption: The sender encrypts the email using the recipient's public key, which is mathematically linked to the recipient's private key.</a:t>
            </a:r>
          </a:p>
          <a:p>
            <a:r>
              <a:rPr lang="en-GB" smtClean="0"/>
              <a:t>Digital Signature: The sender also creates a digital signature using their own private key to authenticate their identity.</a:t>
            </a:r>
          </a:p>
          <a:p>
            <a:r>
              <a:rPr lang="en-GB" smtClean="0"/>
              <a:t>Decryption: The recipient receives the encrypted email and digital signature. They use their own private key to decrypt the message and their own public key to verify the sender's digital signature.</a:t>
            </a:r>
            <a:endParaRPr lang="en-US" dirty="0"/>
          </a:p>
        </p:txBody>
      </p:sp>
    </p:spTree>
    <p:extLst>
      <p:ext uri="{BB962C8B-B14F-4D97-AF65-F5344CB8AC3E}">
        <p14:creationId xmlns:p14="http://schemas.microsoft.com/office/powerpoint/2010/main" val="10144127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US" dirty="0"/>
              <a:t>Key Benefits</a:t>
            </a:r>
          </a:p>
        </p:txBody>
      </p:sp>
      <p:sp>
        <p:nvSpPr>
          <p:cNvPr id="3" name="Content Placeholder 2"/>
          <p:cNvSpPr>
            <a:spLocks noGrp="1"/>
          </p:cNvSpPr>
          <p:nvPr>
            <p:ph idx="1"/>
          </p:nvPr>
        </p:nvSpPr>
        <p:spPr>
          <a:xfrm>
            <a:off x="838200" y="1149532"/>
            <a:ext cx="10515600" cy="5027431"/>
          </a:xfrm>
        </p:spPr>
        <p:txBody>
          <a:bodyPr/>
          <a:lstStyle/>
          <a:p>
            <a:r>
              <a:rPr lang="en-GB" smtClean="0"/>
              <a:t>Confidentiality: Prevents unauthorized access to the email's content by encrypting it. </a:t>
            </a:r>
          </a:p>
          <a:p>
            <a:r>
              <a:rPr lang="en-GB" smtClean="0"/>
              <a:t>Authenticity: Verifies the identity of the sender, ensuring they are who they claim to be. </a:t>
            </a:r>
          </a:p>
          <a:p>
            <a:r>
              <a:rPr lang="en-GB" smtClean="0"/>
              <a:t>Message Integrity: Guarantees that the message content has not been altered since it was sent. </a:t>
            </a:r>
          </a:p>
          <a:p>
            <a:r>
              <a:rPr lang="en-GB" smtClean="0"/>
              <a:t>Non-repudiation: Prevents the sender from denying they sent the message. </a:t>
            </a:r>
            <a:endParaRPr lang="en-US" dirty="0"/>
          </a:p>
        </p:txBody>
      </p:sp>
    </p:spTree>
    <p:extLst>
      <p:ext uri="{BB962C8B-B14F-4D97-AF65-F5344CB8AC3E}">
        <p14:creationId xmlns:p14="http://schemas.microsoft.com/office/powerpoint/2010/main" val="320027321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lstStyle/>
          <a:p>
            <a:r>
              <a:rPr lang="en-US"/>
              <a:t>Who Uses S/MIME?</a:t>
            </a:r>
            <a:endParaRPr lang="en-US" dirty="0"/>
          </a:p>
        </p:txBody>
      </p:sp>
      <p:sp>
        <p:nvSpPr>
          <p:cNvPr id="3" name="Content Placeholder 2"/>
          <p:cNvSpPr>
            <a:spLocks noGrp="1"/>
          </p:cNvSpPr>
          <p:nvPr>
            <p:ph idx="1"/>
          </p:nvPr>
        </p:nvSpPr>
        <p:spPr>
          <a:xfrm>
            <a:off x="838200" y="1358537"/>
            <a:ext cx="10515600" cy="4818426"/>
          </a:xfrm>
        </p:spPr>
        <p:txBody>
          <a:bodyPr/>
          <a:lstStyle/>
          <a:p>
            <a:r>
              <a:rPr lang="en-GB"/>
              <a:t>S/MIME is widely used by corporations and organizations to protect sensitive business communications, with support for the protocol available in enterprise email clients like Outlook for Microsoft 365 and Apple's Mail app. </a:t>
            </a:r>
            <a:endParaRPr lang="en-US" dirty="0"/>
          </a:p>
        </p:txBody>
      </p:sp>
    </p:spTree>
    <p:extLst>
      <p:ext uri="{BB962C8B-B14F-4D97-AF65-F5344CB8AC3E}">
        <p14:creationId xmlns:p14="http://schemas.microsoft.com/office/powerpoint/2010/main" val="15949046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r>
              <a:rPr lang="en-GB" dirty="0" smtClean="0"/>
              <a:t>Overview of IDS and Firewall</a:t>
            </a:r>
            <a:endParaRPr lang="en-US" dirty="0"/>
          </a:p>
        </p:txBody>
      </p:sp>
      <p:sp>
        <p:nvSpPr>
          <p:cNvPr id="3" name="Content Placeholder 2"/>
          <p:cNvSpPr>
            <a:spLocks noGrp="1"/>
          </p:cNvSpPr>
          <p:nvPr>
            <p:ph idx="1"/>
          </p:nvPr>
        </p:nvSpPr>
        <p:spPr>
          <a:xfrm>
            <a:off x="838200" y="1175658"/>
            <a:ext cx="10515600" cy="5001305"/>
          </a:xfrm>
        </p:spPr>
        <p:txBody>
          <a:bodyPr/>
          <a:lstStyle/>
          <a:p>
            <a:r>
              <a:rPr lang="en-GB" dirty="0"/>
              <a:t>A firewall acts as a perimeter guard, controlling network traffic based on rules to prevent unauthorized access by blocking or permitting data</a:t>
            </a:r>
            <a:r>
              <a:rPr lang="en-GB" dirty="0" smtClean="0"/>
              <a:t>.</a:t>
            </a:r>
          </a:p>
          <a:p>
            <a:r>
              <a:rPr lang="en-GB" dirty="0"/>
              <a:t> In contrast, an Intrusion Detection System (IDS) is a monitoring tool that </a:t>
            </a:r>
            <a:r>
              <a:rPr lang="en-GB" dirty="0" err="1"/>
              <a:t>analyzes</a:t>
            </a:r>
            <a:r>
              <a:rPr lang="en-GB" dirty="0"/>
              <a:t> network traffic for suspicious patterns or known threats and alerts administrators when potential malicious activity is detected</a:t>
            </a:r>
            <a:r>
              <a:rPr lang="en-GB" dirty="0" smtClean="0"/>
              <a:t>.</a:t>
            </a:r>
          </a:p>
          <a:p>
            <a:r>
              <a:rPr lang="en-GB" dirty="0"/>
              <a:t> Firewalls block, while IDS detects and alerts; they are complementary, with the IDS often placed behind the firewall for deeper inspection of allowed traffic.  </a:t>
            </a:r>
            <a:endParaRPr lang="en-US" dirty="0"/>
          </a:p>
        </p:txBody>
      </p:sp>
    </p:spTree>
    <p:extLst>
      <p:ext uri="{BB962C8B-B14F-4D97-AF65-F5344CB8AC3E}">
        <p14:creationId xmlns:p14="http://schemas.microsoft.com/office/powerpoint/2010/main" val="175662809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US" dirty="0"/>
              <a:t>Firewall</a:t>
            </a:r>
          </a:p>
        </p:txBody>
      </p:sp>
      <p:sp>
        <p:nvSpPr>
          <p:cNvPr id="3" name="Content Placeholder 2"/>
          <p:cNvSpPr>
            <a:spLocks noGrp="1"/>
          </p:cNvSpPr>
          <p:nvPr>
            <p:ph idx="1"/>
          </p:nvPr>
        </p:nvSpPr>
        <p:spPr>
          <a:xfrm>
            <a:off x="838200" y="1031966"/>
            <a:ext cx="10515600" cy="5144997"/>
          </a:xfrm>
        </p:spPr>
        <p:txBody>
          <a:bodyPr>
            <a:normAutofit lnSpcReduction="10000"/>
          </a:bodyPr>
          <a:lstStyle/>
          <a:p>
            <a:r>
              <a:rPr lang="en-GB" b="1" dirty="0"/>
              <a:t>Function:</a:t>
            </a:r>
            <a:r>
              <a:rPr lang="en-GB" dirty="0"/>
              <a:t> </a:t>
            </a:r>
          </a:p>
          <a:p>
            <a:pPr fontAlgn="ctr"/>
            <a:r>
              <a:rPr lang="en-GB" dirty="0"/>
              <a:t>To control and filter network traffic, acting as a barrier between networks with different security levels. </a:t>
            </a:r>
          </a:p>
          <a:p>
            <a:r>
              <a:rPr lang="en-GB" b="1" dirty="0"/>
              <a:t>Method:</a:t>
            </a:r>
            <a:r>
              <a:rPr lang="en-GB" dirty="0"/>
              <a:t> </a:t>
            </a:r>
          </a:p>
          <a:p>
            <a:pPr fontAlgn="ctr"/>
            <a:r>
              <a:rPr lang="en-GB" dirty="0"/>
              <a:t>Uses pre-defined rules based on IP addresses, ports, and protocols to decide whether to permit or deny network connections. </a:t>
            </a:r>
          </a:p>
          <a:p>
            <a:r>
              <a:rPr lang="en-GB" b="1" dirty="0"/>
              <a:t>Action:</a:t>
            </a:r>
            <a:r>
              <a:rPr lang="en-GB" dirty="0"/>
              <a:t> </a:t>
            </a:r>
          </a:p>
          <a:p>
            <a:pPr fontAlgn="ctr"/>
            <a:r>
              <a:rPr lang="en-GB" dirty="0"/>
              <a:t>Primarily a preventative measure, designed to stop unauthorized traffic from entering or leaving a network. </a:t>
            </a:r>
          </a:p>
          <a:p>
            <a:r>
              <a:rPr lang="en-GB" b="1" dirty="0"/>
              <a:t>Placement:</a:t>
            </a:r>
            <a:r>
              <a:rPr lang="en-GB" dirty="0"/>
              <a:t> </a:t>
            </a:r>
          </a:p>
          <a:p>
            <a:r>
              <a:rPr lang="en-GB" dirty="0"/>
              <a:t>Typically positioned at the network's perimeter as the first line of </a:t>
            </a:r>
            <a:r>
              <a:rPr lang="en-GB" dirty="0" err="1"/>
              <a:t>defense</a:t>
            </a:r>
            <a:r>
              <a:rPr lang="en-GB" dirty="0"/>
              <a:t>. </a:t>
            </a:r>
          </a:p>
          <a:p>
            <a:endParaRPr lang="en-US" dirty="0"/>
          </a:p>
        </p:txBody>
      </p:sp>
    </p:spTree>
    <p:extLst>
      <p:ext uri="{BB962C8B-B14F-4D97-AF65-F5344CB8AC3E}">
        <p14:creationId xmlns:p14="http://schemas.microsoft.com/office/powerpoint/2010/main" val="25614702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5218"/>
          </a:xfrm>
        </p:spPr>
        <p:txBody>
          <a:bodyPr>
            <a:normAutofit fontScale="90000"/>
          </a:bodyPr>
          <a:lstStyle/>
          <a:p>
            <a:r>
              <a:rPr lang="en-US" dirty="0" smtClean="0"/>
              <a:t/>
            </a:r>
            <a:br>
              <a:rPr lang="en-US" dirty="0" smtClean="0"/>
            </a:br>
            <a:r>
              <a:rPr lang="en-US" dirty="0"/>
              <a:t/>
            </a:r>
            <a:br>
              <a:rPr lang="en-US" dirty="0"/>
            </a:br>
            <a:r>
              <a:rPr lang="en-US" dirty="0" smtClean="0"/>
              <a:t>Intrusion </a:t>
            </a:r>
            <a:r>
              <a:rPr lang="en-US" dirty="0"/>
              <a:t>Detection System (IDS)</a:t>
            </a:r>
            <a:br>
              <a:rPr lang="en-US" dirty="0"/>
            </a:br>
            <a:r>
              <a:rPr lang="en-US" dirty="0"/>
              <a:t/>
            </a:r>
            <a:br>
              <a:rPr lang="en-US" dirty="0"/>
            </a:br>
            <a:endParaRPr lang="en-US" dirty="0"/>
          </a:p>
        </p:txBody>
      </p:sp>
      <p:sp>
        <p:nvSpPr>
          <p:cNvPr id="3" name="Content Placeholder 2"/>
          <p:cNvSpPr>
            <a:spLocks noGrp="1"/>
          </p:cNvSpPr>
          <p:nvPr>
            <p:ph idx="1"/>
          </p:nvPr>
        </p:nvSpPr>
        <p:spPr>
          <a:xfrm>
            <a:off x="838200" y="1293223"/>
            <a:ext cx="10515600" cy="5434148"/>
          </a:xfrm>
        </p:spPr>
        <p:txBody>
          <a:bodyPr>
            <a:normAutofit fontScale="92500" lnSpcReduction="20000"/>
          </a:bodyPr>
          <a:lstStyle/>
          <a:p>
            <a:r>
              <a:rPr lang="en-GB" b="1"/>
              <a:t>Function:</a:t>
            </a:r>
            <a:r>
              <a:rPr lang="en-GB"/>
              <a:t> </a:t>
            </a:r>
          </a:p>
          <a:p>
            <a:pPr fontAlgn="ctr"/>
            <a:r>
              <a:rPr lang="en-GB"/>
              <a:t>To monitor network traffic for any signs of malicious activity or security breaches that might get past the firewall. </a:t>
            </a:r>
          </a:p>
          <a:p>
            <a:r>
              <a:rPr lang="en-GB" b="1"/>
              <a:t>Method:</a:t>
            </a:r>
            <a:r>
              <a:rPr lang="en-GB"/>
              <a:t> </a:t>
            </a:r>
          </a:p>
          <a:p>
            <a:pPr fontAlgn="ctr"/>
            <a:r>
              <a:rPr lang="en-GB"/>
              <a:t>Analyzes traffic by comparing it against a database of known attack patterns (signatures) or by identifying deviations from normal network behavior (anomalies). </a:t>
            </a:r>
          </a:p>
          <a:p>
            <a:r>
              <a:rPr lang="en-GB" b="1"/>
              <a:t>Action:</a:t>
            </a:r>
            <a:r>
              <a:rPr lang="en-GB"/>
              <a:t> </a:t>
            </a:r>
          </a:p>
          <a:p>
            <a:pPr fontAlgn="ctr"/>
            <a:r>
              <a:rPr lang="en-GB"/>
              <a:t>A detective and alerting tool, it generates alarms when a threat is identified. It doesn't typically block traffic itself, but its alerts prompt security personnel to take action. </a:t>
            </a:r>
          </a:p>
          <a:p>
            <a:r>
              <a:rPr lang="en-GB" b="1"/>
              <a:t>Placement:</a:t>
            </a:r>
            <a:r>
              <a:rPr lang="en-GB"/>
              <a:t> </a:t>
            </a:r>
          </a:p>
          <a:p>
            <a:r>
              <a:rPr lang="en-GB"/>
              <a:t>Strategically placed at key points within the network, often behind the firewall, to get a clear view of traffic that the firewall has already allowed through. </a:t>
            </a:r>
          </a:p>
        </p:txBody>
      </p:sp>
    </p:spTree>
    <p:extLst>
      <p:ext uri="{BB962C8B-B14F-4D97-AF65-F5344CB8AC3E}">
        <p14:creationId xmlns:p14="http://schemas.microsoft.com/office/powerpoint/2010/main" val="14469066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6"/>
          </a:xfrm>
        </p:spPr>
        <p:txBody>
          <a:bodyPr>
            <a:normAutofit fontScale="90000"/>
          </a:bodyPr>
          <a:lstStyle/>
          <a:p>
            <a:r>
              <a:rPr lang="en-US"/>
              <a:t>How They Work Together</a:t>
            </a:r>
            <a:endParaRPr lang="en-US" dirty="0"/>
          </a:p>
        </p:txBody>
      </p:sp>
      <p:sp>
        <p:nvSpPr>
          <p:cNvPr id="3" name="Content Placeholder 2"/>
          <p:cNvSpPr>
            <a:spLocks noGrp="1"/>
          </p:cNvSpPr>
          <p:nvPr>
            <p:ph idx="1"/>
          </p:nvPr>
        </p:nvSpPr>
        <p:spPr>
          <a:xfrm>
            <a:off x="838200" y="1280160"/>
            <a:ext cx="10515600" cy="4896803"/>
          </a:xfrm>
        </p:spPr>
        <p:txBody>
          <a:bodyPr/>
          <a:lstStyle/>
          <a:p>
            <a:pPr fontAlgn="ctr"/>
            <a:r>
              <a:rPr lang="en-GB" dirty="0"/>
              <a:t>A firewall filters traffic, allowing only approved connections to pass through. </a:t>
            </a:r>
          </a:p>
          <a:p>
            <a:pPr fontAlgn="ctr"/>
            <a:r>
              <a:rPr lang="en-GB" dirty="0"/>
              <a:t>The IDS then monitors this approved traffic for any signs of a compromise that the firewall might have missed. </a:t>
            </a:r>
          </a:p>
          <a:p>
            <a:r>
              <a:rPr lang="en-GB" dirty="0"/>
              <a:t>This layered approach provides a more comprehensive security posture, with the firewall preventing broad access and the IDS providing a deeper, more detailed analysis of ongoing threats. </a:t>
            </a:r>
          </a:p>
          <a:p>
            <a:endParaRPr lang="en-US" dirty="0"/>
          </a:p>
        </p:txBody>
      </p:sp>
    </p:spTree>
    <p:extLst>
      <p:ext uri="{BB962C8B-B14F-4D97-AF65-F5344CB8AC3E}">
        <p14:creationId xmlns:p14="http://schemas.microsoft.com/office/powerpoint/2010/main" val="27979815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Distinction Summary </a:t>
            </a:r>
          </a:p>
        </p:txBody>
      </p:sp>
      <p:sp>
        <p:nvSpPr>
          <p:cNvPr id="3" name="Content Placeholder 2"/>
          <p:cNvSpPr>
            <a:spLocks noGrp="1"/>
          </p:cNvSpPr>
          <p:nvPr>
            <p:ph idx="1"/>
          </p:nvPr>
        </p:nvSpPr>
        <p:spPr/>
        <p:txBody>
          <a:bodyPr/>
          <a:lstStyle/>
          <a:p>
            <a:r>
              <a:rPr lang="en-GB" b="1" dirty="0"/>
              <a:t>Firewall:</a:t>
            </a:r>
            <a:r>
              <a:rPr lang="en-GB" dirty="0"/>
              <a:t> Blocks or allows traffic based on explicit rules (control).</a:t>
            </a:r>
          </a:p>
          <a:p>
            <a:r>
              <a:rPr lang="en-GB" b="1" dirty="0"/>
              <a:t>IDS:</a:t>
            </a:r>
            <a:r>
              <a:rPr lang="en-GB" dirty="0"/>
              <a:t> Detects suspicious activity and alerts (monitoring and detection).</a:t>
            </a:r>
          </a:p>
          <a:p>
            <a:endParaRPr lang="en-US" dirty="0"/>
          </a:p>
        </p:txBody>
      </p:sp>
    </p:spTree>
    <p:extLst>
      <p:ext uri="{BB962C8B-B14F-4D97-AF65-F5344CB8AC3E}">
        <p14:creationId xmlns:p14="http://schemas.microsoft.com/office/powerpoint/2010/main" val="40113459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GB" dirty="0" smtClean="0"/>
              <a:t>IDS</a:t>
            </a:r>
            <a:endParaRPr lang="en-US" dirty="0"/>
          </a:p>
        </p:txBody>
      </p:sp>
      <p:sp>
        <p:nvSpPr>
          <p:cNvPr id="3" name="Content Placeholder 2"/>
          <p:cNvSpPr>
            <a:spLocks noGrp="1"/>
          </p:cNvSpPr>
          <p:nvPr>
            <p:ph idx="1"/>
          </p:nvPr>
        </p:nvSpPr>
        <p:spPr>
          <a:xfrm>
            <a:off x="838200" y="1149532"/>
            <a:ext cx="10515600" cy="5512525"/>
          </a:xfrm>
        </p:spPr>
        <p:txBody>
          <a:bodyPr>
            <a:normAutofit lnSpcReduction="10000"/>
          </a:bodyPr>
          <a:lstStyle/>
          <a:p>
            <a:r>
              <a:rPr lang="en-GB" dirty="0" smtClean="0"/>
              <a:t>Intrusion </a:t>
            </a:r>
            <a:r>
              <a:rPr lang="en-GB" dirty="0"/>
              <a:t>Detection System (IDS) observes network traffic for malicious transactions and sends immediate alerts when it is observed</a:t>
            </a:r>
            <a:r>
              <a:rPr lang="en-GB" dirty="0" smtClean="0"/>
              <a:t>.</a:t>
            </a:r>
          </a:p>
          <a:p>
            <a:r>
              <a:rPr lang="en-GB" dirty="0" smtClean="0"/>
              <a:t> </a:t>
            </a:r>
            <a:r>
              <a:rPr lang="en-GB" dirty="0"/>
              <a:t>It is software that checks a network or system for malicious activities or policy violations. </a:t>
            </a:r>
            <a:endParaRPr lang="en-GB" dirty="0" smtClean="0"/>
          </a:p>
          <a:p>
            <a:r>
              <a:rPr lang="en-GB" dirty="0" smtClean="0"/>
              <a:t>Each </a:t>
            </a:r>
            <a:r>
              <a:rPr lang="en-GB" dirty="0"/>
              <a:t>illegal activity or violation is often recorded either centrally using an SIEM system or notified to an administration. </a:t>
            </a:r>
            <a:endParaRPr lang="en-GB" dirty="0" smtClean="0"/>
          </a:p>
          <a:p>
            <a:r>
              <a:rPr lang="en-GB" dirty="0" smtClean="0"/>
              <a:t>IDS </a:t>
            </a:r>
            <a:r>
              <a:rPr lang="en-GB" dirty="0"/>
              <a:t>monitors a network or system for malicious activity and protects a computer network from unauthorized access from users, including perhaps insiders. </a:t>
            </a:r>
            <a:endParaRPr lang="en-GB" dirty="0" smtClean="0"/>
          </a:p>
          <a:p>
            <a:r>
              <a:rPr lang="en-GB" dirty="0" smtClean="0"/>
              <a:t>The </a:t>
            </a:r>
            <a:r>
              <a:rPr lang="en-GB" dirty="0"/>
              <a:t>intrusion detector learning task is to build a predictive model (i.e. a classifier) capable of distinguishing between ‘bad connections’ (intrusion/attacks) and ‘good (normal) connections’.</a:t>
            </a:r>
            <a:endParaRPr lang="en-US" dirty="0"/>
          </a:p>
        </p:txBody>
      </p:sp>
    </p:spTree>
    <p:extLst>
      <p:ext uri="{BB962C8B-B14F-4D97-AF65-F5344CB8AC3E}">
        <p14:creationId xmlns:p14="http://schemas.microsoft.com/office/powerpoint/2010/main" val="31673975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 Methods of Intrusion</a:t>
            </a:r>
            <a:br>
              <a:rPr lang="en-US" b="1" dirty="0"/>
            </a:br>
            <a:endParaRPr lang="en-US" dirty="0"/>
          </a:p>
        </p:txBody>
      </p:sp>
      <p:sp>
        <p:nvSpPr>
          <p:cNvPr id="3" name="Content Placeholder 2"/>
          <p:cNvSpPr>
            <a:spLocks noGrp="1"/>
          </p:cNvSpPr>
          <p:nvPr>
            <p:ph idx="1"/>
          </p:nvPr>
        </p:nvSpPr>
        <p:spPr/>
        <p:txBody>
          <a:bodyPr/>
          <a:lstStyle/>
          <a:p>
            <a:pPr fontAlgn="base"/>
            <a:r>
              <a:rPr lang="en-GB" b="1" dirty="0"/>
              <a:t>Address Spoofing: </a:t>
            </a:r>
            <a:r>
              <a:rPr lang="en-GB" dirty="0"/>
              <a:t>Hiding the source of an attack by using fake or unsecured proxy servers making it hard to identify the attacker.</a:t>
            </a:r>
          </a:p>
          <a:p>
            <a:pPr fontAlgn="base"/>
            <a:r>
              <a:rPr lang="en-GB" b="1" dirty="0"/>
              <a:t>Fragmentation</a:t>
            </a:r>
            <a:r>
              <a:rPr lang="en-GB" dirty="0"/>
              <a:t>: Sending data in small pieces to slip past detection systems.</a:t>
            </a:r>
          </a:p>
          <a:p>
            <a:pPr fontAlgn="base"/>
            <a:r>
              <a:rPr lang="en-GB" b="1" dirty="0"/>
              <a:t>Pattern Evasion:</a:t>
            </a:r>
            <a:r>
              <a:rPr lang="en-GB" dirty="0"/>
              <a:t> Changing attack methods to avoid detection by IDS systems that look for specific patterns.</a:t>
            </a:r>
          </a:p>
          <a:p>
            <a:pPr fontAlgn="base"/>
            <a:r>
              <a:rPr lang="en-GB" b="1" dirty="0"/>
              <a:t>Coordinated Attack:</a:t>
            </a:r>
            <a:r>
              <a:rPr lang="en-GB" dirty="0"/>
              <a:t> Using multiple attackers or ports to scan a network, confusing the IDS and making it hard to see what is happening.</a:t>
            </a:r>
          </a:p>
          <a:p>
            <a:endParaRPr lang="en-US" dirty="0"/>
          </a:p>
        </p:txBody>
      </p:sp>
    </p:spTree>
    <p:extLst>
      <p:ext uri="{BB962C8B-B14F-4D97-AF65-F5344CB8AC3E}">
        <p14:creationId xmlns:p14="http://schemas.microsoft.com/office/powerpoint/2010/main" val="367809343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6658"/>
          </a:xfrm>
        </p:spPr>
        <p:txBody>
          <a:bodyPr>
            <a:normAutofit fontScale="90000"/>
          </a:bodyPr>
          <a:lstStyle/>
          <a:p>
            <a:r>
              <a:rPr lang="en-GB" b="1" dirty="0"/>
              <a:t>Working of Intrusion Detection System(IDS)</a:t>
            </a:r>
            <a:br>
              <a:rPr lang="en-GB" b="1" dirty="0"/>
            </a:br>
            <a:endParaRPr lang="en-US" dirty="0"/>
          </a:p>
        </p:txBody>
      </p:sp>
      <p:sp>
        <p:nvSpPr>
          <p:cNvPr id="3" name="Content Placeholder 2"/>
          <p:cNvSpPr>
            <a:spLocks noGrp="1"/>
          </p:cNvSpPr>
          <p:nvPr>
            <p:ph idx="1"/>
          </p:nvPr>
        </p:nvSpPr>
        <p:spPr>
          <a:xfrm>
            <a:off x="838200" y="1084217"/>
            <a:ext cx="10515600" cy="5092746"/>
          </a:xfrm>
        </p:spPr>
        <p:txBody>
          <a:bodyPr>
            <a:normAutofit fontScale="92500"/>
          </a:bodyPr>
          <a:lstStyle/>
          <a:p>
            <a:pPr fontAlgn="base"/>
            <a:r>
              <a:rPr lang="en-GB"/>
              <a:t>An IDS (Intrusion Detection System) monitors the traffic on a computer network to detect any suspicious activity.</a:t>
            </a:r>
          </a:p>
          <a:p>
            <a:pPr fontAlgn="base"/>
            <a:r>
              <a:rPr lang="en-GB"/>
              <a:t>It analyzes the data flowing through the network to look for patterns and signs of abnormal behavior.</a:t>
            </a:r>
          </a:p>
          <a:p>
            <a:pPr fontAlgn="base"/>
            <a:r>
              <a:rPr lang="en-GB"/>
              <a:t>The IDS compares the network activity to a set of predefined rules and patterns to identify any activity that might indicate an attack or intrusion.</a:t>
            </a:r>
          </a:p>
          <a:p>
            <a:pPr fontAlgn="base"/>
            <a:r>
              <a:rPr lang="en-GB"/>
              <a:t>If the IDS detects something that matches one of these rules or patterns, it sends an alert to the system administrator.</a:t>
            </a:r>
          </a:p>
          <a:p>
            <a:pPr fontAlgn="base"/>
            <a:r>
              <a:rPr lang="en-GB"/>
              <a:t>The system administrator can then investigate the alert and take action to prevent any damage or further intrusion.</a:t>
            </a:r>
          </a:p>
          <a:p>
            <a:r>
              <a:rPr lang="en-GB" smtClean="0"/>
              <a:t/>
            </a:r>
            <a:br>
              <a:rPr lang="en-GB" smtClean="0"/>
            </a:br>
            <a:endParaRPr lang="en-US" dirty="0"/>
          </a:p>
        </p:txBody>
      </p:sp>
    </p:spTree>
    <p:extLst>
      <p:ext uri="{BB962C8B-B14F-4D97-AF65-F5344CB8AC3E}">
        <p14:creationId xmlns:p14="http://schemas.microsoft.com/office/powerpoint/2010/main" val="39831622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81051" y="653143"/>
            <a:ext cx="8712926" cy="5523820"/>
          </a:xfrm>
          <a:prstGeom prst="rect">
            <a:avLst/>
          </a:prstGeom>
        </p:spPr>
      </p:pic>
    </p:spTree>
    <p:extLst>
      <p:ext uri="{BB962C8B-B14F-4D97-AF65-F5344CB8AC3E}">
        <p14:creationId xmlns:p14="http://schemas.microsoft.com/office/powerpoint/2010/main" val="32300591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31966" y="365760"/>
            <a:ext cx="10215154" cy="6492240"/>
          </a:xfrm>
          <a:prstGeom prst="rect">
            <a:avLst/>
          </a:prstGeom>
        </p:spPr>
      </p:pic>
    </p:spTree>
    <p:extLst>
      <p:ext uri="{BB962C8B-B14F-4D97-AF65-F5344CB8AC3E}">
        <p14:creationId xmlns:p14="http://schemas.microsoft.com/office/powerpoint/2010/main" val="1434302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18807</TotalTime>
  <Words>4601</Words>
  <Application>Microsoft Office PowerPoint</Application>
  <PresentationFormat>Widescreen</PresentationFormat>
  <Paragraphs>490</Paragraphs>
  <Slides>97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97</vt:i4>
      </vt:variant>
    </vt:vector>
  </HeadingPairs>
  <TitlesOfParts>
    <vt:vector size="101" baseType="lpstr">
      <vt:lpstr>Arial</vt:lpstr>
      <vt:lpstr>Calibri</vt:lpstr>
      <vt:lpstr>Calibri Light</vt:lpstr>
      <vt:lpstr>Office Theme</vt:lpstr>
      <vt:lpstr>Security</vt:lpstr>
      <vt:lpstr>Introduction</vt:lpstr>
      <vt:lpstr>Cont..</vt:lpstr>
      <vt:lpstr>Cont..</vt:lpstr>
      <vt:lpstr>Cont..</vt:lpstr>
      <vt:lpstr>How Does Network Security Work? </vt:lpstr>
      <vt:lpstr>PowerPoint Presentation</vt:lpstr>
      <vt:lpstr>Cont..</vt:lpstr>
      <vt:lpstr>Cont..</vt:lpstr>
      <vt:lpstr>Need of Network Security</vt:lpstr>
      <vt:lpstr>Key Reasons for Network Security</vt:lpstr>
      <vt:lpstr>Cont..</vt:lpstr>
      <vt:lpstr>Benefits of Effective Network Security</vt:lpstr>
      <vt:lpstr>Types of Network Security </vt:lpstr>
      <vt:lpstr>Email Security </vt:lpstr>
      <vt:lpstr>Network Segmentation </vt:lpstr>
      <vt:lpstr>Access Control </vt:lpstr>
      <vt:lpstr>Sandboxing </vt:lpstr>
      <vt:lpstr>Cloud Network Security</vt:lpstr>
      <vt:lpstr>Web Security</vt:lpstr>
      <vt:lpstr>Intrusion Prevention System </vt:lpstr>
      <vt:lpstr>Antivirus and Anti-Malware Software </vt:lpstr>
      <vt:lpstr>Firewall Security</vt:lpstr>
      <vt:lpstr>PowerPoint Presentation</vt:lpstr>
      <vt:lpstr>Application Security</vt:lpstr>
      <vt:lpstr>Wireless Security</vt:lpstr>
      <vt:lpstr>Mobile Device Security</vt:lpstr>
      <vt:lpstr>Industrial Network Security</vt:lpstr>
      <vt:lpstr>VPN Security</vt:lpstr>
      <vt:lpstr>VPN-Virtual Private Netwrok</vt:lpstr>
      <vt:lpstr>How a VPN works:</vt:lpstr>
      <vt:lpstr>Why use a VPN?</vt:lpstr>
      <vt:lpstr>Types of Attacks</vt:lpstr>
      <vt:lpstr>Cont..</vt:lpstr>
      <vt:lpstr>Cont..</vt:lpstr>
      <vt:lpstr>Cont..</vt:lpstr>
      <vt:lpstr>Cont..</vt:lpstr>
      <vt:lpstr>Cont..</vt:lpstr>
      <vt:lpstr>ITU-T X.800 Security Architecture for OSI</vt:lpstr>
      <vt:lpstr>PowerPoint Presentation</vt:lpstr>
      <vt:lpstr>Cont..</vt:lpstr>
      <vt:lpstr>Cont..</vt:lpstr>
      <vt:lpstr>Cont..</vt:lpstr>
      <vt:lpstr>Cont..</vt:lpstr>
      <vt:lpstr>Cont..</vt:lpstr>
      <vt:lpstr>Cont..</vt:lpstr>
      <vt:lpstr>Cont..</vt:lpstr>
      <vt:lpstr>Cont..</vt:lpstr>
      <vt:lpstr>Benefits of OSI Security Architecture </vt:lpstr>
      <vt:lpstr>Security Policy and mechanisms</vt:lpstr>
      <vt:lpstr>Security Policies</vt:lpstr>
      <vt:lpstr>Cont..</vt:lpstr>
      <vt:lpstr>Cryptography </vt:lpstr>
      <vt:lpstr>How it Works</vt:lpstr>
      <vt:lpstr>Key Principles</vt:lpstr>
      <vt:lpstr>Common Applications</vt:lpstr>
      <vt:lpstr>Authentication and Authorization </vt:lpstr>
      <vt:lpstr>Cont..</vt:lpstr>
      <vt:lpstr>Relationship between Authentication and Authorization</vt:lpstr>
      <vt:lpstr>Symmetric and Asymmetric Key Encryption</vt:lpstr>
      <vt:lpstr> What is Symmetric Key Encryption? </vt:lpstr>
      <vt:lpstr> What is Asymmetric Key Encryption? </vt:lpstr>
      <vt:lpstr>PowerPoint Presentation</vt:lpstr>
      <vt:lpstr>PowerPoint Presentation</vt:lpstr>
      <vt:lpstr>PowerPoint Presentation</vt:lpstr>
      <vt:lpstr>Security in Network, Transport and Application: </vt:lpstr>
      <vt:lpstr>Introduction of IPSec</vt:lpstr>
      <vt:lpstr>How IPsec Works</vt:lpstr>
      <vt:lpstr>Cont..</vt:lpstr>
      <vt:lpstr>Key Features</vt:lpstr>
      <vt:lpstr>Common Use Cases</vt:lpstr>
      <vt:lpstr>SSL-</vt:lpstr>
      <vt:lpstr>What SSL/TLS does: </vt:lpstr>
      <vt:lpstr>Cont..</vt:lpstr>
      <vt:lpstr>Why it's important:</vt:lpstr>
      <vt:lpstr>HTTPS</vt:lpstr>
      <vt:lpstr>PowerPoint Presentation</vt:lpstr>
      <vt:lpstr>How Does HTTPS Work? </vt:lpstr>
      <vt:lpstr>PowerPoint Presentation</vt:lpstr>
      <vt:lpstr>How does it works</vt:lpstr>
      <vt:lpstr>Why HTTPS is important </vt:lpstr>
      <vt:lpstr>Basic difference between HTTP and HTTPS</vt:lpstr>
      <vt:lpstr>S/MIME</vt:lpstr>
      <vt:lpstr>Cont..</vt:lpstr>
      <vt:lpstr>How S/MIME Works </vt:lpstr>
      <vt:lpstr>Key Benefits</vt:lpstr>
      <vt:lpstr>Who Uses S/MIME?</vt:lpstr>
      <vt:lpstr>Overview of IDS and Firewall</vt:lpstr>
      <vt:lpstr>Firewall</vt:lpstr>
      <vt:lpstr>  Intrusion Detection System (IDS)  </vt:lpstr>
      <vt:lpstr>How They Work Together</vt:lpstr>
      <vt:lpstr>Key Distinction Summary </vt:lpstr>
      <vt:lpstr>IDS</vt:lpstr>
      <vt:lpstr>Common Methods of Intrusion </vt:lpstr>
      <vt:lpstr>Working of Intrusion Detection System(IDS)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41</cp:revision>
  <dcterms:created xsi:type="dcterms:W3CDTF">2025-09-25T03:45:15Z</dcterms:created>
  <dcterms:modified xsi:type="dcterms:W3CDTF">2025-10-08T05:12:43Z</dcterms:modified>
</cp:coreProperties>
</file>